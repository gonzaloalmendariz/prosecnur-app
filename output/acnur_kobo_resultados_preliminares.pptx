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Relationship Id="rId5" Type="http://schemas.openxmlformats.org/package/2006/relationships/metadata/extended-properties" Target="docProps/app0.xml"/>
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2F2F2"/>
    <a:srgbClr val="011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54" autoAdjust="0"/>
    <p:restoredTop sz="94726"/>
  </p:normalViewPr>
  <p:slideViewPr>
    <p:cSldViewPr snapToGrid="0">
      <p:cViewPr varScale="1">
        <p:scale>
          <a:sx n="117" d="100"/>
          <a:sy n="117" d="100"/>
        </p:scale>
        <p:origin x="20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Relationship Id="rId22" Type="http://schemas.openxmlformats.org/officeDocument/2006/relationships/slide" Target="slides/slide15.xml"/>
<Relationship Id="rId23" Type="http://schemas.openxmlformats.org/officeDocument/2006/relationships/slide" Target="slides/slide16.xml"/>
<Relationship Id="rId24" Type="http://schemas.openxmlformats.org/officeDocument/2006/relationships/slide" Target="slides/slide17.xml"/>
<Relationship Id="rId25" Type="http://schemas.openxmlformats.org/officeDocument/2006/relationships/slide" Target="slides/slide18.xml"/>
<Relationship Id="rId26" Type="http://schemas.openxmlformats.org/officeDocument/2006/relationships/slide" Target="slides/slide19.xml"/>
<Relationship Id="rId27" Type="http://schemas.openxmlformats.org/officeDocument/2006/relationships/slide" Target="slides/slide20.xml"/>
<Relationship Id="rId28" Type="http://schemas.openxmlformats.org/officeDocument/2006/relationships/slide" Target="slides/slide21.xml"/>
<Relationship Id="rId29" Type="http://schemas.openxmlformats.org/officeDocument/2006/relationships/slide" Target="slides/slide22.xml"/>
<Relationship Id="rId30" Type="http://schemas.openxmlformats.org/officeDocument/2006/relationships/slide" Target="slides/slide23.xml"/>
<Relationship Id="rId31" Type="http://schemas.openxmlformats.org/officeDocument/2006/relationships/slide" Target="slides/slide24.xml"/>
<Relationship Id="rId32" Type="http://schemas.openxmlformats.org/officeDocument/2006/relationships/slide" Target="slides/slide25.xml"/>
<Relationship Id="rId33" Type="http://schemas.openxmlformats.org/officeDocument/2006/relationships/slide" Target="slides/slide26.xml"/>
<Relationship Id="rId34" Type="http://schemas.openxmlformats.org/officeDocument/2006/relationships/slide" Target="slides/slide27.xml"/>
<Relationship Id="rId35" Type="http://schemas.openxmlformats.org/officeDocument/2006/relationships/slide" Target="slides/slide28.xml"/>
<Relationship Id="rId36" Type="http://schemas.openxmlformats.org/officeDocument/2006/relationships/slide" Target="slides/slide29.xml"/>
<Relationship Id="rId37" Type="http://schemas.openxmlformats.org/officeDocument/2006/relationships/slide" Target="slides/slide30.xml"/>
<Relationship Id="rId38" Type="http://schemas.openxmlformats.org/officeDocument/2006/relationships/slide" Target="slides/slide31.xml"/>
<Relationship Id="rId39" Type="http://schemas.openxmlformats.org/officeDocument/2006/relationships/slide" Target="slides/slide32.xml"/>
<Relationship Id="rId40" Type="http://schemas.openxmlformats.org/officeDocument/2006/relationships/slide" Target="slides/slide33.xml"/>
<Relationship Id="rId41" Type="http://schemas.openxmlformats.org/officeDocument/2006/relationships/slide" Target="slides/slide34.xml"/>
<Relationship Id="rId42" Type="http://schemas.openxmlformats.org/officeDocument/2006/relationships/slide" Target="slides/slide35.xml"/>
<Relationship Id="rId43" Type="http://schemas.openxmlformats.org/officeDocument/2006/relationships/slide" Target="slides/slide36.xml"/>
<Relationship Id="rId44" Type="http://schemas.openxmlformats.org/officeDocument/2006/relationships/slide" Target="slides/slide37.xml"/>
<Relationship Id="rId45" Type="http://schemas.openxmlformats.org/officeDocument/2006/relationships/slide" Target="slides/slide38.xml"/>
<Relationship Id="rId46" Type="http://schemas.openxmlformats.org/officeDocument/2006/relationships/slide" Target="slides/slide39.xml"/>
<Relationship Id="rId47" Type="http://schemas.openxmlformats.org/officeDocument/2006/relationships/slide" Target="slides/slide40.xml"/>
<Relationship Id="rId48" Type="http://schemas.openxmlformats.org/officeDocument/2006/relationships/slide" Target="slides/slide41.xml"/>
<Relationship Id="rId49" Type="http://schemas.openxmlformats.org/officeDocument/2006/relationships/slide" Target="slides/slide42.xml"/>
<Relationship Id="rId50" Type="http://schemas.openxmlformats.org/officeDocument/2006/relationships/slide" Target="slides/slide43.xml"/>
<Relationship Id="rId51" Type="http://schemas.openxmlformats.org/officeDocument/2006/relationships/slide" Target="slides/slide44.xml"/>
<Relationship Id="rId52" Type="http://schemas.openxmlformats.org/officeDocument/2006/relationships/slide" Target="slides/slide45.xml"/>
<Relationship Id="rId53" Type="http://schemas.openxmlformats.org/officeDocument/2006/relationships/slide" Target="slides/slide46.xml"/>
<Relationship Id="rId54" Type="http://schemas.openxmlformats.org/officeDocument/2006/relationships/slide" Target="slides/slide47.xml"/>
<Relationship Id="rId55" Type="http://schemas.openxmlformats.org/officeDocument/2006/relationships/slide" Target="slides/slide48.xml"/>
<Relationship Id="rId56" Type="http://schemas.openxmlformats.org/officeDocument/2006/relationships/slide" Target="slides/slide49.xml"/>
<Relationship Id="rId57" Type="http://schemas.openxmlformats.org/officeDocument/2006/relationships/slide" Target="slides/slide50.xml"/>
<Relationship Id="rId58" Type="http://schemas.openxmlformats.org/officeDocument/2006/relationships/slide" Target="slides/slide51.xml"/>
<Relationship Id="rId59" Type="http://schemas.openxmlformats.org/officeDocument/2006/relationships/slide" Target="slides/slide52.xml"/>
<Relationship Id="rId60" Type="http://schemas.openxmlformats.org/officeDocument/2006/relationships/slide" Target="slides/slide53.xml"/>
<Relationship Id="rId61" Type="http://schemas.openxmlformats.org/officeDocument/2006/relationships/slide" Target="slides/slide54.xml"/>
<Relationship Id="rId62" Type="http://schemas.openxmlformats.org/officeDocument/2006/relationships/slide" Target="slides/slide55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8294C7-ABDE-48DB-8562-356CD46C99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7344B-5E31-B92D-CEF0-C9E62F7D3A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F37BE-63F7-D04E-AEC4-DC43A32AA23E}" type="datetimeFigureOut">
              <a:rPr lang="en-PE" smtClean="0"/>
              <a:t>17/04/26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A49C1-6759-4BD3-8AF1-54DC5B70E3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54526-EBE0-BF7C-3A50-49D5450610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2A19B-43E0-1847-B01C-CD0E42EA1A1B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170983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340E0-AD77-4043-A3C3-5BEDD4FD6B77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10FB1-3FC5-4995-84B0-460D8F47CA9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600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2.png"/>
  <Relationship Id="rId2" Type="http://schemas.openxmlformats.org/officeDocument/2006/relationships/image" Target="../media/image1.png"/>
  <Relationship Id="rId1" Type="http://schemas.openxmlformats.org/officeDocument/2006/relationships/slideMaster" Target="../slideMasters/slideMaster1.xml"/>
  <Relationship xmlns="http://schemas.openxmlformats.org/package/2006/relationships" Id="rId4" Type="http://schemas.openxmlformats.org/officeDocument/2006/relationships/image" Target="../media/copied_master_image3.png"/>
  <Relationship xmlns="http://schemas.openxmlformats.org/package/2006/relationships" Id="rId5" Type="http://schemas.openxmlformats.org/officeDocument/2006/relationships/image" Target="../media/copied_master_image4.svg"/>
</Relationships>

</file>

<file path=ppt/slideLayouts/_rels/slideLayout2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4.png"/>
  <Relationship Id="rId2" Type="http://schemas.openxmlformats.org/officeDocument/2006/relationships/image" Target="../media/image3.png"/>
  <Relationship Id="rId1" Type="http://schemas.openxmlformats.org/officeDocument/2006/relationships/slideMaster" Target="../slideMasters/slideMaster1.xml"/>
  <Relationship Id="rId5" Type="http://schemas.openxmlformats.org/officeDocument/2006/relationships/image" Target="../media/image6.png"/>
  <Relationship Id="rId4" Type="http://schemas.openxmlformats.org/officeDocument/2006/relationships/image" Target="../media/image5.png"/>
  <Relationship xmlns="http://schemas.openxmlformats.org/package/2006/relationships" Id="rId6" Type="http://schemas.openxmlformats.org/officeDocument/2006/relationships/image" Target="../media/copied_master_image3_1.png"/>
  <Relationship xmlns="http://schemas.openxmlformats.org/package/2006/relationships" Id="rId7" Type="http://schemas.openxmlformats.org/officeDocument/2006/relationships/image" Target="../media/copied_master_image4_1.svg"/>
</Relationships>
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6.png"/>
  <Relationship Id="rId1" Type="http://schemas.openxmlformats.org/officeDocument/2006/relationships/slideMaster" Target="../slideMasters/slideMaster1.xml"/>
</Relationships>

</file>

<file path=ppt/slideLayouts/_rels/slideLayout1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6.png"/>
  <Relationship Id="rId1" Type="http://schemas.openxmlformats.org/officeDocument/2006/relationships/slideMaster" Target="../slideMasters/slideMaster1.xml"/>
</Relationships>
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drawing/2016/SVG/main" xmlns:ns6="http://schemas.microsoft.com/office/powerpoint/2010/main" xmlns:ns7="http://schemas.microsoft.com/office/powerpoint/2012/main" xmlns:p="http://schemas.openxmlformats.org/presentationml/2006/main" matchingName="Portada" preserve="1" userDrawn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rosecnur:title_slide:title"/>
          <p:cNvSpPr txBox="1">
            <a:spLocks noGrp="1"/>
          </p:cNvSpPr>
          <p:nvPr>
            <p:ph type="ctrTitle"/>
          </p:nvPr>
        </p:nvSpPr>
        <p:spPr>
          <a:xfrm>
            <a:off x="228600" y="1122363"/>
            <a:ext cx="11731752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H" dirty="0"/>
          </a:p>
        </p:txBody>
      </p:sp>
      <p:sp>
        <p:nvSpPr>
          <p:cNvPr id="17" name="prosecnur:title_slide:subtitle"/>
          <p:cNvSpPr txBox="1">
            <a:spLocks noGrp="1"/>
          </p:cNvSpPr>
          <p:nvPr>
            <p:ph type="subTitle" idx="1"/>
          </p:nvPr>
        </p:nvSpPr>
        <p:spPr>
          <a:xfrm>
            <a:off x="228600" y="3602038"/>
            <a:ext cx="11731752" cy="14728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CH" dirty="0"/>
          </a:p>
        </p:txBody>
      </p:sp>
      <p:sp>
        <p:nvSpPr>
          <p:cNvPr id="8" name="prosecnur:title_slide:date">
            <a:extLst>
              <a:ext uri="{FF2B5EF4-FFF2-40B4-BE49-F238E27FC236}">
                <ns2:creationId id="{8EAA0CDE-8D3A-4141-BE76-3F60022B4BC8}"/>
              </a:ext>
            </a:extLst>
          </p:cNvPr>
          <p:cNvSpPr>
            <a:spLocks noGrp="1"/>
          </p:cNvSpPr>
          <p:nvPr>
            <p:ph type="dt" idx="11"/>
          </p:nvPr>
        </p:nvSpPr>
        <p:spPr>
          <a:xfrm>
            <a:off x="4724400" y="5075238"/>
            <a:ext cx="2743200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ctr">
              <a:defRPr lang="es-PE" sz="1800" smtClean="0">
                <a:solidFill>
                  <a:srgbClr val="081F5C"/>
                </a:solidFill>
              </a:defRPr>
            </a:lvl1pPr>
          </a:lstStyle>
          <a:p>
            <a:pPr algn="ctr">
              <a:lnSpc>
                <a:spcPct val="90000"/>
              </a:lnSpc>
              <a:buClr>
                <a:srgbClr val="081F5C"/>
              </a:buClr>
              <a:buSzPts val="1800"/>
            </a:pPr>
            <a:fld id="{75C70C58-02E6-BE4A-9320-917330A400ED}" type="datetimeFigureOut">
              <a:rPr lang="en-PE" smtClean="0"/>
              <a:pPr>
                <a:lnSpc>
                  <a:spcPct val="90000"/>
                </a:lnSpc>
                <a:buClr>
                  <a:srgbClr val="081F5C"/>
                </a:buClr>
                <a:buSzPts val="1800"/>
              </a:pPr>
              <a:t>17/04/26</a:t>
            </a:fld>
            <a:endParaRPr lang="en-PE" dirty="0" sz="1800">
              <a:solidFill>
                <a:srgbClr val="FAEB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prosecnur:title_slide:subtexto">
            <a:extLst>
              <a:ext uri="{FF2B5EF4-FFF2-40B4-BE49-F238E27FC236}">
                <ns2:creationId id="{F2FE6A90-009D-6D0B-149C-A6854054CF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392000" y="7058000"/>
            <a:ext cx="1" cy="1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pic>
        <p:nvPicPr>
          <p:cNvPr id="7" name="Graphic 6">
            <a:extLst>
              <a:ext uri="{FF2B5EF4-FFF2-40B4-BE49-F238E27FC236}">
                <ns2:creationId id="{C0DDB8D9-0E47-4391-AFE9-718F99456D8E}"/>
              </a:ext>
            </a:extLst>
          </p:cNvPr>
          <p:cNvPicPr>
            <a:picLocks noChangeAspect="1"/>
          </p:cNvPicPr>
          <p:nvPr userDrawn="1"/>
        </p:nvPicPr>
        <p:blipFill>
          <a:blip ns3:embed="rId4">
            <a:extLst>
              <a:ext uri="{28A0092B-C50C-407E-A947-70E740481C1C}">
                <ns4:useLocalDpi val="0"/>
              </a:ext>
              <a:ext uri="{96DAC541-7B7A-43D3-8B79-37D633B846F1}">
                <ns5:svgBlip ns3:embed="rId5"/>
              </a:ext>
            </a:extLst>
          </a:blip>
          <a:srcRect/>
          <a:stretch/>
        </p:blipFill>
        <p:spPr>
          <a:xfrm>
            <a:off x="10046899" y="6217922"/>
            <a:ext cx="1913453" cy="4571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ns2:creationId id="{40AC892E-58DA-46D0-80B8-443404641DAC}"/>
              </a:ext>
            </a:extLst>
          </p:cNvPr>
          <p:cNvCxnSpPr/>
          <p:nvPr userDrawn="1"/>
        </p:nvCxnSpPr>
        <p:spPr>
          <a:xfrm>
            <a:off x="-1524" y="6035040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ns6:creationId val="1185629166"/>
      </p:ext>
    </p:extLst>
    <p:bg>
      <p:bgPr>
        <a:solidFill>
          <a:schemeClr val="accent1"/>
        </a:solidFill>
        <a:effectLst/>
      </p:bgPr>
    </p:bg>
  </p:cSld>
  <p:clrMapOvr>
    <a:masterClrMapping/>
  </p:clrMapOvr>
  <p:extLst>
    <p:ext uri="{DCECCB84-F9BA-43D5-87BE-67443E8EF086}">
      <ns7:sldGuideLst>
        <ns7:guide id="1" orient="horz" pos="391">
          <ns7:clr>
            <a:srgbClr val="E4A34C"/>
          </ns7:clr>
        </ns7:guide>
        <ns7:guide id="2" pos="483">
          <ns7:clr>
            <a:srgbClr val="E4A34C"/>
          </ns7:clr>
        </ns7:guide>
      </ns7:sldGuideLst>
    </p:ext>
  </p:extLst>
</p:sldLayout>
</file>

<file path=ppt/slideLayouts/slideLayout2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 matchingName="Blank slide" preserve="1" userDrawn="1">
  <p:cSld name="Section 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rosecnur:section:title"/>
          <p:cNvSpPr txBox="1">
            <a:spLocks noGrp="1"/>
          </p:cNvSpPr>
          <p:nvPr>
            <p:ph type="title"/>
          </p:nvPr>
        </p:nvSpPr>
        <p:spPr>
          <a:xfrm>
            <a:off x="12392000" y="7058000"/>
            <a:ext cx="1" cy="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4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4" name="Rectangle 3">
            <a:extLst>
              <a:ext uri="{FF2B5EF4-FFF2-40B4-BE49-F238E27FC236}">
                <a16:creationId xmlns:a16="http://schemas.microsoft.com/office/drawing/2014/main" id="{011D9A4F-DEBD-4C52-A2D3-72D27DB6EB35}"/>
              </a:ext>
            </a:extLst>
          </p:cNvPr>
          <p:cNvSpPr/>
          <p:nvPr userDrawn="1"/>
        </p:nvSpPr>
        <p:spPr>
          <a:xfrm>
            <a:off x="-1524" y="6035040"/>
            <a:ext cx="12192000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7" name="Graphic 6">
            <a:extLst>
              <a:ext uri="{FF2B5EF4-FFF2-40B4-BE49-F238E27FC236}">
                <a16:creationId xmlns:a16="http://schemas.microsoft.com/office/drawing/2014/main" id="{4AD7F306-7A23-48E0-8393-9C5704241A3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046899" y="6217922"/>
            <a:ext cx="1913453" cy="457196"/>
          </a:xfrm>
          <a:prstGeom prst="rect">
            <a:avLst/>
          </a:prstGeom>
        </p:spPr>
      </p:pic>
    </p:spTree>
    <p:extLst>
      <p:ext uri="{BB962C8B-B14F-4D97-AF65-F5344CB8AC3E}">
        <p14:creationId val="1161499325"/>
      </p:ext>
    </p:extLst>
  </p:cSld>
  <p:clrMapOvr xmlns:p="http://schemas.openxmlformats.org/presentationml/2006/main" xmlns:a="http://schemas.openxmlformats.org/drawingml/2006/main">
    <a:masterClrMapping/>
  </p:clrMapOvr>
</p:sldLayout>
</file>

<file path=ppt/slideLayouts/slideLayout3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ns2:creationId id="{E427CC29-905D-BA98-A5A4-B7B9F878F0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8235" y="1162878"/>
            <a:ext cx="11439939" cy="5068958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itle 1">
            <a:extLst>
              <a:ext uri="{FF2B5EF4-FFF2-40B4-BE49-F238E27FC236}">
                <ns2:creationId id="{4171F0F9-C2A2-7009-053C-1D072BFEE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ns2:creationId id="{7F88E7A4-05C3-50CF-1083-330AAF17F1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235" y="6327467"/>
            <a:ext cx="2822713" cy="334572"/>
          </a:xfrm>
        </p:spPr>
        <p:txBody>
          <a:bodyPr lIns="90000" anchor="ctr" anchorCtr="0">
            <a:noAutofit/>
          </a:bodyPr>
          <a:lstStyle>
            <a:lvl1pPr algn="l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ns2:creationId id="{3D5B4322-3F63-D11D-E929-B96FF27027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8685" y="6327467"/>
            <a:ext cx="3359062" cy="334572"/>
          </a:xfrm>
        </p:spPr>
        <p:txBody>
          <a:bodyPr lIns="90000" anchor="ctr" anchorCtr="0">
            <a:noAutofit/>
          </a:bodyPr>
          <a:lstStyle>
            <a:lvl1pPr algn="r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ns3:creationId val="956569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Grafico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1103243"/>
            <a:ext cx="11440491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301564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Graficos_unabar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1143899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2057400"/>
            <a:ext cx="11440491" cy="2971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31154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Graficos_2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1073427"/>
            <a:ext cx="5584687" cy="5128593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ns3:creationId val="5414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4_pane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1073427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4" name="Picture Placeholder 7">
            <a:extLst>
              <a:ext uri="{FF2B5EF4-FFF2-40B4-BE49-F238E27FC236}">
                <ns2:creationId id="{0E7618E8-58EE-9156-FDF0-B54A424681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7501" y="3786810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5" name="Picture Placeholder 7">
            <a:extLst>
              <a:ext uri="{FF2B5EF4-FFF2-40B4-BE49-F238E27FC236}">
                <ns2:creationId id="{38CBF1DD-784B-51FC-9DCA-E12D257356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0860" y="3756994"/>
            <a:ext cx="5584687" cy="2415522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ns3:creationId val="2230652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1_Graficos_2columnas_nar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2445026"/>
            <a:ext cx="5584687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2415210"/>
            <a:ext cx="5584687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4" name="Text Placeholder 9">
            <a:extLst>
              <a:ext uri="{FF2B5EF4-FFF2-40B4-BE49-F238E27FC236}">
                <ns2:creationId id="{61A9EDCB-A616-0C04-CD06-97F1515845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499" y="1145623"/>
            <a:ext cx="11658047" cy="1170000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36108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1_Grafico_nar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2388231"/>
            <a:ext cx="11658045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4" name="Text Placeholder 9">
            <a:extLst>
              <a:ext uri="{FF2B5EF4-FFF2-40B4-BE49-F238E27FC236}">
                <ns2:creationId id="{61A9EDCB-A616-0C04-CD06-97F1515845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499" y="1145623"/>
            <a:ext cx="11658047" cy="1070364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18422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righ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178395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lef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3304" y="1088800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778155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lef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3304" y="1088800"/>
            <a:ext cx="5584687" cy="2458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A131479D-68A2-D884-02BA-6963681FAC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3303" y="3758593"/>
            <a:ext cx="5584687" cy="24588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ns3:creationId val="2142224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righ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2455279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AC1445B0-35E6-144B-ABE2-439E7DA675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7501" y="3747052"/>
            <a:ext cx="5584687" cy="2455279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ns3:creationId val="3212213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showMasterSp="0" matchingName="Contraportada" preserve="1">
  <p:cSld name="Contraportada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53"/>
          <p:cNvGrpSpPr/>
          <p:nvPr/>
        </p:nvGrpSpPr>
        <p:grpSpPr>
          <a:xfrm>
            <a:off x="4312693" y="6088282"/>
            <a:ext cx="368855" cy="419678"/>
            <a:chOff x="1529350" y="258825"/>
            <a:chExt cx="423475" cy="481825"/>
          </a:xfrm>
        </p:grpSpPr>
        <p:sp>
          <p:nvSpPr>
            <p:cNvPr id="105" name="Google Shape;105;p53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3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" name="Google Shape;107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9679" y="1975757"/>
            <a:ext cx="4012643" cy="2445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53"/>
          <p:cNvGrpSpPr/>
          <p:nvPr/>
        </p:nvGrpSpPr>
        <p:grpSpPr>
          <a:xfrm>
            <a:off x="437469" y="6107730"/>
            <a:ext cx="534042" cy="376166"/>
            <a:chOff x="-1199300" y="3279250"/>
            <a:chExt cx="293025" cy="206400"/>
          </a:xfrm>
        </p:grpSpPr>
        <p:sp>
          <p:nvSpPr>
            <p:cNvPr id="109" name="Google Shape;109;p53"/>
            <p:cNvSpPr/>
            <p:nvPr/>
          </p:nvSpPr>
          <p:spPr>
            <a:xfrm>
              <a:off x="-1183550" y="3395050"/>
              <a:ext cx="261525" cy="90600"/>
            </a:xfrm>
            <a:custGeom>
              <a:avLst/>
              <a:gdLst/>
              <a:ahLst/>
              <a:cxnLst/>
              <a:rect l="l" t="t" r="r" b="b"/>
              <a:pathLst>
                <a:path w="10461" h="3624" extrusionOk="0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53"/>
            <p:cNvSpPr/>
            <p:nvPr/>
          </p:nvSpPr>
          <p:spPr>
            <a:xfrm>
              <a:off x="-1184325" y="3279250"/>
              <a:ext cx="261500" cy="129400"/>
            </a:xfrm>
            <a:custGeom>
              <a:avLst/>
              <a:gdLst/>
              <a:ahLst/>
              <a:cxnLst/>
              <a:rect l="l" t="t" r="r" b="b"/>
              <a:pathLst>
                <a:path w="10460" h="5176" extrusionOk="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53"/>
            <p:cNvSpPr/>
            <p:nvPr/>
          </p:nvSpPr>
          <p:spPr>
            <a:xfrm>
              <a:off x="-1199300" y="3294225"/>
              <a:ext cx="90600" cy="175650"/>
            </a:xfrm>
            <a:custGeom>
              <a:avLst/>
              <a:gdLst/>
              <a:ahLst/>
              <a:cxnLst/>
              <a:rect l="l" t="t" r="r" b="b"/>
              <a:pathLst>
                <a:path w="3624" h="7026" extrusionOk="0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3"/>
            <p:cNvSpPr/>
            <p:nvPr/>
          </p:nvSpPr>
          <p:spPr>
            <a:xfrm>
              <a:off x="-996875" y="3294225"/>
              <a:ext cx="90600" cy="177225"/>
            </a:xfrm>
            <a:custGeom>
              <a:avLst/>
              <a:gdLst/>
              <a:ahLst/>
              <a:cxnLst/>
              <a:rect l="l" t="t" r="r" b="b"/>
              <a:pathLst>
                <a:path w="3624" h="7089" extrusionOk="0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53"/>
          <p:cNvGrpSpPr/>
          <p:nvPr/>
        </p:nvGrpSpPr>
        <p:grpSpPr>
          <a:xfrm>
            <a:off x="9775153" y="6094969"/>
            <a:ext cx="400230" cy="400230"/>
            <a:chOff x="4456875" y="1435075"/>
            <a:chExt cx="481825" cy="481825"/>
          </a:xfrm>
        </p:grpSpPr>
        <p:sp>
          <p:nvSpPr>
            <p:cNvPr id="114" name="Google Shape;114;p53"/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3"/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3"/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53"/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3"/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3"/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3"/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3"/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53"/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53"/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3"/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53"/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53"/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3"/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3"/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53"/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3"/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3"/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3"/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53"/>
          <p:cNvSpPr txBox="1">
            <a:spLocks noGrp="1"/>
          </p:cNvSpPr>
          <p:nvPr>
            <p:ph type="dt" idx="10"/>
          </p:nvPr>
        </p:nvSpPr>
        <p:spPr>
          <a:xfrm>
            <a:off x="991614" y="6123699"/>
            <a:ext cx="2123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4" name="Google Shape;134;p53"/>
          <p:cNvSpPr txBox="1">
            <a:spLocks noGrp="1"/>
          </p:cNvSpPr>
          <p:nvPr>
            <p:ph type="ftr" idx="11"/>
          </p:nvPr>
        </p:nvSpPr>
        <p:spPr>
          <a:xfrm>
            <a:off x="4343413" y="6131637"/>
            <a:ext cx="4393141" cy="35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3"/>
          <p:cNvSpPr txBox="1">
            <a:spLocks noGrp="1"/>
          </p:cNvSpPr>
          <p:nvPr>
            <p:ph type="sldNum" idx="12"/>
          </p:nvPr>
        </p:nvSpPr>
        <p:spPr>
          <a:xfrm>
            <a:off x="10211563" y="6136013"/>
            <a:ext cx="1608962" cy="34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pulso.pucp.edu.pe</a:t>
            </a:r>
            <a:endParaRPr/>
          </a:p>
        </p:txBody>
      </p:sp>
      <p:cxnSp>
        <p:nvCxnSpPr>
          <p:cNvPr id="136" name="Google Shape;136;p53"/>
          <p:cNvCxnSpPr/>
          <p:nvPr/>
        </p:nvCxnSpPr>
        <p:spPr>
          <a:xfrm>
            <a:off x="0" y="6836140"/>
            <a:ext cx="12192000" cy="0"/>
          </a:xfrm>
          <a:prstGeom prst="straightConnector1">
            <a:avLst/>
          </a:prstGeom>
          <a:noFill/>
          <a:ln w="57150" cap="flat" cmpd="sng">
            <a:solidFill>
              <a:srgbClr val="CA565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val="80885163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ns2="http://schemas.microsoft.com/office/drawing/2014/main" xmlns:ns3="http://schemas.microsoft.com/office/powerpoint/2010/main" xmlns:ns4="http://schemas.microsoft.com/office/powerpoint/2012/main" xmlns:p="http://schemas.openxmlformats.org/presentationml/2006/main" matchingName="3_Índice" preserve="1" userDrawn="1">
  <p:cSld name="Indice">
    <p:bg>
      <p:bgPr>
        <a:solidFill>
          <a:srgbClr val="F2F2F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upo 87">
            <a:extLst>
              <a:ext uri="{FF2B5EF4-FFF2-40B4-BE49-F238E27FC236}">
                <ns2:creationId id="{C8DC7646-E791-9F27-BA79-8929004D514B}"/>
              </a:ext>
            </a:extLst>
          </p:cNvPr>
          <p:cNvGrpSpPr/>
          <p:nvPr userDrawn="1"/>
        </p:nvGrpSpPr>
        <p:grpSpPr>
          <a:xfrm>
            <a:off x="0" y="-30822"/>
            <a:ext cx="12192000" cy="6888821"/>
            <a:chOff x="0" y="-30822"/>
            <a:chExt cx="12192000" cy="6888821"/>
          </a:xfrm>
        </p:grpSpPr>
        <p:grpSp>
          <p:nvGrpSpPr>
            <p:cNvPr id="85" name="Grupo 84">
              <a:extLst>
                <a:ext uri="{FF2B5EF4-FFF2-40B4-BE49-F238E27FC236}">
                  <ns2:creationId id="{8EB232BD-112B-5AB4-5630-4141328FD263}"/>
                </a:ext>
              </a:extLst>
            </p:cNvPr>
            <p:cNvGrpSpPr/>
            <p:nvPr userDrawn="1"/>
          </p:nvGrpSpPr>
          <p:grpSpPr>
            <a:xfrm>
              <a:off x="0" y="-30822"/>
              <a:ext cx="12192000" cy="6888821"/>
              <a:chOff x="0" y="-30822"/>
              <a:chExt cx="12192000" cy="6888821"/>
            </a:xfrm>
          </p:grpSpPr>
          <p:grpSp>
            <p:nvGrpSpPr>
              <p:cNvPr id="84" name="Grupo 83">
                <a:extLst>
                  <a:ext uri="{FF2B5EF4-FFF2-40B4-BE49-F238E27FC236}">
                    <ns2:creationId id="{B5F24069-AAA5-AE58-1308-4351580F56DD}"/>
                  </a:ext>
                </a:extLst>
              </p:cNvPr>
              <p:cNvGrpSpPr/>
              <p:nvPr userDrawn="1"/>
            </p:nvGrpSpPr>
            <p:grpSpPr>
              <a:xfrm>
                <a:off x="0" y="-30822"/>
                <a:ext cx="12192000" cy="6888821"/>
                <a:chOff x="0" y="-30822"/>
                <a:chExt cx="12192000" cy="6888821"/>
              </a:xfrm>
            </p:grpSpPr>
            <p:sp>
              <p:nvSpPr>
                <p:cNvPr id="74" name="Rectángulo 73">
                  <a:extLst>
                    <a:ext uri="{FF2B5EF4-FFF2-40B4-BE49-F238E27FC236}">
                      <ns2:creationId id="{4DAEADB5-BD80-B4E0-C93E-F551DF1C267A}"/>
                    </a:ext>
                  </a:extLst>
                </p:cNvPr>
                <p:cNvSpPr/>
                <p:nvPr userDrawn="1"/>
              </p:nvSpPr>
              <p:spPr>
                <a:xfrm>
                  <a:off x="0" y="0"/>
                  <a:ext cx="12192000" cy="6857999"/>
                </a:xfrm>
                <a:prstGeom prst="rect">
                  <a:avLst/>
                </a:prstGeom>
                <a:solidFill>
                  <a:srgbClr val="F2F2F2"/>
                </a:solidFill>
                <a:ln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ns2:creationId id="{0F389C32-6385-A385-B044-AF13FCBBF525}"/>
                    </a:ext>
                  </a:extLst>
                </p:cNvPr>
                <p:cNvGrpSpPr/>
                <p:nvPr userDrawn="1"/>
              </p:nvGrpSpPr>
              <p:grpSpPr>
                <a:xfrm>
                  <a:off x="519448" y="-30822"/>
                  <a:ext cx="10282220" cy="5077733"/>
                  <a:chOff x="519448" y="-30822"/>
                  <a:chExt cx="10282220" cy="5077733"/>
                </a:xfrm>
              </p:grpSpPr>
              <p:grpSp>
                <p:nvGrpSpPr>
                  <p:cNvPr id="78" name="Grupo 77">
                    <a:extLst>
                      <a:ext uri="{FF2B5EF4-FFF2-40B4-BE49-F238E27FC236}">
                        <ns2:creationId id="{85CC3AB5-5C01-EFBA-25B6-2F16CAD812E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963755" y="-19664"/>
                    <a:ext cx="1097464" cy="5066575"/>
                    <a:chOff x="2963755" y="-19664"/>
                    <a:chExt cx="1097464" cy="5066575"/>
                  </a:xfrm>
                </p:grpSpPr>
                <p:sp>
                  <p:nvSpPr>
                    <p:cNvPr id="33" name="Google Shape;33;p47"/>
                    <p:cNvSpPr/>
                    <p:nvPr/>
                  </p:nvSpPr>
                  <p:spPr>
                    <a:xfrm flipH="1">
                      <a:off x="3484680" y="-19664"/>
                      <a:ext cx="56084" cy="3572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69" h="194507" extrusionOk="0">
                          <a:moveTo>
                            <a:pt x="0" y="0"/>
                          </a:moveTo>
                          <a:lnTo>
                            <a:pt x="0" y="194506"/>
                          </a:lnTo>
                          <a:lnTo>
                            <a:pt x="2869" y="194506"/>
                          </a:lnTo>
                          <a:lnTo>
                            <a:pt x="2869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" name="Google Shape;34;p47"/>
                    <p:cNvSpPr/>
                    <p:nvPr/>
                  </p:nvSpPr>
                  <p:spPr>
                    <a:xfrm flipH="1">
                      <a:off x="2963755" y="3962040"/>
                      <a:ext cx="1097464" cy="10848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0" y="34058"/>
                            <a:pt x="0" y="39128"/>
                          </a:cubicBezTo>
                          <a:cubicBezTo>
                            <a:pt x="0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288"/>
                            <a:pt x="52171" y="25252"/>
                          </a:cubicBezTo>
                          <a:lnTo>
                            <a:pt x="52271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7594C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" name="Google Shape;35;p47"/>
                    <p:cNvSpPr/>
                    <p:nvPr/>
                  </p:nvSpPr>
                  <p:spPr>
                    <a:xfrm flipH="1">
                      <a:off x="3240845" y="3680554"/>
                      <a:ext cx="543190" cy="2814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7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0" y="5738"/>
                          </a:lnTo>
                          <a:lnTo>
                            <a:pt x="0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" name="Google Shape;36;p47"/>
                    <p:cNvSpPr/>
                    <p:nvPr/>
                  </p:nvSpPr>
                  <p:spPr>
                    <a:xfrm flipH="1">
                      <a:off x="3196517" y="3521249"/>
                      <a:ext cx="632526" cy="4052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37"/>
                            <a:pt x="4637" y="1"/>
                            <a:pt x="10341" y="1"/>
                          </a:cubicBezTo>
                          <a:lnTo>
                            <a:pt x="22016" y="1"/>
                          </a:lnTo>
                          <a:cubicBezTo>
                            <a:pt x="27754" y="1"/>
                            <a:pt x="32357" y="4637"/>
                            <a:pt x="32357" y="10342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" name="Google Shape;37;p47"/>
                    <p:cNvSpPr/>
                    <p:nvPr/>
                  </p:nvSpPr>
                  <p:spPr>
                    <a:xfrm flipH="1">
                      <a:off x="3182951" y="4347319"/>
                      <a:ext cx="696408" cy="4052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13" h="11976" extrusionOk="0">
                          <a:moveTo>
                            <a:pt x="17213" y="5238"/>
                          </a:moveTo>
                          <a:cubicBezTo>
                            <a:pt x="16445" y="11976"/>
                            <a:pt x="10041" y="10475"/>
                            <a:pt x="8807" y="5571"/>
                          </a:cubicBezTo>
                          <a:cubicBezTo>
                            <a:pt x="8740" y="5571"/>
                            <a:pt x="8673" y="5538"/>
                            <a:pt x="8606" y="5538"/>
                          </a:cubicBezTo>
                          <a:cubicBezTo>
                            <a:pt x="8540" y="5538"/>
                            <a:pt x="8473" y="5571"/>
                            <a:pt x="8406" y="5571"/>
                          </a:cubicBezTo>
                          <a:cubicBezTo>
                            <a:pt x="7172" y="10441"/>
                            <a:pt x="767" y="11976"/>
                            <a:pt x="0" y="5238"/>
                          </a:cubicBezTo>
                          <a:cubicBezTo>
                            <a:pt x="334" y="4604"/>
                            <a:pt x="467" y="4270"/>
                            <a:pt x="834" y="4170"/>
                          </a:cubicBezTo>
                          <a:cubicBezTo>
                            <a:pt x="1935" y="2936"/>
                            <a:pt x="3836" y="1"/>
                            <a:pt x="5471" y="2002"/>
                          </a:cubicBezTo>
                          <a:cubicBezTo>
                            <a:pt x="6038" y="2703"/>
                            <a:pt x="5571" y="2869"/>
                            <a:pt x="5171" y="2502"/>
                          </a:cubicBezTo>
                          <a:cubicBezTo>
                            <a:pt x="4070" y="1302"/>
                            <a:pt x="3069" y="3170"/>
                            <a:pt x="2502" y="4170"/>
                          </a:cubicBezTo>
                          <a:lnTo>
                            <a:pt x="8006" y="4170"/>
                          </a:lnTo>
                          <a:lnTo>
                            <a:pt x="8606" y="4170"/>
                          </a:lnTo>
                          <a:lnTo>
                            <a:pt x="9240" y="4170"/>
                          </a:lnTo>
                          <a:lnTo>
                            <a:pt x="14711" y="4170"/>
                          </a:lnTo>
                          <a:cubicBezTo>
                            <a:pt x="14144" y="3170"/>
                            <a:pt x="13110" y="1302"/>
                            <a:pt x="12009" y="2502"/>
                          </a:cubicBezTo>
                          <a:cubicBezTo>
                            <a:pt x="11642" y="2869"/>
                            <a:pt x="11175" y="2703"/>
                            <a:pt x="11742" y="2002"/>
                          </a:cubicBezTo>
                          <a:cubicBezTo>
                            <a:pt x="13376" y="34"/>
                            <a:pt x="15278" y="2903"/>
                            <a:pt x="16379" y="4170"/>
                          </a:cubicBezTo>
                          <a:cubicBezTo>
                            <a:pt x="16746" y="4237"/>
                            <a:pt x="16879" y="4604"/>
                            <a:pt x="17213" y="5238"/>
                          </a:cubicBezTo>
                          <a:close/>
                          <a:moveTo>
                            <a:pt x="7572" y="4904"/>
                          </a:moveTo>
                          <a:lnTo>
                            <a:pt x="1435" y="4904"/>
                          </a:lnTo>
                          <a:lnTo>
                            <a:pt x="1435" y="4904"/>
                          </a:lnTo>
                          <a:cubicBezTo>
                            <a:pt x="1401" y="4904"/>
                            <a:pt x="1335" y="4904"/>
                            <a:pt x="1301" y="4937"/>
                          </a:cubicBezTo>
                          <a:cubicBezTo>
                            <a:pt x="1201" y="4971"/>
                            <a:pt x="1034" y="5304"/>
                            <a:pt x="934" y="5505"/>
                          </a:cubicBezTo>
                          <a:cubicBezTo>
                            <a:pt x="1134" y="6972"/>
                            <a:pt x="1768" y="8740"/>
                            <a:pt x="3403" y="9007"/>
                          </a:cubicBezTo>
                          <a:cubicBezTo>
                            <a:pt x="4337" y="9140"/>
                            <a:pt x="5271" y="8774"/>
                            <a:pt x="5971" y="8173"/>
                          </a:cubicBezTo>
                          <a:cubicBezTo>
                            <a:pt x="6905" y="7406"/>
                            <a:pt x="7406" y="6338"/>
                            <a:pt x="7606" y="5171"/>
                          </a:cubicBezTo>
                          <a:cubicBezTo>
                            <a:pt x="7639" y="5004"/>
                            <a:pt x="7706" y="4904"/>
                            <a:pt x="7572" y="4904"/>
                          </a:cubicBezTo>
                          <a:close/>
                          <a:moveTo>
                            <a:pt x="9674" y="4904"/>
                          </a:moveTo>
                          <a:cubicBezTo>
                            <a:pt x="9540" y="4904"/>
                            <a:pt x="9574" y="5004"/>
                            <a:pt x="9607" y="5171"/>
                          </a:cubicBezTo>
                          <a:cubicBezTo>
                            <a:pt x="9807" y="6338"/>
                            <a:pt x="10341" y="7406"/>
                            <a:pt x="11275" y="8173"/>
                          </a:cubicBezTo>
                          <a:cubicBezTo>
                            <a:pt x="11975" y="8774"/>
                            <a:pt x="12876" y="9140"/>
                            <a:pt x="13810" y="9007"/>
                          </a:cubicBezTo>
                          <a:cubicBezTo>
                            <a:pt x="15445" y="8740"/>
                            <a:pt x="16078" y="6972"/>
                            <a:pt x="16279" y="5505"/>
                          </a:cubicBezTo>
                          <a:cubicBezTo>
                            <a:pt x="16178" y="5304"/>
                            <a:pt x="16012" y="5004"/>
                            <a:pt x="15912" y="4937"/>
                          </a:cubicBezTo>
                          <a:cubicBezTo>
                            <a:pt x="15878" y="4904"/>
                            <a:pt x="15812" y="4904"/>
                            <a:pt x="15778" y="4904"/>
                          </a:cubicBezTo>
                          <a:lnTo>
                            <a:pt x="15778" y="4904"/>
                          </a:lnTo>
                          <a:lnTo>
                            <a:pt x="9674" y="490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7" name="Grupo 76">
                    <a:extLst>
                      <a:ext uri="{FF2B5EF4-FFF2-40B4-BE49-F238E27FC236}">
                        <ns2:creationId id="{7585FE78-9191-1F4E-E077-18CBBD6214A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152406" y="-30822"/>
                    <a:ext cx="1000065" cy="3308215"/>
                    <a:chOff x="2152406" y="-30822"/>
                    <a:chExt cx="1000065" cy="3308215"/>
                  </a:xfrm>
                </p:grpSpPr>
                <p:sp>
                  <p:nvSpPr>
                    <p:cNvPr id="39" name="Google Shape;39;p47"/>
                    <p:cNvSpPr/>
                    <p:nvPr/>
                  </p:nvSpPr>
                  <p:spPr>
                    <a:xfrm flipH="1">
                      <a:off x="2626488" y="-30822"/>
                      <a:ext cx="51712" cy="1801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07" extrusionOk="0">
                          <a:moveTo>
                            <a:pt x="1" y="1"/>
                          </a:moveTo>
                          <a:lnTo>
                            <a:pt x="1" y="101407"/>
                          </a:lnTo>
                          <a:lnTo>
                            <a:pt x="2903" y="101407"/>
                          </a:lnTo>
                          <a:lnTo>
                            <a:pt x="2903" y="1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" name="Google Shape;40;p47"/>
                    <p:cNvSpPr/>
                    <p:nvPr/>
                  </p:nvSpPr>
                  <p:spPr>
                    <a:xfrm flipH="1">
                      <a:off x="2152406" y="2121636"/>
                      <a:ext cx="1000065" cy="11557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1" y="34058"/>
                            <a:pt x="1" y="39128"/>
                          </a:cubicBezTo>
                          <a:cubicBezTo>
                            <a:pt x="1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321"/>
                            <a:pt x="52171" y="25252"/>
                          </a:cubicBezTo>
                          <a:lnTo>
                            <a:pt x="52305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8" y="0"/>
                          </a:lnTo>
                          <a:cubicBezTo>
                            <a:pt x="14178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E4A3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" name="Google Shape;41;p47"/>
                    <p:cNvSpPr/>
                    <p:nvPr/>
                  </p:nvSpPr>
                  <p:spPr>
                    <a:xfrm flipH="1">
                      <a:off x="2404905" y="1821756"/>
                      <a:ext cx="494983" cy="2998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8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1" y="5738"/>
                          </a:lnTo>
                          <a:lnTo>
                            <a:pt x="1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" name="Google Shape;42;p47"/>
                    <p:cNvSpPr/>
                    <p:nvPr/>
                  </p:nvSpPr>
                  <p:spPr>
                    <a:xfrm flipH="1">
                      <a:off x="2364493" y="1652635"/>
                      <a:ext cx="576408" cy="431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785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08"/>
                          </a:lnTo>
                          <a:cubicBezTo>
                            <a:pt x="1" y="4603"/>
                            <a:pt x="4638" y="0"/>
                            <a:pt x="10342" y="0"/>
                          </a:cubicBezTo>
                          <a:lnTo>
                            <a:pt x="22050" y="0"/>
                          </a:lnTo>
                          <a:cubicBezTo>
                            <a:pt x="27754" y="0"/>
                            <a:pt x="32357" y="4603"/>
                            <a:pt x="32357" y="10308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3" name="Google Shape;43;p47"/>
                    <p:cNvGrpSpPr/>
                    <p:nvPr/>
                  </p:nvGrpSpPr>
                  <p:grpSpPr>
                    <a:xfrm flipH="1">
                      <a:off x="2365776" y="2607516"/>
                      <a:ext cx="593635" cy="330320"/>
                      <a:chOff x="4982311" y="5560895"/>
                      <a:chExt cx="247738" cy="140954"/>
                    </a:xfrm>
                  </p:grpSpPr>
                  <p:sp>
                    <p:nvSpPr>
                      <p:cNvPr id="44" name="Google Shape;44;p47"/>
                      <p:cNvSpPr/>
                      <p:nvPr/>
                    </p:nvSpPr>
                    <p:spPr>
                      <a:xfrm>
                        <a:off x="5053027" y="5560895"/>
                        <a:ext cx="106305" cy="140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873" h="10441" extrusionOk="0">
                            <a:moveTo>
                              <a:pt x="3102" y="4904"/>
                            </a:moveTo>
                            <a:cubicBezTo>
                              <a:pt x="1334" y="5437"/>
                              <a:pt x="0" y="7572"/>
                              <a:pt x="0" y="10141"/>
                            </a:cubicBezTo>
                            <a:cubicBezTo>
                              <a:pt x="0" y="10241"/>
                              <a:pt x="0" y="10341"/>
                              <a:pt x="0" y="10441"/>
                            </a:cubicBezTo>
                            <a:lnTo>
                              <a:pt x="7872" y="10441"/>
                            </a:lnTo>
                            <a:cubicBezTo>
                              <a:pt x="7872" y="10341"/>
                              <a:pt x="7872" y="10241"/>
                              <a:pt x="7872" y="10141"/>
                            </a:cubicBezTo>
                            <a:cubicBezTo>
                              <a:pt x="7872" y="7572"/>
                              <a:pt x="6538" y="5437"/>
                              <a:pt x="4770" y="4904"/>
                            </a:cubicBezTo>
                            <a:cubicBezTo>
                              <a:pt x="5771" y="4570"/>
                              <a:pt x="6505" y="3636"/>
                              <a:pt x="6505" y="2535"/>
                            </a:cubicBezTo>
                            <a:cubicBezTo>
                              <a:pt x="6505" y="1134"/>
                              <a:pt x="5371" y="0"/>
                              <a:pt x="3936" y="0"/>
                            </a:cubicBezTo>
                            <a:cubicBezTo>
                              <a:pt x="2502" y="0"/>
                              <a:pt x="1334" y="1134"/>
                              <a:pt x="1334" y="2535"/>
                            </a:cubicBezTo>
                            <a:cubicBezTo>
                              <a:pt x="1368" y="3636"/>
                              <a:pt x="2102" y="4570"/>
                              <a:pt x="3102" y="4904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" name="Google Shape;45;p47"/>
                      <p:cNvSpPr/>
                      <p:nvPr/>
                    </p:nvSpPr>
                    <p:spPr>
                      <a:xfrm>
                        <a:off x="4982311" y="5572142"/>
                        <a:ext cx="77923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1" h="8774" extrusionOk="0">
                            <a:moveTo>
                              <a:pt x="2602" y="4137"/>
                            </a:moveTo>
                            <a:cubicBezTo>
                              <a:pt x="1101" y="4571"/>
                              <a:pt x="0" y="6372"/>
                              <a:pt x="0" y="8540"/>
                            </a:cubicBezTo>
                            <a:cubicBezTo>
                              <a:pt x="0" y="8607"/>
                              <a:pt x="0" y="8707"/>
                              <a:pt x="0" y="8774"/>
                            </a:cubicBezTo>
                            <a:lnTo>
                              <a:pt x="4737" y="8774"/>
                            </a:lnTo>
                            <a:cubicBezTo>
                              <a:pt x="4803" y="7673"/>
                              <a:pt x="5104" y="6606"/>
                              <a:pt x="5671" y="5672"/>
                            </a:cubicBezTo>
                            <a:lnTo>
                              <a:pt x="5771" y="5505"/>
                            </a:lnTo>
                            <a:cubicBezTo>
                              <a:pt x="5304" y="4838"/>
                              <a:pt x="4703" y="4337"/>
                              <a:pt x="4003" y="4137"/>
                            </a:cubicBezTo>
                            <a:cubicBezTo>
                              <a:pt x="4870" y="3837"/>
                              <a:pt x="5471" y="3070"/>
                              <a:pt x="5471" y="2136"/>
                            </a:cubicBezTo>
                            <a:cubicBezTo>
                              <a:pt x="5471" y="935"/>
                              <a:pt x="4503" y="1"/>
                              <a:pt x="3302" y="1"/>
                            </a:cubicBezTo>
                            <a:cubicBezTo>
                              <a:pt x="2102" y="1"/>
                              <a:pt x="1134" y="935"/>
                              <a:pt x="1134" y="2136"/>
                            </a:cubicBezTo>
                            <a:cubicBezTo>
                              <a:pt x="1134" y="3036"/>
                              <a:pt x="1735" y="3837"/>
                              <a:pt x="2602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" name="Google Shape;46;p47"/>
                      <p:cNvSpPr/>
                      <p:nvPr/>
                    </p:nvSpPr>
                    <p:spPr>
                      <a:xfrm>
                        <a:off x="5152113" y="5572142"/>
                        <a:ext cx="77936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2" h="8774" extrusionOk="0">
                            <a:moveTo>
                              <a:pt x="1769" y="4137"/>
                            </a:moveTo>
                            <a:cubicBezTo>
                              <a:pt x="1068" y="4337"/>
                              <a:pt x="468" y="4838"/>
                              <a:pt x="1" y="5505"/>
                            </a:cubicBezTo>
                            <a:lnTo>
                              <a:pt x="101" y="5672"/>
                            </a:lnTo>
                            <a:cubicBezTo>
                              <a:pt x="668" y="6606"/>
                              <a:pt x="968" y="7673"/>
                              <a:pt x="1035" y="8774"/>
                            </a:cubicBezTo>
                            <a:lnTo>
                              <a:pt x="5771" y="8774"/>
                            </a:lnTo>
                            <a:cubicBezTo>
                              <a:pt x="5771" y="8707"/>
                              <a:pt x="5771" y="8607"/>
                              <a:pt x="5771" y="8540"/>
                            </a:cubicBezTo>
                            <a:cubicBezTo>
                              <a:pt x="5771" y="6372"/>
                              <a:pt x="4671" y="4571"/>
                              <a:pt x="3170" y="4137"/>
                            </a:cubicBezTo>
                            <a:cubicBezTo>
                              <a:pt x="4037" y="3837"/>
                              <a:pt x="4637" y="3070"/>
                              <a:pt x="4637" y="2136"/>
                            </a:cubicBezTo>
                            <a:cubicBezTo>
                              <a:pt x="4637" y="935"/>
                              <a:pt x="3670" y="1"/>
                              <a:pt x="2469" y="1"/>
                            </a:cubicBezTo>
                            <a:cubicBezTo>
                              <a:pt x="1268" y="1"/>
                              <a:pt x="301" y="935"/>
                              <a:pt x="301" y="2136"/>
                            </a:cubicBezTo>
                            <a:cubicBezTo>
                              <a:pt x="301" y="3036"/>
                              <a:pt x="901" y="3837"/>
                              <a:pt x="1769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6" name="Grupo 75">
                    <a:extLst>
                      <a:ext uri="{FF2B5EF4-FFF2-40B4-BE49-F238E27FC236}">
                        <ns2:creationId id="{68430AA9-969E-B49C-1E01-7021AE3D77D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409182" y="-19665"/>
                    <a:ext cx="1097444" cy="4918981"/>
                    <a:chOff x="1409182" y="-19665"/>
                    <a:chExt cx="1097444" cy="4918981"/>
                  </a:xfrm>
                </p:grpSpPr>
                <p:sp>
                  <p:nvSpPr>
                    <p:cNvPr id="48" name="Google Shape;48;p47"/>
                    <p:cNvSpPr/>
                    <p:nvPr/>
                  </p:nvSpPr>
                  <p:spPr>
                    <a:xfrm flipH="1">
                      <a:off x="1929447" y="-19665"/>
                      <a:ext cx="56729" cy="33757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2" h="181064" extrusionOk="0">
                          <a:moveTo>
                            <a:pt x="0" y="0"/>
                          </a:moveTo>
                          <a:lnTo>
                            <a:pt x="0" y="181063"/>
                          </a:lnTo>
                          <a:lnTo>
                            <a:pt x="2902" y="181063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" name="Google Shape;49;p47"/>
                    <p:cNvSpPr/>
                    <p:nvPr/>
                  </p:nvSpPr>
                  <p:spPr>
                    <a:xfrm flipH="1">
                      <a:off x="1409182" y="3737705"/>
                      <a:ext cx="1097444" cy="11616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0" h="66315" extrusionOk="0">
                          <a:moveTo>
                            <a:pt x="3970" y="25219"/>
                          </a:moveTo>
                          <a:cubicBezTo>
                            <a:pt x="1468" y="29288"/>
                            <a:pt x="0" y="34025"/>
                            <a:pt x="0" y="39095"/>
                          </a:cubicBezTo>
                          <a:cubicBezTo>
                            <a:pt x="0" y="54139"/>
                            <a:pt x="12576" y="66315"/>
                            <a:pt x="28087" y="66315"/>
                          </a:cubicBezTo>
                          <a:cubicBezTo>
                            <a:pt x="43598" y="66315"/>
                            <a:pt x="56140" y="54139"/>
                            <a:pt x="56140" y="39095"/>
                          </a:cubicBezTo>
                          <a:cubicBezTo>
                            <a:pt x="56140" y="34025"/>
                            <a:pt x="54706" y="29288"/>
                            <a:pt x="52204" y="25219"/>
                          </a:cubicBezTo>
                          <a:lnTo>
                            <a:pt x="52304" y="25219"/>
                          </a:lnTo>
                          <a:cubicBezTo>
                            <a:pt x="40796" y="7906"/>
                            <a:pt x="41963" y="0"/>
                            <a:pt x="41963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06"/>
                            <a:pt x="3870" y="25219"/>
                          </a:cubicBezTo>
                          <a:close/>
                        </a:path>
                      </a:pathLst>
                    </a:custGeom>
                    <a:solidFill>
                      <a:srgbClr val="9688D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" name="Google Shape;50;p47"/>
                    <p:cNvSpPr/>
                    <p:nvPr/>
                  </p:nvSpPr>
                  <p:spPr>
                    <a:xfrm flipH="1">
                      <a:off x="1686252" y="3435561"/>
                      <a:ext cx="543209" cy="3021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8" h="17247" extrusionOk="0">
                          <a:moveTo>
                            <a:pt x="13911" y="17246"/>
                          </a:moveTo>
                          <a:lnTo>
                            <a:pt x="13911" y="17246"/>
                          </a:lnTo>
                          <a:lnTo>
                            <a:pt x="27787" y="17246"/>
                          </a:lnTo>
                          <a:lnTo>
                            <a:pt x="27787" y="5738"/>
                          </a:lnTo>
                          <a:lnTo>
                            <a:pt x="24018" y="1"/>
                          </a:lnTo>
                          <a:lnTo>
                            <a:pt x="13911" y="1"/>
                          </a:lnTo>
                          <a:lnTo>
                            <a:pt x="13911" y="1"/>
                          </a:lnTo>
                          <a:lnTo>
                            <a:pt x="3770" y="1"/>
                          </a:lnTo>
                          <a:lnTo>
                            <a:pt x="1" y="5738"/>
                          </a:lnTo>
                          <a:lnTo>
                            <a:pt x="1" y="17246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" name="Google Shape;51;p47"/>
                    <p:cNvSpPr/>
                    <p:nvPr/>
                  </p:nvSpPr>
                  <p:spPr>
                    <a:xfrm flipH="1">
                      <a:off x="1641279" y="3265499"/>
                      <a:ext cx="632526" cy="434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04"/>
                            <a:pt x="4604" y="1"/>
                            <a:pt x="10308" y="1"/>
                          </a:cubicBezTo>
                          <a:lnTo>
                            <a:pt x="22016" y="1"/>
                          </a:lnTo>
                          <a:cubicBezTo>
                            <a:pt x="27720" y="1"/>
                            <a:pt x="32357" y="4604"/>
                            <a:pt x="32357" y="10342"/>
                          </a:cubicBez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2" name="Google Shape;52;p47"/>
                    <p:cNvGrpSpPr/>
                    <p:nvPr/>
                  </p:nvGrpSpPr>
                  <p:grpSpPr>
                    <a:xfrm flipH="1">
                      <a:off x="1733284" y="4107325"/>
                      <a:ext cx="426276" cy="556462"/>
                      <a:chOff x="4421084" y="5282716"/>
                      <a:chExt cx="162108" cy="236138"/>
                    </a:xfrm>
                  </p:grpSpPr>
                  <p:sp>
                    <p:nvSpPr>
                      <p:cNvPr id="53" name="Google Shape;53;p47"/>
                      <p:cNvSpPr/>
                      <p:nvPr/>
                    </p:nvSpPr>
                    <p:spPr>
                      <a:xfrm>
                        <a:off x="4470861" y="5466511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3" y="468"/>
                              <a:pt x="3103" y="668"/>
                              <a:pt x="2903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4" y="301"/>
                            </a:cubicBezTo>
                            <a:cubicBezTo>
                              <a:pt x="101" y="134"/>
                              <a:pt x="267" y="1"/>
                              <a:pt x="434" y="34"/>
                            </a:cubicBezTo>
                            <a:cubicBezTo>
                              <a:pt x="1235" y="167"/>
                              <a:pt x="2002" y="167"/>
                              <a:pt x="2769" y="34"/>
                            </a:cubicBezTo>
                            <a:cubicBezTo>
                              <a:pt x="2969" y="1"/>
                              <a:pt x="3136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" name="Google Shape;54;p47"/>
                      <p:cNvSpPr/>
                      <p:nvPr/>
                    </p:nvSpPr>
                    <p:spPr>
                      <a:xfrm>
                        <a:off x="4470230" y="5481185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2" y="468"/>
                              <a:pt x="3069" y="668"/>
                              <a:pt x="2869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3" y="301"/>
                            </a:cubicBezTo>
                            <a:cubicBezTo>
                              <a:pt x="67" y="134"/>
                              <a:pt x="267" y="1"/>
                              <a:pt x="434" y="34"/>
                            </a:cubicBezTo>
                            <a:cubicBezTo>
                              <a:pt x="1201" y="168"/>
                              <a:pt x="2002" y="168"/>
                              <a:pt x="2769" y="34"/>
                            </a:cubicBezTo>
                            <a:cubicBezTo>
                              <a:pt x="2936" y="1"/>
                              <a:pt x="3102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5" name="Google Shape;55;p47"/>
                      <p:cNvSpPr/>
                      <p:nvPr/>
                    </p:nvSpPr>
                    <p:spPr>
                      <a:xfrm>
                        <a:off x="4470230" y="5495878"/>
                        <a:ext cx="61273" cy="15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4" extrusionOk="0">
                            <a:moveTo>
                              <a:pt x="3169" y="300"/>
                            </a:moveTo>
                            <a:cubicBezTo>
                              <a:pt x="3202" y="467"/>
                              <a:pt x="3069" y="667"/>
                              <a:pt x="2869" y="701"/>
                            </a:cubicBezTo>
                            <a:cubicBezTo>
                              <a:pt x="2035" y="834"/>
                              <a:pt x="1168" y="834"/>
                              <a:pt x="334" y="701"/>
                            </a:cubicBezTo>
                            <a:cubicBezTo>
                              <a:pt x="134" y="667"/>
                              <a:pt x="0" y="467"/>
                              <a:pt x="33" y="300"/>
                            </a:cubicBezTo>
                            <a:cubicBezTo>
                              <a:pt x="67" y="134"/>
                              <a:pt x="267" y="0"/>
                              <a:pt x="434" y="33"/>
                            </a:cubicBezTo>
                            <a:cubicBezTo>
                              <a:pt x="1201" y="167"/>
                              <a:pt x="2002" y="167"/>
                              <a:pt x="2769" y="33"/>
                            </a:cubicBezTo>
                            <a:cubicBezTo>
                              <a:pt x="2936" y="0"/>
                              <a:pt x="3102" y="134"/>
                              <a:pt x="3169" y="30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" name="Google Shape;56;p47"/>
                      <p:cNvSpPr/>
                      <p:nvPr/>
                    </p:nvSpPr>
                    <p:spPr>
                      <a:xfrm>
                        <a:off x="4482990" y="5507988"/>
                        <a:ext cx="35104" cy="1086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35" h="568" extrusionOk="0">
                            <a:moveTo>
                              <a:pt x="1835" y="201"/>
                            </a:moveTo>
                            <a:cubicBezTo>
                              <a:pt x="1835" y="334"/>
                              <a:pt x="1768" y="468"/>
                              <a:pt x="1668" y="468"/>
                            </a:cubicBezTo>
                            <a:cubicBezTo>
                              <a:pt x="1168" y="568"/>
                              <a:pt x="667" y="568"/>
                              <a:pt x="200" y="468"/>
                            </a:cubicBezTo>
                            <a:cubicBezTo>
                              <a:pt x="100" y="468"/>
                              <a:pt x="0" y="334"/>
                              <a:pt x="34" y="201"/>
                            </a:cubicBezTo>
                            <a:cubicBezTo>
                              <a:pt x="67" y="101"/>
                              <a:pt x="167" y="1"/>
                              <a:pt x="267" y="34"/>
                            </a:cubicBezTo>
                            <a:cubicBezTo>
                              <a:pt x="701" y="134"/>
                              <a:pt x="1168" y="134"/>
                              <a:pt x="1601" y="34"/>
                            </a:cubicBezTo>
                            <a:cubicBezTo>
                              <a:pt x="1701" y="1"/>
                              <a:pt x="1802" y="101"/>
                              <a:pt x="1835" y="2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7" name="Google Shape;57;p47"/>
                      <p:cNvSpPr/>
                      <p:nvPr/>
                    </p:nvSpPr>
                    <p:spPr>
                      <a:xfrm>
                        <a:off x="4421084" y="5282716"/>
                        <a:ext cx="162108" cy="18571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474" h="9708" extrusionOk="0">
                            <a:moveTo>
                              <a:pt x="4237" y="1"/>
                            </a:moveTo>
                            <a:cubicBezTo>
                              <a:pt x="1902" y="1"/>
                              <a:pt x="1" y="1869"/>
                              <a:pt x="1" y="4204"/>
                            </a:cubicBezTo>
                            <a:cubicBezTo>
                              <a:pt x="1" y="5938"/>
                              <a:pt x="1869" y="7840"/>
                              <a:pt x="2536" y="9307"/>
                            </a:cubicBezTo>
                            <a:cubicBezTo>
                              <a:pt x="2669" y="9608"/>
                              <a:pt x="5771" y="9708"/>
                              <a:pt x="5938" y="9307"/>
                            </a:cubicBezTo>
                            <a:cubicBezTo>
                              <a:pt x="6338" y="8273"/>
                              <a:pt x="8473" y="5938"/>
                              <a:pt x="8473" y="4204"/>
                            </a:cubicBezTo>
                            <a:cubicBezTo>
                              <a:pt x="8473" y="1869"/>
                              <a:pt x="6572" y="1"/>
                              <a:pt x="4237" y="1"/>
                            </a:cubicBezTo>
                            <a:close/>
                            <a:moveTo>
                              <a:pt x="7172" y="3703"/>
                            </a:moveTo>
                            <a:lnTo>
                              <a:pt x="7172" y="3703"/>
                            </a:lnTo>
                            <a:cubicBezTo>
                              <a:pt x="6972" y="2836"/>
                              <a:pt x="6472" y="2202"/>
                              <a:pt x="5905" y="1802"/>
                            </a:cubicBezTo>
                            <a:cubicBezTo>
                              <a:pt x="5771" y="1735"/>
                              <a:pt x="5705" y="1535"/>
                              <a:pt x="5771" y="1402"/>
                            </a:cubicBezTo>
                            <a:cubicBezTo>
                              <a:pt x="5838" y="1235"/>
                              <a:pt x="6005" y="1168"/>
                              <a:pt x="6172" y="1268"/>
                            </a:cubicBezTo>
                            <a:cubicBezTo>
                              <a:pt x="6872" y="1669"/>
                              <a:pt x="7473" y="2369"/>
                              <a:pt x="7739" y="3336"/>
                            </a:cubicBezTo>
                            <a:cubicBezTo>
                              <a:pt x="7806" y="3570"/>
                              <a:pt x="7706" y="3837"/>
                              <a:pt x="7539" y="3937"/>
                            </a:cubicBezTo>
                            <a:cubicBezTo>
                              <a:pt x="7373" y="4004"/>
                              <a:pt x="7206" y="3904"/>
                              <a:pt x="7172" y="3703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5" name="Grupo 74">
                    <a:extLst>
                      <a:ext uri="{FF2B5EF4-FFF2-40B4-BE49-F238E27FC236}">
                        <ns2:creationId id="{5502EE12-F1AA-52B5-F2D6-9E9780236EE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19448" y="-6500"/>
                    <a:ext cx="1078000" cy="3309431"/>
                    <a:chOff x="519448" y="-6500"/>
                    <a:chExt cx="1078000" cy="3309431"/>
                  </a:xfrm>
                </p:grpSpPr>
                <p:sp>
                  <p:nvSpPr>
                    <p:cNvPr id="59" name="Google Shape;59;p47"/>
                    <p:cNvSpPr/>
                    <p:nvPr/>
                  </p:nvSpPr>
                  <p:spPr>
                    <a:xfrm flipH="1">
                      <a:off x="1030823" y="-6500"/>
                      <a:ext cx="55709" cy="178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40" extrusionOk="0">
                          <a:moveTo>
                            <a:pt x="0" y="0"/>
                          </a:moveTo>
                          <a:lnTo>
                            <a:pt x="0" y="101440"/>
                          </a:lnTo>
                          <a:lnTo>
                            <a:pt x="2902" y="101440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" name="Google Shape;60;p47"/>
                    <p:cNvSpPr/>
                    <p:nvPr/>
                  </p:nvSpPr>
                  <p:spPr>
                    <a:xfrm flipH="1">
                      <a:off x="519448" y="2134712"/>
                      <a:ext cx="1078000" cy="1168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74" h="66348" extrusionOk="0">
                          <a:moveTo>
                            <a:pt x="3970" y="25252"/>
                          </a:moveTo>
                          <a:cubicBezTo>
                            <a:pt x="1468" y="29321"/>
                            <a:pt x="0" y="34058"/>
                            <a:pt x="0" y="39128"/>
                          </a:cubicBezTo>
                          <a:cubicBezTo>
                            <a:pt x="0" y="54172"/>
                            <a:pt x="12576" y="66348"/>
                            <a:pt x="28087" y="66348"/>
                          </a:cubicBezTo>
                          <a:cubicBezTo>
                            <a:pt x="43598" y="66348"/>
                            <a:pt x="56174" y="54172"/>
                            <a:pt x="56174" y="39128"/>
                          </a:cubicBezTo>
                          <a:cubicBezTo>
                            <a:pt x="56174" y="34058"/>
                            <a:pt x="54706" y="29321"/>
                            <a:pt x="52204" y="25252"/>
                          </a:cubicBezTo>
                          <a:lnTo>
                            <a:pt x="52304" y="25252"/>
                          </a:lnTo>
                          <a:cubicBezTo>
                            <a:pt x="40796" y="7939"/>
                            <a:pt x="41964" y="0"/>
                            <a:pt x="41964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70" y="25252"/>
                          </a:cubicBezTo>
                          <a:close/>
                        </a:path>
                      </a:pathLst>
                    </a:custGeom>
                    <a:solidFill>
                      <a:srgbClr val="EFD25E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" name="Google Shape;61;p47"/>
                    <p:cNvSpPr/>
                    <p:nvPr/>
                  </p:nvSpPr>
                  <p:spPr>
                    <a:xfrm flipH="1">
                      <a:off x="792096" y="1831582"/>
                      <a:ext cx="533243" cy="303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4" extrusionOk="0">
                          <a:moveTo>
                            <a:pt x="13910" y="17213"/>
                          </a:moveTo>
                          <a:lnTo>
                            <a:pt x="13910" y="17213"/>
                          </a:lnTo>
                          <a:lnTo>
                            <a:pt x="27787" y="17213"/>
                          </a:lnTo>
                          <a:lnTo>
                            <a:pt x="27787" y="5738"/>
                          </a:lnTo>
                          <a:lnTo>
                            <a:pt x="24017" y="1"/>
                          </a:lnTo>
                          <a:lnTo>
                            <a:pt x="13910" y="1"/>
                          </a:lnTo>
                          <a:lnTo>
                            <a:pt x="13910" y="1"/>
                          </a:lnTo>
                          <a:lnTo>
                            <a:pt x="3770" y="1"/>
                          </a:lnTo>
                          <a:lnTo>
                            <a:pt x="0" y="5738"/>
                          </a:lnTo>
                          <a:lnTo>
                            <a:pt x="0" y="17213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" name="Google Shape;62;p47"/>
                    <p:cNvSpPr/>
                    <p:nvPr/>
                  </p:nvSpPr>
                  <p:spPr>
                    <a:xfrm flipH="1">
                      <a:off x="747928" y="1660055"/>
                      <a:ext cx="620962" cy="437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819" extrusionOk="0">
                          <a:moveTo>
                            <a:pt x="32357" y="24818"/>
                          </a:moveTo>
                          <a:lnTo>
                            <a:pt x="1" y="24818"/>
                          </a:lnTo>
                          <a:lnTo>
                            <a:pt x="1" y="10341"/>
                          </a:lnTo>
                          <a:cubicBezTo>
                            <a:pt x="1" y="4637"/>
                            <a:pt x="4638" y="1"/>
                            <a:pt x="10342" y="1"/>
                          </a:cubicBezTo>
                          <a:lnTo>
                            <a:pt x="22017" y="1"/>
                          </a:lnTo>
                          <a:cubicBezTo>
                            <a:pt x="27721" y="1"/>
                            <a:pt x="32357" y="4637"/>
                            <a:pt x="32357" y="10341"/>
                          </a:cubicBezTo>
                          <a:lnTo>
                            <a:pt x="32357" y="24818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3" name="Google Shape;63;p47"/>
                    <p:cNvGrpSpPr/>
                    <p:nvPr/>
                  </p:nvGrpSpPr>
                  <p:grpSpPr>
                    <a:xfrm flipH="1">
                      <a:off x="835265" y="2525624"/>
                      <a:ext cx="467867" cy="437787"/>
                      <a:chOff x="5646013" y="5370038"/>
                      <a:chExt cx="181243" cy="184819"/>
                    </a:xfrm>
                  </p:grpSpPr>
                  <p:sp>
                    <p:nvSpPr>
                      <p:cNvPr id="64" name="Google Shape;64;p47"/>
                      <p:cNvSpPr/>
                      <p:nvPr/>
                    </p:nvSpPr>
                    <p:spPr>
                      <a:xfrm>
                        <a:off x="5646013" y="5370038"/>
                        <a:ext cx="149914" cy="1848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741" h="12009" extrusionOk="0">
                            <a:moveTo>
                              <a:pt x="9407" y="5838"/>
                            </a:moveTo>
                            <a:cubicBezTo>
                              <a:pt x="9007" y="5871"/>
                              <a:pt x="8407" y="5871"/>
                              <a:pt x="7973" y="5771"/>
                            </a:cubicBezTo>
                            <a:cubicBezTo>
                              <a:pt x="7206" y="5571"/>
                              <a:pt x="5972" y="3803"/>
                              <a:pt x="5438" y="3036"/>
                            </a:cubicBezTo>
                            <a:cubicBezTo>
                              <a:pt x="4904" y="2302"/>
                              <a:pt x="5138" y="434"/>
                              <a:pt x="5004" y="334"/>
                            </a:cubicBezTo>
                            <a:cubicBezTo>
                              <a:pt x="4904" y="234"/>
                              <a:pt x="4704" y="0"/>
                              <a:pt x="4237" y="234"/>
                            </a:cubicBezTo>
                            <a:cubicBezTo>
                              <a:pt x="3803" y="434"/>
                              <a:pt x="3303" y="1134"/>
                              <a:pt x="3336" y="2235"/>
                            </a:cubicBezTo>
                            <a:cubicBezTo>
                              <a:pt x="3370" y="3336"/>
                              <a:pt x="3803" y="4370"/>
                              <a:pt x="3770" y="4904"/>
                            </a:cubicBezTo>
                            <a:cubicBezTo>
                              <a:pt x="3770" y="5438"/>
                              <a:pt x="3203" y="5504"/>
                              <a:pt x="2369" y="5738"/>
                            </a:cubicBezTo>
                            <a:cubicBezTo>
                              <a:pt x="1502" y="5971"/>
                              <a:pt x="668" y="6171"/>
                              <a:pt x="334" y="6672"/>
                            </a:cubicBezTo>
                            <a:cubicBezTo>
                              <a:pt x="1" y="7172"/>
                              <a:pt x="668" y="7973"/>
                              <a:pt x="768" y="8073"/>
                            </a:cubicBezTo>
                            <a:cubicBezTo>
                              <a:pt x="868" y="8173"/>
                              <a:pt x="601" y="8273"/>
                              <a:pt x="801" y="8907"/>
                            </a:cubicBezTo>
                            <a:cubicBezTo>
                              <a:pt x="968" y="9540"/>
                              <a:pt x="1502" y="9674"/>
                              <a:pt x="1502" y="9674"/>
                            </a:cubicBezTo>
                            <a:cubicBezTo>
                              <a:pt x="1502" y="9674"/>
                              <a:pt x="1402" y="10108"/>
                              <a:pt x="1635" y="10508"/>
                            </a:cubicBezTo>
                            <a:cubicBezTo>
                              <a:pt x="1835" y="10875"/>
                              <a:pt x="2369" y="11008"/>
                              <a:pt x="2369" y="11008"/>
                            </a:cubicBezTo>
                            <a:cubicBezTo>
                              <a:pt x="2369" y="11008"/>
                              <a:pt x="2269" y="11575"/>
                              <a:pt x="2669" y="11809"/>
                            </a:cubicBezTo>
                            <a:cubicBezTo>
                              <a:pt x="3103" y="12009"/>
                              <a:pt x="5204" y="11976"/>
                              <a:pt x="5972" y="11575"/>
                            </a:cubicBezTo>
                            <a:cubicBezTo>
                              <a:pt x="6739" y="11208"/>
                              <a:pt x="7473" y="10541"/>
                              <a:pt x="8107" y="10408"/>
                            </a:cubicBezTo>
                            <a:cubicBezTo>
                              <a:pt x="8507" y="10341"/>
                              <a:pt x="9241" y="10341"/>
                              <a:pt x="9741" y="10341"/>
                            </a:cubicBezTo>
                            <a:cubicBezTo>
                              <a:pt x="9708" y="10308"/>
                              <a:pt x="9708" y="10274"/>
                              <a:pt x="9708" y="10241"/>
                            </a:cubicBezTo>
                            <a:lnTo>
                              <a:pt x="9407" y="5871"/>
                            </a:lnTo>
                            <a:cubicBezTo>
                              <a:pt x="9407" y="5871"/>
                              <a:pt x="9407" y="5838"/>
                              <a:pt x="9407" y="5838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" name="Google Shape;65;p47"/>
                      <p:cNvSpPr/>
                      <p:nvPr/>
                    </p:nvSpPr>
                    <p:spPr>
                      <a:xfrm>
                        <a:off x="5794383" y="5453211"/>
                        <a:ext cx="32873" cy="790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136" h="5138" extrusionOk="0">
                            <a:moveTo>
                              <a:pt x="1469" y="0"/>
                            </a:moveTo>
                            <a:lnTo>
                              <a:pt x="335" y="100"/>
                            </a:lnTo>
                            <a:cubicBezTo>
                              <a:pt x="168" y="100"/>
                              <a:pt x="1" y="267"/>
                              <a:pt x="34" y="434"/>
                            </a:cubicBezTo>
                            <a:lnTo>
                              <a:pt x="335" y="4804"/>
                            </a:lnTo>
                            <a:cubicBezTo>
                              <a:pt x="335" y="5004"/>
                              <a:pt x="501" y="5137"/>
                              <a:pt x="668" y="5104"/>
                            </a:cubicBezTo>
                            <a:lnTo>
                              <a:pt x="1802" y="5037"/>
                            </a:lnTo>
                            <a:cubicBezTo>
                              <a:pt x="1969" y="5037"/>
                              <a:pt x="2136" y="4870"/>
                              <a:pt x="2102" y="4670"/>
                            </a:cubicBezTo>
                            <a:lnTo>
                              <a:pt x="1802" y="334"/>
                            </a:lnTo>
                            <a:cubicBezTo>
                              <a:pt x="1802" y="134"/>
                              <a:pt x="1635" y="0"/>
                              <a:pt x="1469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2" name="Grupo 81">
                    <a:extLst>
                      <a:ext uri="{FF2B5EF4-FFF2-40B4-BE49-F238E27FC236}">
                        <ns2:creationId id="{75F81D91-57EA-7CD4-76C4-C2E05678675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4030308" y="-10073"/>
                    <a:ext cx="6771360" cy="5033423"/>
                    <a:chOff x="4030308" y="-10073"/>
                    <a:chExt cx="6771360" cy="5033423"/>
                  </a:xfrm>
                </p:grpSpPr>
                <p:sp>
                  <p:nvSpPr>
                    <p:cNvPr id="67" name="Google Shape;162;p4">
                      <a:extLst>
                        <a:ext uri="{FF2B5EF4-FFF2-40B4-BE49-F238E27FC236}">
                          <ns2:creationId id="{8C053564-E291-7036-9849-E3D5EAAB9F97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16074" y="3296693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Metodología y ficha técnica</a:t>
                      </a:r>
                      <a:endParaRPr/>
                    </a:p>
                  </p:txBody>
                </p:sp>
                <p:sp>
                  <p:nvSpPr>
                    <p:cNvPr id="68" name="Google Shape;163;p4">
                      <a:extLst>
                        <a:ext uri="{FF2B5EF4-FFF2-40B4-BE49-F238E27FC236}">
                          <ns2:creationId id="{BAA31CF6-DA67-A9AD-C346-F155E1114D4A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75894" y="3297217"/>
                      <a:ext cx="4468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" name="Google Shape;164;p4">
                      <a:extLst>
                        <a:ext uri="{FF2B5EF4-FFF2-40B4-BE49-F238E27FC236}">
                          <ns2:creationId id="{925F0D0F-F8C0-6958-4120-B4EC1753351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25200" y="3912458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Principales resultados</a:t>
                      </a:r>
                      <a:endParaRPr/>
                    </a:p>
                  </p:txBody>
                </p:sp>
                <p:sp>
                  <p:nvSpPr>
                    <p:cNvPr id="70" name="Google Shape;165;p4">
                      <a:extLst>
                        <a:ext uri="{FF2B5EF4-FFF2-40B4-BE49-F238E27FC236}">
                          <ns2:creationId id="{13620749-211E-E705-DB7B-40035A9C9C4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68366" y="3917347"/>
                      <a:ext cx="4468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1" name="Google Shape;166;p4">
                      <a:extLst>
                        <a:ext uri="{FF2B5EF4-FFF2-40B4-BE49-F238E27FC236}">
                          <ns2:creationId id="{2D300DB7-733E-CB48-25EF-CAA6E364E71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40868" y="4522986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Conclusiones</a:t>
                      </a:r>
                      <a:endParaRPr sz="1867" b="0" i="0" u="none" strike="noStrike" cap="none">
                        <a:solidFill>
                          <a:srgbClr val="081F5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2" name="Google Shape;167;p4">
                      <a:extLst>
                        <a:ext uri="{FF2B5EF4-FFF2-40B4-BE49-F238E27FC236}">
                          <ns2:creationId id="{367D4370-DE9A-7F18-B999-D2DCB824E42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57152" y="4524950"/>
                      <a:ext cx="4692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81" name="Grupo 80">
                      <a:extLst>
                        <a:ext uri="{FF2B5EF4-FFF2-40B4-BE49-F238E27FC236}">
                          <ns2:creationId id="{C639CC98-357F-6D21-C80A-5E483FD61429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4030308" y="-10073"/>
                      <a:ext cx="6746566" cy="3631109"/>
                      <a:chOff x="4030308" y="-10073"/>
                      <a:chExt cx="6746566" cy="3631109"/>
                    </a:xfrm>
                  </p:grpSpPr>
                  <p:sp>
                    <p:nvSpPr>
                      <p:cNvPr id="22" name="Google Shape;161;p4">
                        <a:extLst>
                          <a:ext uri="{FF2B5EF4-FFF2-40B4-BE49-F238E27FC236}">
                            <ns2:creationId id="{5D3A8B80-3C98-7987-D2A1-3DEBB8BD3851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6916174" y="2675189"/>
                        <a:ext cx="3860700" cy="4983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81F5C"/>
                          </a:buClr>
                          <a:buSzPts val="1867"/>
                          <a:buFont typeface="Arial"/>
                          <a:buNone/>
                        </a:pPr>
                        <a:r>
                          <a:rPr lang="es-ES" sz="1867" b="0" i="0" u="none" strike="noStrike" cap="none" dirty="0">
                            <a:solidFill>
                              <a:srgbClr val="081F5C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Objetivo del estudio</a:t>
                        </a:r>
                        <a:endParaRPr dirty="0"/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grpSp>
                    <p:nvGrpSpPr>
                      <p:cNvPr id="80" name="Grupo 79">
                        <a:extLst>
                          <a:ext uri="{FF2B5EF4-FFF2-40B4-BE49-F238E27FC236}">
                            <ns2:creationId id="{5D13158C-D07C-3379-A7BD-71B1BE8EC342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4030308" y="-10073"/>
                        <a:ext cx="2783258" cy="3631109"/>
                        <a:chOff x="4030308" y="-10073"/>
                        <a:chExt cx="2783258" cy="3631109"/>
                      </a:xfrm>
                    </p:grpSpPr>
                    <p:grpSp>
                      <p:nvGrpSpPr>
                        <p:cNvPr id="79" name="Grupo 78">
                          <a:extLst>
                            <a:ext uri="{FF2B5EF4-FFF2-40B4-BE49-F238E27FC236}">
                              <ns2:creationId id="{AC0525B5-4474-C729-3271-78E63E434CFD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4030308" y="-10073"/>
                          <a:ext cx="1108793" cy="3631109"/>
                          <a:chOff x="4030308" y="-10073"/>
                          <a:chExt cx="1108793" cy="3631109"/>
                        </a:xfrm>
                      </p:grpSpPr>
                      <p:sp>
                        <p:nvSpPr>
                          <p:cNvPr id="25" name="Google Shape;25;p47"/>
                          <p:cNvSpPr/>
                          <p:nvPr/>
                        </p:nvSpPr>
                        <p:spPr>
                          <a:xfrm flipH="1">
                            <a:off x="4556302" y="-10073"/>
                            <a:ext cx="56629" cy="210485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869" h="101407" extrusionOk="0">
                                <a:moveTo>
                                  <a:pt x="0" y="0"/>
                                </a:moveTo>
                                <a:lnTo>
                                  <a:pt x="0" y="101406"/>
                                </a:lnTo>
                                <a:lnTo>
                                  <a:pt x="2869" y="101406"/>
                                </a:lnTo>
                                <a:lnTo>
                                  <a:pt x="286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6" name="Google Shape;26;p47"/>
                          <p:cNvSpPr/>
                          <p:nvPr/>
                        </p:nvSpPr>
                        <p:spPr>
                          <a:xfrm flipH="1">
                            <a:off x="4030308" y="2451075"/>
                            <a:ext cx="1108793" cy="116996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56175" h="66348" extrusionOk="0">
                                <a:moveTo>
                                  <a:pt x="3970" y="25218"/>
                                </a:moveTo>
                                <a:cubicBezTo>
                                  <a:pt x="1469" y="29288"/>
                                  <a:pt x="1" y="34025"/>
                                  <a:pt x="1" y="39128"/>
                                </a:cubicBezTo>
                                <a:cubicBezTo>
                                  <a:pt x="1" y="54139"/>
                                  <a:pt x="12576" y="66348"/>
                                  <a:pt x="28088" y="66348"/>
                                </a:cubicBezTo>
                                <a:cubicBezTo>
                                  <a:pt x="43599" y="66348"/>
                                  <a:pt x="56174" y="54139"/>
                                  <a:pt x="56174" y="39128"/>
                                </a:cubicBezTo>
                                <a:cubicBezTo>
                                  <a:pt x="56174" y="34025"/>
                                  <a:pt x="54707" y="29288"/>
                                  <a:pt x="52205" y="25218"/>
                                </a:cubicBezTo>
                                <a:lnTo>
                                  <a:pt x="52305" y="25218"/>
                                </a:lnTo>
                                <a:cubicBezTo>
                                  <a:pt x="40797" y="7906"/>
                                  <a:pt x="41997" y="0"/>
                                  <a:pt x="41997" y="0"/>
                                </a:cubicBezTo>
                                <a:lnTo>
                                  <a:pt x="28088" y="0"/>
                                </a:lnTo>
                                <a:lnTo>
                                  <a:pt x="14178" y="0"/>
                                </a:lnTo>
                                <a:cubicBezTo>
                                  <a:pt x="14178" y="0"/>
                                  <a:pt x="15378" y="7906"/>
                                  <a:pt x="3870" y="25218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85BB85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7" name="Google Shape;27;p47"/>
                          <p:cNvSpPr/>
                          <p:nvPr/>
                        </p:nvSpPr>
                        <p:spPr>
                          <a:xfrm flipH="1">
                            <a:off x="4310760" y="2146910"/>
                            <a:ext cx="548466" cy="304129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7787" h="17247" extrusionOk="0">
                                <a:moveTo>
                                  <a:pt x="13911" y="17246"/>
                                </a:moveTo>
                                <a:lnTo>
                                  <a:pt x="13911" y="17246"/>
                                </a:lnTo>
                                <a:lnTo>
                                  <a:pt x="27787" y="17246"/>
                                </a:lnTo>
                                <a:lnTo>
                                  <a:pt x="27787" y="5738"/>
                                </a:lnTo>
                                <a:lnTo>
                                  <a:pt x="24051" y="1"/>
                                </a:lnTo>
                                <a:lnTo>
                                  <a:pt x="13911" y="1"/>
                                </a:lnTo>
                                <a:lnTo>
                                  <a:pt x="13911" y="1"/>
                                </a:lnTo>
                                <a:lnTo>
                                  <a:pt x="3770" y="1"/>
                                </a:lnTo>
                                <a:lnTo>
                                  <a:pt x="1" y="5738"/>
                                </a:lnTo>
                                <a:lnTo>
                                  <a:pt x="1" y="17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dk2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8" name="Google Shape;28;p47"/>
                          <p:cNvSpPr/>
                          <p:nvPr/>
                        </p:nvSpPr>
                        <p:spPr>
                          <a:xfrm flipH="1">
                            <a:off x="4265330" y="1975710"/>
                            <a:ext cx="638669" cy="437052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32357" h="24785" extrusionOk="0">
                                <a:moveTo>
                                  <a:pt x="32357" y="24785"/>
                                </a:moveTo>
                                <a:lnTo>
                                  <a:pt x="0" y="24785"/>
                                </a:lnTo>
                                <a:lnTo>
                                  <a:pt x="0" y="10341"/>
                                </a:lnTo>
                                <a:cubicBezTo>
                                  <a:pt x="0" y="4637"/>
                                  <a:pt x="4637" y="1"/>
                                  <a:pt x="10341" y="1"/>
                                </a:cubicBezTo>
                                <a:lnTo>
                                  <a:pt x="22016" y="1"/>
                                </a:lnTo>
                                <a:cubicBezTo>
                                  <a:pt x="27720" y="1"/>
                                  <a:pt x="32357" y="4637"/>
                                  <a:pt x="32357" y="10341"/>
                                </a:cubicBezTo>
                                <a:lnTo>
                                  <a:pt x="32357" y="2478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29" name="Google Shape;29;p47"/>
                          <p:cNvGrpSpPr/>
                          <p:nvPr/>
                        </p:nvGrpSpPr>
                        <p:grpSpPr>
                          <a:xfrm flipH="1">
                            <a:off x="4286109" y="2852846"/>
                            <a:ext cx="608576" cy="456656"/>
                            <a:chOff x="3155126" y="5507486"/>
                            <a:chExt cx="229208" cy="192497"/>
                          </a:xfrm>
                        </p:grpSpPr>
                        <p:sp>
                          <p:nvSpPr>
                            <p:cNvPr id="30" name="Google Shape;30;p47"/>
                            <p:cNvSpPr/>
                            <p:nvPr/>
                          </p:nvSpPr>
                          <p:spPr>
                            <a:xfrm>
                              <a:off x="3155126" y="5556264"/>
                              <a:ext cx="143704" cy="14371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140" h="9141" extrusionOk="0">
                                  <a:moveTo>
                                    <a:pt x="4570" y="3102"/>
                                  </a:moveTo>
                                  <a:cubicBezTo>
                                    <a:pt x="5371" y="3102"/>
                                    <a:pt x="6038" y="3770"/>
                                    <a:pt x="6038" y="4570"/>
                                  </a:cubicBezTo>
                                  <a:cubicBezTo>
                                    <a:pt x="6038" y="5404"/>
                                    <a:pt x="5371" y="6038"/>
                                    <a:pt x="4570" y="6038"/>
                                  </a:cubicBezTo>
                                  <a:cubicBezTo>
                                    <a:pt x="3736" y="6038"/>
                                    <a:pt x="3102" y="5404"/>
                                    <a:pt x="3102" y="4570"/>
                                  </a:cubicBezTo>
                                  <a:cubicBezTo>
                                    <a:pt x="3102" y="3770"/>
                                    <a:pt x="3736" y="3102"/>
                                    <a:pt x="4570" y="3102"/>
                                  </a:cubicBezTo>
                                  <a:close/>
                                  <a:moveTo>
                                    <a:pt x="6738" y="7305"/>
                                  </a:moveTo>
                                  <a:cubicBezTo>
                                    <a:pt x="6938" y="7139"/>
                                    <a:pt x="7105" y="6972"/>
                                    <a:pt x="7272" y="6772"/>
                                  </a:cubicBezTo>
                                  <a:lnTo>
                                    <a:pt x="8373" y="7105"/>
                                  </a:lnTo>
                                  <a:cubicBezTo>
                                    <a:pt x="8473" y="6939"/>
                                    <a:pt x="8573" y="6772"/>
                                    <a:pt x="8640" y="6605"/>
                                  </a:cubicBezTo>
                                  <a:lnTo>
                                    <a:pt x="7806" y="5838"/>
                                  </a:lnTo>
                                  <a:cubicBezTo>
                                    <a:pt x="7906" y="5604"/>
                                    <a:pt x="7972" y="5371"/>
                                    <a:pt x="8006" y="5104"/>
                                  </a:cubicBezTo>
                                  <a:lnTo>
                                    <a:pt x="9107" y="4870"/>
                                  </a:lnTo>
                                  <a:cubicBezTo>
                                    <a:pt x="9107" y="4770"/>
                                    <a:pt x="9140" y="4670"/>
                                    <a:pt x="9140" y="4570"/>
                                  </a:cubicBezTo>
                                  <a:cubicBezTo>
                                    <a:pt x="9140" y="4503"/>
                                    <a:pt x="9107" y="4403"/>
                                    <a:pt x="9107" y="4303"/>
                                  </a:cubicBezTo>
                                  <a:lnTo>
                                    <a:pt x="8006" y="4036"/>
                                  </a:lnTo>
                                  <a:cubicBezTo>
                                    <a:pt x="7972" y="3803"/>
                                    <a:pt x="7906" y="3536"/>
                                    <a:pt x="7806" y="3336"/>
                                  </a:cubicBezTo>
                                  <a:lnTo>
                                    <a:pt x="8640" y="2535"/>
                                  </a:lnTo>
                                  <a:cubicBezTo>
                                    <a:pt x="8573" y="2369"/>
                                    <a:pt x="8473" y="2202"/>
                                    <a:pt x="8373" y="2068"/>
                                  </a:cubicBezTo>
                                  <a:lnTo>
                                    <a:pt x="7272" y="2402"/>
                                  </a:lnTo>
                                  <a:cubicBezTo>
                                    <a:pt x="7105" y="2202"/>
                                    <a:pt x="6938" y="2002"/>
                                    <a:pt x="6738" y="1868"/>
                                  </a:cubicBezTo>
                                  <a:lnTo>
                                    <a:pt x="7072" y="767"/>
                                  </a:lnTo>
                                  <a:cubicBezTo>
                                    <a:pt x="6938" y="667"/>
                                    <a:pt x="6772" y="567"/>
                                    <a:pt x="6605" y="501"/>
                                  </a:cubicBezTo>
                                  <a:lnTo>
                                    <a:pt x="5804" y="1335"/>
                                  </a:lnTo>
                                  <a:cubicBezTo>
                                    <a:pt x="5571" y="1234"/>
                                    <a:pt x="5337" y="1168"/>
                                    <a:pt x="5104" y="1134"/>
                                  </a:cubicBezTo>
                                  <a:lnTo>
                                    <a:pt x="4837" y="34"/>
                                  </a:lnTo>
                                  <a:cubicBezTo>
                                    <a:pt x="4737" y="0"/>
                                    <a:pt x="4637" y="0"/>
                                    <a:pt x="4570" y="0"/>
                                  </a:cubicBezTo>
                                  <a:cubicBezTo>
                                    <a:pt x="4470" y="0"/>
                                    <a:pt x="4370" y="0"/>
                                    <a:pt x="4270" y="34"/>
                                  </a:cubicBezTo>
                                  <a:lnTo>
                                    <a:pt x="4003" y="1134"/>
                                  </a:lnTo>
                                  <a:cubicBezTo>
                                    <a:pt x="3769" y="1168"/>
                                    <a:pt x="3536" y="1234"/>
                                    <a:pt x="3302" y="1335"/>
                                  </a:cubicBezTo>
                                  <a:lnTo>
                                    <a:pt x="2502" y="501"/>
                                  </a:lnTo>
                                  <a:cubicBezTo>
                                    <a:pt x="2335" y="567"/>
                                    <a:pt x="2202" y="667"/>
                                    <a:pt x="2035" y="767"/>
                                  </a:cubicBezTo>
                                  <a:lnTo>
                                    <a:pt x="2368" y="1868"/>
                                  </a:lnTo>
                                  <a:cubicBezTo>
                                    <a:pt x="2168" y="2035"/>
                                    <a:pt x="2001" y="2202"/>
                                    <a:pt x="1835" y="2402"/>
                                  </a:cubicBezTo>
                                  <a:lnTo>
                                    <a:pt x="734" y="2068"/>
                                  </a:lnTo>
                                  <a:cubicBezTo>
                                    <a:pt x="634" y="2202"/>
                                    <a:pt x="567" y="2369"/>
                                    <a:pt x="467" y="2535"/>
                                  </a:cubicBezTo>
                                  <a:lnTo>
                                    <a:pt x="1301" y="3336"/>
                                  </a:lnTo>
                                  <a:cubicBezTo>
                                    <a:pt x="1201" y="3536"/>
                                    <a:pt x="1134" y="3803"/>
                                    <a:pt x="1101" y="4036"/>
                                  </a:cubicBezTo>
                                  <a:lnTo>
                                    <a:pt x="0" y="4303"/>
                                  </a:lnTo>
                                  <a:cubicBezTo>
                                    <a:pt x="0" y="4403"/>
                                    <a:pt x="0" y="4470"/>
                                    <a:pt x="0" y="4570"/>
                                  </a:cubicBezTo>
                                  <a:cubicBezTo>
                                    <a:pt x="0" y="4670"/>
                                    <a:pt x="0" y="4770"/>
                                    <a:pt x="0" y="4870"/>
                                  </a:cubicBezTo>
                                  <a:lnTo>
                                    <a:pt x="1101" y="5104"/>
                                  </a:lnTo>
                                  <a:cubicBezTo>
                                    <a:pt x="1134" y="5371"/>
                                    <a:pt x="1201" y="5604"/>
                                    <a:pt x="1301" y="5838"/>
                                  </a:cubicBezTo>
                                  <a:lnTo>
                                    <a:pt x="467" y="6605"/>
                                  </a:lnTo>
                                  <a:cubicBezTo>
                                    <a:pt x="567" y="6772"/>
                                    <a:pt x="634" y="6939"/>
                                    <a:pt x="734" y="7105"/>
                                  </a:cubicBezTo>
                                  <a:lnTo>
                                    <a:pt x="1835" y="6772"/>
                                  </a:lnTo>
                                  <a:cubicBezTo>
                                    <a:pt x="2001" y="6972"/>
                                    <a:pt x="2168" y="7139"/>
                                    <a:pt x="2368" y="7305"/>
                                  </a:cubicBezTo>
                                  <a:lnTo>
                                    <a:pt x="2035" y="8406"/>
                                  </a:lnTo>
                                  <a:cubicBezTo>
                                    <a:pt x="2202" y="8506"/>
                                    <a:pt x="2368" y="8573"/>
                                    <a:pt x="2502" y="8673"/>
                                  </a:cubicBezTo>
                                  <a:lnTo>
                                    <a:pt x="3302" y="7839"/>
                                  </a:lnTo>
                                  <a:cubicBezTo>
                                    <a:pt x="3536" y="7939"/>
                                    <a:pt x="3769" y="8006"/>
                                    <a:pt x="4003" y="8039"/>
                                  </a:cubicBezTo>
                                  <a:lnTo>
                                    <a:pt x="4270" y="9140"/>
                                  </a:lnTo>
                                  <a:cubicBezTo>
                                    <a:pt x="4370" y="9140"/>
                                    <a:pt x="4470" y="9140"/>
                                    <a:pt x="4570" y="9140"/>
                                  </a:cubicBezTo>
                                  <a:cubicBezTo>
                                    <a:pt x="4637" y="9140"/>
                                    <a:pt x="4737" y="9140"/>
                                    <a:pt x="4837" y="9140"/>
                                  </a:cubicBezTo>
                                  <a:lnTo>
                                    <a:pt x="5104" y="8039"/>
                                  </a:lnTo>
                                  <a:cubicBezTo>
                                    <a:pt x="5337" y="8006"/>
                                    <a:pt x="5571" y="7939"/>
                                    <a:pt x="5804" y="7839"/>
                                  </a:cubicBezTo>
                                  <a:lnTo>
                                    <a:pt x="6605" y="8673"/>
                                  </a:lnTo>
                                  <a:cubicBezTo>
                                    <a:pt x="6772" y="8573"/>
                                    <a:pt x="6938" y="8506"/>
                                    <a:pt x="7072" y="840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1" name="Google Shape;31;p47"/>
                            <p:cNvSpPr/>
                            <p:nvPr/>
                          </p:nvSpPr>
                          <p:spPr>
                            <a:xfrm>
                              <a:off x="3272091" y="5507486"/>
                              <a:ext cx="112243" cy="11224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139" h="7139" extrusionOk="0">
                                  <a:moveTo>
                                    <a:pt x="3803" y="2435"/>
                                  </a:moveTo>
                                  <a:cubicBezTo>
                                    <a:pt x="4404" y="2569"/>
                                    <a:pt x="4837" y="3169"/>
                                    <a:pt x="4704" y="3803"/>
                                  </a:cubicBezTo>
                                  <a:cubicBezTo>
                                    <a:pt x="4604" y="4437"/>
                                    <a:pt x="4004" y="4837"/>
                                    <a:pt x="3370" y="4737"/>
                                  </a:cubicBezTo>
                                  <a:cubicBezTo>
                                    <a:pt x="2736" y="4603"/>
                                    <a:pt x="2336" y="4003"/>
                                    <a:pt x="2436" y="3369"/>
                                  </a:cubicBezTo>
                                  <a:cubicBezTo>
                                    <a:pt x="2569" y="2735"/>
                                    <a:pt x="3170" y="2335"/>
                                    <a:pt x="3803" y="2435"/>
                                  </a:cubicBezTo>
                                  <a:close/>
                                  <a:moveTo>
                                    <a:pt x="4871" y="6004"/>
                                  </a:moveTo>
                                  <a:cubicBezTo>
                                    <a:pt x="5071" y="5904"/>
                                    <a:pt x="5204" y="5804"/>
                                    <a:pt x="5371" y="5671"/>
                                  </a:cubicBezTo>
                                  <a:lnTo>
                                    <a:pt x="6172" y="6104"/>
                                  </a:lnTo>
                                  <a:cubicBezTo>
                                    <a:pt x="6272" y="5971"/>
                                    <a:pt x="6372" y="5871"/>
                                    <a:pt x="6439" y="5771"/>
                                  </a:cubicBezTo>
                                  <a:lnTo>
                                    <a:pt x="5905" y="5037"/>
                                  </a:lnTo>
                                  <a:cubicBezTo>
                                    <a:pt x="6038" y="4870"/>
                                    <a:pt x="6105" y="4703"/>
                                    <a:pt x="6172" y="4503"/>
                                  </a:cubicBezTo>
                                  <a:lnTo>
                                    <a:pt x="7072" y="4470"/>
                                  </a:lnTo>
                                  <a:cubicBezTo>
                                    <a:pt x="7072" y="4370"/>
                                    <a:pt x="7106" y="4303"/>
                                    <a:pt x="7106" y="4236"/>
                                  </a:cubicBezTo>
                                  <a:cubicBezTo>
                                    <a:pt x="7139" y="4170"/>
                                    <a:pt x="7139" y="4103"/>
                                    <a:pt x="7139" y="4036"/>
                                  </a:cubicBezTo>
                                  <a:lnTo>
                                    <a:pt x="6339" y="3669"/>
                                  </a:lnTo>
                                  <a:cubicBezTo>
                                    <a:pt x="6339" y="3469"/>
                                    <a:pt x="6305" y="3269"/>
                                    <a:pt x="6272" y="3069"/>
                                  </a:cubicBezTo>
                                  <a:lnTo>
                                    <a:pt x="7039" y="2602"/>
                                  </a:lnTo>
                                  <a:cubicBezTo>
                                    <a:pt x="7006" y="2435"/>
                                    <a:pt x="6939" y="2302"/>
                                    <a:pt x="6906" y="2168"/>
                                  </a:cubicBezTo>
                                  <a:lnTo>
                                    <a:pt x="6005" y="2268"/>
                                  </a:lnTo>
                                  <a:cubicBezTo>
                                    <a:pt x="5905" y="2102"/>
                                    <a:pt x="5805" y="1935"/>
                                    <a:pt x="5671" y="1801"/>
                                  </a:cubicBezTo>
                                  <a:lnTo>
                                    <a:pt x="6072" y="1001"/>
                                  </a:lnTo>
                                  <a:cubicBezTo>
                                    <a:pt x="5972" y="901"/>
                                    <a:pt x="5872" y="801"/>
                                    <a:pt x="5738" y="701"/>
                                  </a:cubicBezTo>
                                  <a:lnTo>
                                    <a:pt x="5004" y="1234"/>
                                  </a:lnTo>
                                  <a:cubicBezTo>
                                    <a:pt x="4837" y="1134"/>
                                    <a:pt x="4671" y="1034"/>
                                    <a:pt x="4471" y="967"/>
                                  </a:cubicBezTo>
                                  <a:lnTo>
                                    <a:pt x="4437" y="67"/>
                                  </a:lnTo>
                                  <a:cubicBezTo>
                                    <a:pt x="4370" y="67"/>
                                    <a:pt x="4304" y="33"/>
                                    <a:pt x="4237" y="33"/>
                                  </a:cubicBezTo>
                                  <a:cubicBezTo>
                                    <a:pt x="4170" y="33"/>
                                    <a:pt x="4070" y="0"/>
                                    <a:pt x="4004" y="0"/>
                                  </a:cubicBezTo>
                                  <a:lnTo>
                                    <a:pt x="3637" y="834"/>
                                  </a:lnTo>
                                  <a:cubicBezTo>
                                    <a:pt x="3436" y="801"/>
                                    <a:pt x="3270" y="834"/>
                                    <a:pt x="3070" y="867"/>
                                  </a:cubicBezTo>
                                  <a:lnTo>
                                    <a:pt x="2569" y="100"/>
                                  </a:lnTo>
                                  <a:cubicBezTo>
                                    <a:pt x="2436" y="167"/>
                                    <a:pt x="2302" y="200"/>
                                    <a:pt x="2169" y="267"/>
                                  </a:cubicBezTo>
                                  <a:lnTo>
                                    <a:pt x="2269" y="1134"/>
                                  </a:lnTo>
                                  <a:cubicBezTo>
                                    <a:pt x="2102" y="1234"/>
                                    <a:pt x="1935" y="1368"/>
                                    <a:pt x="1769" y="1468"/>
                                  </a:cubicBezTo>
                                  <a:lnTo>
                                    <a:pt x="968" y="1067"/>
                                  </a:lnTo>
                                  <a:cubicBezTo>
                                    <a:pt x="868" y="1168"/>
                                    <a:pt x="768" y="1301"/>
                                    <a:pt x="701" y="1401"/>
                                  </a:cubicBezTo>
                                  <a:lnTo>
                                    <a:pt x="1235" y="2135"/>
                                  </a:lnTo>
                                  <a:cubicBezTo>
                                    <a:pt x="1101" y="2302"/>
                                    <a:pt x="1035" y="2468"/>
                                    <a:pt x="968" y="2669"/>
                                  </a:cubicBezTo>
                                  <a:lnTo>
                                    <a:pt x="67" y="2702"/>
                                  </a:lnTo>
                                  <a:cubicBezTo>
                                    <a:pt x="67" y="2769"/>
                                    <a:pt x="34" y="2835"/>
                                    <a:pt x="34" y="2902"/>
                                  </a:cubicBezTo>
                                  <a:cubicBezTo>
                                    <a:pt x="1" y="2969"/>
                                    <a:pt x="1" y="3069"/>
                                    <a:pt x="1" y="3136"/>
                                  </a:cubicBezTo>
                                  <a:lnTo>
                                    <a:pt x="801" y="3503"/>
                                  </a:lnTo>
                                  <a:cubicBezTo>
                                    <a:pt x="801" y="3703"/>
                                    <a:pt x="835" y="3903"/>
                                    <a:pt x="868" y="4070"/>
                                  </a:cubicBezTo>
                                  <a:lnTo>
                                    <a:pt x="101" y="4570"/>
                                  </a:lnTo>
                                  <a:cubicBezTo>
                                    <a:pt x="134" y="4703"/>
                                    <a:pt x="201" y="4837"/>
                                    <a:pt x="234" y="4970"/>
                                  </a:cubicBezTo>
                                  <a:lnTo>
                                    <a:pt x="1135" y="4870"/>
                                  </a:lnTo>
                                  <a:cubicBezTo>
                                    <a:pt x="1235" y="5070"/>
                                    <a:pt x="1335" y="5204"/>
                                    <a:pt x="1468" y="5371"/>
                                  </a:cubicBezTo>
                                  <a:lnTo>
                                    <a:pt x="1068" y="6171"/>
                                  </a:lnTo>
                                  <a:cubicBezTo>
                                    <a:pt x="1168" y="6271"/>
                                    <a:pt x="1268" y="6371"/>
                                    <a:pt x="1402" y="6471"/>
                                  </a:cubicBezTo>
                                  <a:lnTo>
                                    <a:pt x="2136" y="5938"/>
                                  </a:lnTo>
                                  <a:cubicBezTo>
                                    <a:pt x="2302" y="6038"/>
                                    <a:pt x="2469" y="6104"/>
                                    <a:pt x="2669" y="6171"/>
                                  </a:cubicBezTo>
                                  <a:lnTo>
                                    <a:pt x="2703" y="7072"/>
                                  </a:lnTo>
                                  <a:cubicBezTo>
                                    <a:pt x="2769" y="7105"/>
                                    <a:pt x="2836" y="7105"/>
                                    <a:pt x="2903" y="7138"/>
                                  </a:cubicBezTo>
                                  <a:cubicBezTo>
                                    <a:pt x="2969" y="7138"/>
                                    <a:pt x="3070" y="7138"/>
                                    <a:pt x="3136" y="7138"/>
                                  </a:cubicBezTo>
                                  <a:lnTo>
                                    <a:pt x="3503" y="6338"/>
                                  </a:lnTo>
                                  <a:cubicBezTo>
                                    <a:pt x="3703" y="6338"/>
                                    <a:pt x="3870" y="6338"/>
                                    <a:pt x="4070" y="6305"/>
                                  </a:cubicBezTo>
                                  <a:lnTo>
                                    <a:pt x="4571" y="7038"/>
                                  </a:lnTo>
                                  <a:cubicBezTo>
                                    <a:pt x="4704" y="7005"/>
                                    <a:pt x="4837" y="6972"/>
                                    <a:pt x="4971" y="690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73" name="Google Shape;168;p4">
                          <a:extLst>
                            <a:ext uri="{FF2B5EF4-FFF2-40B4-BE49-F238E27FC236}">
                              <ns2:creationId id="{42D39793-A0E3-06ED-A437-DB70F67EAEC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6366766" y="2668005"/>
                          <a:ext cx="446800" cy="496000"/>
                        </a:xfrm>
                        <a:prstGeom prst="rect">
                          <a:avLst/>
                        </a:prstGeom>
                        <a:solidFill>
                          <a:srgbClr val="CA5651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2000"/>
                            <a:buFont typeface="Arial"/>
                            <a:buNone/>
                          </a:pPr>
                          <a:r>
                            <a:rPr lang="es-ES" sz="2000" b="1" i="0" u="none" strike="noStrike" cap="none" dirty="0">
                              <a:solidFill>
                                <a:srgbClr val="FFFFFF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</a:t>
                          </a:r>
                          <a:endParaRPr sz="2000" b="1" i="0" u="none" strike="noStrike" cap="none" dirty="0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  <p:sp>
          <p:nvSpPr>
            <p:cNvPr id="87" name="Rectángulo 86">
              <a:extLst>
                <a:ext uri="{FF2B5EF4-FFF2-40B4-BE49-F238E27FC236}">
                  <ns2:creationId id="{44F8ED50-9949-206B-8011-088F0FCF9B7F}"/>
                </a:ext>
              </a:extLst>
            </p:cNvPr>
            <p:cNvSpPr/>
            <p:nvPr userDrawn="1"/>
          </p:nvSpPr>
          <p:spPr>
            <a:xfrm>
              <a:off x="6357148" y="1686560"/>
              <a:ext cx="4077171" cy="7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eaLnBrk="1" hangingPunct="1">
                <a:lnSpc>
                  <a:spcPct val="90000"/>
                </a:lnSpc>
                <a:buClr>
                  <a:srgbClr val="081F5C"/>
                </a:buClr>
                <a:buSzPct val="100000"/>
                <a:buNone/>
              </a:pPr>
              <a:r>
                <a:rPr lang="es-PE" sz="3600" b="1" dirty="0">
                  <a:solidFill>
                    <a:srgbClr val="081F5C"/>
                  </a:solidFill>
                  <a:latin typeface="Arial"/>
                  <a:cs typeface="Arial"/>
                </a:rPr>
                <a:t>ÍNDICE</a:t>
              </a:r>
            </a:p>
          </p:txBody>
        </p:sp>
      </p:grpSp>
    </p:spTree>
    <p:extLst>
      <p:ext uri="{BB962C8B-B14F-4D97-AF65-F5344CB8AC3E}">
        <ns3:creationId val="2515642923"/>
      </p:ext>
    </p:extLst>
  </p:cSld>
  <p:clrMapOvr>
    <a:masterClrMapping/>
  </p:clrMapOvr>
  <p:extLst>
    <p:ext uri="{DCECCB84-F9BA-43D5-87BE-67443E8EF086}">
      <ns4:sldGuideLst>
        <ns4:guide id="1" orient="horz" pos="4088">
          <ns4:clr>
            <a:srgbClr val="E4A34C"/>
          </ns4:clr>
        </ns4:guide>
        <ns4:guide id="2" pos="7446">
          <ns4:clr>
            <a:srgbClr val="E4A34C"/>
          </ns4:clr>
        </ns4:guide>
      </ns4:sldGuideLst>
    </p:ext>
  </p:extLst>
</p:sldLayout>
</file>

<file path=ppt/slideLayouts/slideLayout16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Objetivos_Sec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F3496E21-1CC1-1562-B8EF-F13A8532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8427" y="2039831"/>
            <a:ext cx="688445" cy="4152762"/>
          </a:xfrm>
        </p:spPr>
        <p:txBody>
          <a:bodyPr vert="vert270" anchor="ctr">
            <a:normAutofit/>
          </a:bodyPr>
          <a:lstStyle>
            <a:lvl1pPr>
              <a:defRPr sz="2400" b="1">
                <a:latin typeface="Arial"/>
                <a:solidFill>
                  <a:srgbClr val="CA5651"/>
                </a:solidFill>
              </a:defRPr>
            </a:lvl1pPr>
          </a:lstStyle>
          <a:p>
            <a:endParaRPr lang="es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ns2:creationId id="{42B474CF-1676-A4EF-9FE6-8FD3FDBC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50" y="1894058"/>
            <a:ext cx="1712520" cy="1730120"/>
          </a:xfrm>
        </p:spPr>
        <p:txBody>
          <a:bodyPr>
            <a:noAutofit/>
          </a:bodyPr>
          <a:lstStyle>
            <a:lvl1pPr algn="ctr">
              <a:defRPr sz="1400"/>
            </a:lvl1pPr>
            <a:lvl2pPr algn="ctr">
              <a:defRPr sz="1200"/>
            </a:lvl2pPr>
            <a:lvl3pPr algn="ctr">
              <a:defRPr sz="1100"/>
            </a:lvl3pPr>
            <a:lvl4pPr algn="ctr">
              <a:defRPr sz="1050"/>
            </a:lvl4pPr>
            <a:lvl5pPr algn="ctr"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Marcador de fecha 4">
            <a:extLst>
              <a:ext uri="{FF2B5EF4-FFF2-40B4-BE49-F238E27FC236}">
                <ns2:creationId id="{85802C2C-2392-652E-671F-B5DE27A5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CB-0240-FB4C-81F1-218533927016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ns2:creationId id="{D124750E-54F6-9473-05C9-240E1231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ns2:creationId id="{83D48AE0-5959-BCF9-366A-905A170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0D1-9692-1B4E-8937-2D8254AE23DD}" type="slidenum">
              <a:rPr lang="es-PE" smtClean="0"/>
              <a:t>‹#›</a:t>
            </a:fld>
            <a:endParaRPr lang="es-PE"/>
          </a:p>
        </p:txBody>
      </p:sp>
      <p:cxnSp>
        <p:nvCxnSpPr>
          <p:cNvPr id="16" name="Google Shape;72;p48">
            <a:extLst>
              <a:ext uri="{FF2B5EF4-FFF2-40B4-BE49-F238E27FC236}">
                <ns2:creationId id="{75249170-6132-C248-A55A-C653C9BA7545}"/>
              </a:ext>
            </a:extLst>
          </p:cNvPr>
          <p:cNvCxnSpPr/>
          <p:nvPr userDrawn="1"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73;p48">
            <a:extLst>
              <a:ext uri="{FF2B5EF4-FFF2-40B4-BE49-F238E27FC236}">
                <ns2:creationId id="{07FF0BA0-0FAB-E2CC-A14D-E3FCA236548A}"/>
              </a:ext>
            </a:extLst>
          </p:cNvPr>
          <p:cNvCxnSpPr/>
          <p:nvPr userDrawn="1"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8" name="Google Shape;74;p48">
            <a:extLst>
              <a:ext uri="{FF2B5EF4-FFF2-40B4-BE49-F238E27FC236}">
                <ns2:creationId id="{D16943E3-BE7E-2557-CD49-E965872D3141}"/>
              </a:ext>
            </a:extLst>
          </p:cNvPr>
          <p:cNvSpPr/>
          <p:nvPr userDrawn="1"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5;p48">
            <a:extLst>
              <a:ext uri="{FF2B5EF4-FFF2-40B4-BE49-F238E27FC236}">
                <ns2:creationId id="{19C29BE4-E3A8-9C44-4DD5-BBE0888F6762}"/>
              </a:ext>
            </a:extLst>
          </p:cNvPr>
          <p:cNvSpPr/>
          <p:nvPr userDrawn="1"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76;p48">
            <a:extLst>
              <a:ext uri="{FF2B5EF4-FFF2-40B4-BE49-F238E27FC236}">
                <ns2:creationId id="{02DC3559-CE35-33AC-E48D-2320876FDC8E}"/>
              </a:ext>
            </a:extLst>
          </p:cNvPr>
          <p:cNvCxnSpPr/>
          <p:nvPr userDrawn="1"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2" name="Marcador de texto 11">
            <a:extLst>
              <a:ext uri="{FF2B5EF4-FFF2-40B4-BE49-F238E27FC236}">
                <ns2:creationId id="{19C0EB30-EE04-65A5-B77F-F1F99FE302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61719" y="1716723"/>
            <a:ext cx="7792081" cy="2093912"/>
          </a:xfrm>
        </p:spPr>
        <p:txBody>
          <a:bodyPr wrap="square" anchor="ctr">
            <a:noAutofit/>
          </a:bodyPr>
          <a:lstStyle>
            <a:lvl1pPr algn="just">
              <a:defRPr sz="2000" b="0">
                <a:solidFill>
                  <a:srgbClr val="081F5C"/>
                </a:solidFill>
              </a:defRPr>
            </a:lvl1pPr>
            <a:lvl2pPr algn="just">
              <a:defRPr sz="2000" b="0">
                <a:solidFill>
                  <a:srgbClr val="081F5C"/>
                </a:solidFill>
              </a:defRPr>
            </a:lvl2pPr>
            <a:lvl3pPr algn="just">
              <a:defRPr sz="2000" b="0">
                <a:solidFill>
                  <a:srgbClr val="081F5C"/>
                </a:solidFill>
              </a:defRPr>
            </a:lvl3pPr>
            <a:lvl4pPr algn="just">
              <a:defRPr sz="2000" b="0">
                <a:solidFill>
                  <a:srgbClr val="081F5C"/>
                </a:solidFill>
              </a:defRPr>
            </a:lvl4pPr>
            <a:lvl5pPr algn="just">
              <a:defRPr sz="2000" b="0">
                <a:solidFill>
                  <a:srgbClr val="081F5C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</p:spTree>
    <p:extLst>
      <p:ext uri="{BB962C8B-B14F-4D97-AF65-F5344CB8AC3E}">
        <ns3:creationId val="3946334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matchingName="diseño contenido 3" preserve="1">
  <p:cSld name="General Objectiv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8"/>
          <p:cNvSpPr txBox="1">
            <a:spLocks noGrp="1"/>
          </p:cNvSpPr>
          <p:nvPr>
            <p:ph type="dt" idx="10"/>
          </p:nvPr>
        </p:nvSpPr>
        <p:spPr>
          <a:xfrm>
            <a:off x="9178312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sldNum" idx="12"/>
          </p:nvPr>
        </p:nvSpPr>
        <p:spPr>
          <a:xfrm>
            <a:off x="332429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body" idx="1"/>
          </p:nvPr>
        </p:nvSpPr>
        <p:spPr>
          <a:xfrm>
            <a:off x="3224465" y="1973179"/>
            <a:ext cx="7908759" cy="2172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 b="0">
                <a:latin typeface="Arial"/>
                <a:solidFill>
                  <a:srgbClr val="081F5C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9pPr>
          </a:lstStyle>
          <a:p>
            <a:pPr lvl="0" algn="just">
              <a:lnSpc>
                <a:spcPct val="100000"/>
              </a:lnSpc>
            </a:pPr>
            <a:r>
              <a:rPr lang="es-MX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</p:txBody>
      </p:sp>
      <p:cxnSp>
        <p:nvCxnSpPr>
          <p:cNvPr id="72" name="Google Shape;72;p48"/>
          <p:cNvCxnSpPr/>
          <p:nvPr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3" name="Google Shape;73;p48"/>
          <p:cNvCxnSpPr/>
          <p:nvPr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4" name="Google Shape;74;p48"/>
          <p:cNvSpPr/>
          <p:nvPr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8"/>
          <p:cNvSpPr/>
          <p:nvPr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48"/>
          <p:cNvCxnSpPr/>
          <p:nvPr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48"/>
          <p:cNvCxnSpPr/>
          <p:nvPr/>
        </p:nvCxnSpPr>
        <p:spPr>
          <a:xfrm>
            <a:off x="0" y="6324266"/>
            <a:ext cx="749901" cy="19295"/>
          </a:xfrm>
          <a:prstGeom prst="straightConnector1">
            <a:avLst/>
          </a:prstGeom>
          <a:noFill/>
          <a:ln w="25400" cap="flat" cmpd="sng">
            <a:solidFill>
              <a:srgbClr val="7594C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48"/>
          <p:cNvSpPr txBox="1">
            <a:spLocks noGrp="1"/>
          </p:cNvSpPr>
          <p:nvPr>
            <p:ph type="title"/>
          </p:nvPr>
        </p:nvSpPr>
        <p:spPr>
          <a:xfrm rot="-5400000">
            <a:off x="-2054354" y="4995992"/>
            <a:ext cx="5230631" cy="45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400" u="none" b="1">
                <a:latin typeface="Arial"/>
                <a:solidFill>
                  <a:srgbClr val="CA565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79" name="Google Shape;79;p48"/>
          <p:cNvSpPr txBox="1">
            <a:spLocks noGrp="1"/>
          </p:cNvSpPr>
          <p:nvPr>
            <p:ph type="body" idx="2"/>
          </p:nvPr>
        </p:nvSpPr>
        <p:spPr>
          <a:xfrm>
            <a:off x="939250" y="462990"/>
            <a:ext cx="8733879" cy="88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3000"/>
              <a:buNone/>
              <a:defRPr sz="1400" b="0">
                <a:solidFill>
                  <a:srgbClr val="081F5C"/>
                </a:solidFill>
                <a:latin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9pPr>
          </a:lstStyle>
          <a:p>
            <a:pPr lvl="0" algn="just">
              <a:lnSpc>
                <a:spcPct val="100000"/>
              </a:lnSpc>
            </a:pPr>
            <a:r>
              <a:rPr lang="es-MX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</p:txBody>
      </p:sp>
    </p:spTree>
    <p:extLst>
      <p:ext uri="{BB962C8B-B14F-4D97-AF65-F5344CB8AC3E}">
        <p14:creationId val="2275540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ns2:creationId id="{61DE5BAB-AAF2-6FE6-0DA4-2939684952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2321386189"/>
      </p:ext>
    </p:extLst>
  </p:cSld>
  <p:clrMapOvr xmlns:p="http://schemas.openxmlformats.org/presentationml/2006/main" xmlns:a="http://schemas.openxmlformats.org/drawingml/2006/main">
    <a:masterClrMapping/>
  </p:clrMapOvr>
</p:sldLayout>
</file>

<file path=ppt/slideLayouts/slideLayout19.xml><?xml version="1.0" encoding="utf-8"?>
<p:sldLayout xmlns:a="http://schemas.openxmlformats.org/drawingml/2006/main" xmlns:ns2="http://schemas.microsoft.com/office/drawing/2014/main" xmlns:ns3="http://schemas.microsoft.com/office/powerpoint/2010/main" xmlns:ns4="http://schemas.microsoft.com/office/powerpoint/2012/main" xmlns:p="http://schemas.openxmlformats.org/presentationml/2006/main" matchingName="Dos objetos" userDrawn="1">
  <p:cSld name="poblacion_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2" name="Place holder 1">
            <a:extLst>
              <a:ext uri="{FF2B5EF4-FFF2-40B4-BE49-F238E27FC236}">
                <ns2:creationId id="{2D673E48-04D3-F5BF-45EB-9E91DBD21B8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55599" y="1300480"/>
            <a:ext cx="4643783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Place holder 2">
            <a:extLst>
              <a:ext uri="{FF2B5EF4-FFF2-40B4-BE49-F238E27FC236}">
                <ns2:creationId id="{79837775-7BC6-2849-10D0-C24A5339D1C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192617" y="1300480"/>
            <a:ext cx="4643783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7" name="Content Placeholder 5">
            <a:extLst>
              <a:ext uri="{FF2B5EF4-FFF2-40B4-BE49-F238E27FC236}">
                <ns2:creationId id="{83AD1074-19AE-D0A2-2BA6-5761413F4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1059164739"/>
      </p:ext>
    </p:extLst>
  </p:cSld>
  <p:clrMapOvr>
    <a:masterClrMapping/>
  </p:clrMapOvr>
  <p:extLst>
    <p:ext uri="{DCECCB84-F9BA-43D5-87BE-67443E8EF086}">
      <ns4:sldGuideLst>
        <ns4:guide id="1" orient="horz" pos="4088">
          <ns4:clr>
            <a:srgbClr val="E4A34C"/>
          </ns4:clr>
        </ns4:guide>
        <ns4:guide id="2" pos="7446">
          <ns4:clr>
            <a:srgbClr val="E4A34C"/>
          </ns4:clr>
        </ns4:guide>
      </ns4:sldGuideLst>
    </p:ext>
  </p:extLst>
</p:sldLayout>
</file>

<file path=ppt/slideLayouts/slideLayout20.xml><?xml version="1.0" encoding="utf-8"?>
<p:sldLayout xmlns:a="http://schemas.openxmlformats.org/drawingml/2006/main" xmlns:ns2="http://schemas.microsoft.com/office/drawing/2014/main" xmlns:ns3="http://schemas.microsoft.com/office/powerpoint/2010/main" xmlns:ns4="http://schemas.microsoft.com/office/powerpoint/2012/main" xmlns:p="http://schemas.openxmlformats.org/presentationml/2006/main" matchingName="Dos objetos" preserve="1" userDrawn="1">
  <p:cSld name="poblacion_4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2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962" y="1212850"/>
            <a:ext cx="4726263" cy="2345359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2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465" y="3754437"/>
            <a:ext cx="4726786" cy="2345359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2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05" y="1223574"/>
            <a:ext cx="4726263" cy="23453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2:creationId id="{BCB5FD43-B8F1-2FB4-7780-90EF06D911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13105" y="3756429"/>
            <a:ext cx="4726264" cy="2345359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2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2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1490820941"/>
      </p:ext>
    </p:extLst>
  </p:cSld>
  <p:clrMapOvr>
    <a:masterClrMapping/>
  </p:clrMapOvr>
  <p:extLst>
    <p:ext uri="{DCECCB84-F9BA-43D5-87BE-67443E8EF086}">
      <ns4:sldGuideLst>
        <ns4:guide id="1" orient="horz" pos="4088">
          <ns4:clr>
            <a:srgbClr val="E4A34C"/>
          </ns4:clr>
        </ns4:guide>
        <ns4:guide id="2" pos="7446">
          <ns4:clr>
            <a:srgbClr val="E4A34C"/>
          </ns4:clr>
        </ns4:guide>
      </ns4:sldGuideLst>
    </p:ext>
  </p:extLst>
</p:sldLayout>
</file>

<file path=ppt/slideLayouts/slideLayout21.xml><?xml version="1.0" encoding="utf-8"?>
<p:sldLayout xmlns:a="http://schemas.openxmlformats.org/drawingml/2006/main" xmlns:ns2="http://schemas.microsoft.com/office/drawing/2014/main" xmlns:ns3="http://schemas.microsoft.com/office/powerpoint/2010/main" xmlns:ns4="http://schemas.microsoft.com/office/powerpoint/2012/main" xmlns:p="http://schemas.openxmlformats.org/presentationml/2006/main" matchingName="Dos objetos" preserve="1" userDrawn="1">
  <p:cSld name="poblacion_5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2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464" y="1461329"/>
            <a:ext cx="365062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2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414524" y="4211584"/>
            <a:ext cx="3650619" cy="187200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2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079916" y="1461329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2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126857" y="4201698"/>
            <a:ext cx="3594362" cy="1872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2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2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298820" y="1184305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5" name="Content Placeholder 5">
            <a:extLst>
              <a:ext uri="{FF2B5EF4-FFF2-40B4-BE49-F238E27FC236}">
                <ns2:creationId id="{9BEDF34F-2A23-8AB4-5FA9-9E69BEAAC3C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227036" y="3153394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3365683856"/>
      </p:ext>
    </p:extLst>
  </p:cSld>
  <p:clrMapOvr>
    <a:masterClrMapping/>
  </p:clrMapOvr>
  <p:extLst>
    <p:ext uri="{DCECCB84-F9BA-43D5-87BE-67443E8EF086}">
      <ns4:sldGuideLst>
        <ns4:guide id="1" orient="horz" pos="4088">
          <ns4:clr>
            <a:srgbClr val="E4A34C"/>
          </ns4:clr>
        </ns4:guide>
        <ns4:guide id="2" pos="7446">
          <ns4:clr>
            <a:srgbClr val="E4A34C"/>
          </ns4:clr>
        </ns4:guide>
      </ns4:sldGuideLst>
    </p:ext>
  </p:extLst>
</p:sldLayout>
</file>

<file path=ppt/slideLayouts/slideLayout22.xml><?xml version="1.0" encoding="utf-8"?>
<p:sldLayout xmlns:a="http://schemas.openxmlformats.org/drawingml/2006/main" xmlns:ns2="http://schemas.microsoft.com/office/drawing/2014/main" xmlns:ns3="http://schemas.microsoft.com/office/powerpoint/2010/main" xmlns:ns4="http://schemas.microsoft.com/office/powerpoint/2012/main" xmlns:p="http://schemas.openxmlformats.org/presentationml/2006/main" matchingName="Dos objetos" preserve="1" userDrawn="1">
  <p:cSld name="poblacion_6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2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464" y="1461329"/>
            <a:ext cx="365062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2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461465" y="4201698"/>
            <a:ext cx="3650619" cy="187200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2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079916" y="1461329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2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079915" y="4199144"/>
            <a:ext cx="3594362" cy="1872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2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2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298820" y="1184305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5" name="Picture Placeholder 5">
            <a:extLst>
              <a:ext uri="{FF2B5EF4-FFF2-40B4-BE49-F238E27FC236}">
                <ns2:creationId id="{A7FD9B9D-2056-3C8B-7D67-BE465E5460E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4298819" y="4435107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10" name="Content Placeholder 5">
            <a:extLst>
              <a:ext uri="{FF2B5EF4-FFF2-40B4-BE49-F238E27FC236}">
                <ns2:creationId id="{B8FEC6FD-D71E-66DB-2E66-38C3CF383E3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516217" y="3082608"/>
            <a:ext cx="1386773" cy="1387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4015789953"/>
      </p:ext>
    </p:extLst>
  </p:cSld>
  <p:clrMapOvr>
    <a:masterClrMapping/>
  </p:clrMapOvr>
  <p:extLst>
    <p:ext uri="{DCECCB84-F9BA-43D5-87BE-67443E8EF086}">
      <ns4:sldGuideLst>
        <ns4:guide id="1" orient="horz" pos="4088">
          <ns4:clr>
            <a:srgbClr val="E4A34C"/>
          </ns4:clr>
        </ns4:guide>
        <ns4:guide id="2" pos="7446">
          <ns4:clr>
            <a:srgbClr val="E4A34C"/>
          </ns4:clr>
        </ns4:guide>
      </ns4:sldGuideLst>
    </p:ext>
  </p:extLst>
</p:sldLayout>
</file>

<file path=ppt/slideLayouts/slideLayout23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Título y objetos" preserve="1" userDrawn="1">
  <p:cSld name="Title and Conte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ns2:creationId id="{7CE752F9-9952-5C4B-CCA0-CF40BD420B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464" y="1341783"/>
            <a:ext cx="11358562" cy="2555271"/>
          </a:xfrm>
          <a:prstGeom prst="rect">
            <a:avLst/>
          </a:prstGeom>
        </p:spPr>
        <p:txBody>
          <a:bodyPr>
            <a:normAutofit/>
          </a:bodyPr>
          <a:lstStyle>
            <a:lvl1pPr marL="9525" marR="0" indent="0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0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PE" sz="1400" b="0" i="1" u="none" strike="noStrike" cap="none" dirty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 lvl="0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  <a:p>
            <a:pPr lvl="1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Segundo nivel</a:t>
            </a:r>
          </a:p>
          <a:p>
            <a:pPr lvl="2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Tercer nivel</a:t>
            </a:r>
          </a:p>
          <a:p>
            <a:pPr lvl="3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Cuarto nivel</a:t>
            </a:r>
          </a:p>
          <a:p>
            <a:pPr lvl="4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Quinto nivel</a:t>
            </a:r>
            <a:endParaRPr lang="es-PE" dirty="0" sz="1400" b="0">
              <a:latin typeface="Arial"/>
              <a:solidFill>
                <a:srgbClr val="081F5C"/>
              </a:solidFill>
            </a:endParaRPr>
          </a:p>
        </p:txBody>
      </p:sp>
      <p:sp>
        <p:nvSpPr>
          <p:cNvPr id="81" name="Google Shape;81;p50"/>
          <p:cNvSpPr txBox="1">
            <a:spLocks noGrp="1"/>
          </p:cNvSpPr>
          <p:nvPr>
            <p:ph type="title"/>
          </p:nvPr>
        </p:nvSpPr>
        <p:spPr>
          <a:xfrm>
            <a:off x="461464" y="20618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</p:spTree>
    <p:extLst>
      <p:ext uri="{BB962C8B-B14F-4D97-AF65-F5344CB8AC3E}">
        <p14:creationId val="1735362092"/>
      </p:ext>
    </p:extLst>
  </p:cSld>
  <p:clrMapOvr xmlns:p="http://schemas.openxmlformats.org/presentationml/2006/main" xmlns:a="http://schemas.openxmlformats.org/drawingml/2006/main"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ubicacion1" preserve="1" userDrawn="1">
  <p:cSld name="1_ubicacion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fba5f8fc8_0_987"/>
          <p:cNvSpPr txBox="1">
            <a:spLocks noGrp="1"/>
          </p:cNvSpPr>
          <p:nvPr>
            <p:ph type="body" idx="1"/>
          </p:nvPr>
        </p:nvSpPr>
        <p:spPr>
          <a:xfrm>
            <a:off x="0" y="6492875"/>
            <a:ext cx="6492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100" b="1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5" name="Google Shape;145;g2dfba5f8fc8_0_987"/>
          <p:cNvSpPr txBox="1">
            <a:spLocks noGrp="1"/>
          </p:cNvSpPr>
          <p:nvPr>
            <p:ph type="body" idx="2"/>
          </p:nvPr>
        </p:nvSpPr>
        <p:spPr>
          <a:xfrm>
            <a:off x="2067597" y="1690688"/>
            <a:ext cx="8056800" cy="4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47" name="Google Shape;147;g2dfba5f8fc8_0_987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40653" y="92628"/>
            <a:ext cx="1697139" cy="9546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ítulo 6">
            <a:extLst>
              <a:ext uri="{FF2B5EF4-FFF2-40B4-BE49-F238E27FC236}">
                <ns3:creationId id="{F48C24AF-2D41-9463-C6C1-CF976E6F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lang="es-PE" sz="2400" b="1">
              <a:latin typeface="Arial"/>
              <a:solidFill>
                <a:srgbClr val="CA5651"/>
              </a:solidFill>
            </a:endParaRPr>
          </a:p>
        </p:txBody>
      </p:sp>
    </p:spTree>
    <p:extLst>
      <p:ext uri="{BB962C8B-B14F-4D97-AF65-F5344CB8AC3E}">
        <p14:creationId val="304183648"/>
      </p:ext>
    </p:extLst>
  </p:cSld>
  <p:clrMapOvr>
    <a:masterClrMapping/>
  </p:clrMapOvr>
  <p:extLst>
    <p:ext uri="{DCECCB84-F9BA-43D5-87BE-67443E8EF086}">
      <p15:sldGuideLst>
        <p15:guide id="1" orient="horz" pos="2160" userDrawn="1">
          <p15:clr>
            <a:srgbClr val="E4A34C"/>
          </p15:clr>
        </p15:guide>
        <p15:guide id="2" pos="3840" userDrawn="1">
          <p15:clr>
            <a:srgbClr val="E4A34C"/>
          </p15:clr>
        </p15:guide>
      </p15:sldGuideLst>
    </p:ext>
  </p:extLst>
</p:sldLayout>
</file>

<file path=ppt/slideMasters/_rels/slideMaster1.xml.rels><?xml version="1.0" encoding="UTF-8" standalone="yes"?>
<Relationships xmlns="http://schemas.openxmlformats.org/package/2006/relationships">
  <Relationship Id="rId8" Type="http://schemas.openxmlformats.org/officeDocument/2006/relationships/slideLayout" Target="../slideLayouts/slideLayout8.xml"/>
  <Relationship Id="rId13" Type="http://schemas.openxmlformats.org/officeDocument/2006/relationships/slideLayout" Target="../slideLayouts/slideLayout13.xml"/>
  <Relationship Id="rId18" Type="http://schemas.openxmlformats.org/officeDocument/2006/relationships/slideLayout" Target="../slideLayouts/slideLayout18.xml"/>
  <Relationship Id="rId3" Type="http://schemas.openxmlformats.org/officeDocument/2006/relationships/slideLayout" Target="../slideLayouts/slideLayout3.xml"/>
  <Relationship Id="rId21" Type="http://schemas.openxmlformats.org/officeDocument/2006/relationships/slideLayout" Target="../slideLayouts/slideLayout21.xml"/>
  <Relationship Id="rId7" Type="http://schemas.openxmlformats.org/officeDocument/2006/relationships/slideLayout" Target="../slideLayouts/slideLayout7.xml"/>
  <Relationship Id="rId12" Type="http://schemas.openxmlformats.org/officeDocument/2006/relationships/slideLayout" Target="../slideLayouts/slideLayout12.xml"/>
  <Relationship Id="rId17" Type="http://schemas.openxmlformats.org/officeDocument/2006/relationships/slideLayout" Target="../slideLayouts/slideLayout17.xml"/>
  <Relationship Id="rId25" Type="http://schemas.openxmlformats.org/officeDocument/2006/relationships/theme" Target="../theme/theme1.xml"/>
  <Relationship Id="rId2" Type="http://schemas.openxmlformats.org/officeDocument/2006/relationships/slideLayout" Target="../slideLayouts/slideLayout2.xml"/>
  <Relationship Id="rId16" Type="http://schemas.openxmlformats.org/officeDocument/2006/relationships/slideLayout" Target="../slideLayouts/slideLayout16.xml"/>
  <Relationship Id="rId20" Type="http://schemas.openxmlformats.org/officeDocument/2006/relationships/slideLayout" Target="../slideLayouts/slideLayout20.xml"/>
  <Relationship Id="rId1" Type="http://schemas.openxmlformats.org/officeDocument/2006/relationships/slideLayout" Target="../slideLayouts/slideLayout1.xml"/>
  <Relationship Id="rId6" Type="http://schemas.openxmlformats.org/officeDocument/2006/relationships/slideLayout" Target="../slideLayouts/slideLayout6.xml"/>
  <Relationship Id="rId11" Type="http://schemas.openxmlformats.org/officeDocument/2006/relationships/slideLayout" Target="../slideLayouts/slideLayout11.xml"/>
  <Relationship Id="rId24" Type="http://schemas.openxmlformats.org/officeDocument/2006/relationships/slideLayout" Target="../slideLayouts/slideLayout24.xml"/>
  <Relationship Id="rId5" Type="http://schemas.openxmlformats.org/officeDocument/2006/relationships/slideLayout" Target="../slideLayouts/slideLayout5.xml"/>
  <Relationship Id="rId15" Type="http://schemas.openxmlformats.org/officeDocument/2006/relationships/slideLayout" Target="../slideLayouts/slideLayout15.xml"/>
  <Relationship Id="rId23" Type="http://schemas.openxmlformats.org/officeDocument/2006/relationships/slideLayout" Target="../slideLayouts/slideLayout23.xml"/>
  <Relationship Id="rId10" Type="http://schemas.openxmlformats.org/officeDocument/2006/relationships/slideLayout" Target="../slideLayouts/slideLayout10.xml"/>
  <Relationship Id="rId19" Type="http://schemas.openxmlformats.org/officeDocument/2006/relationships/slideLayout" Target="../slideLayouts/slideLayout19.xml"/>
  <Relationship Id="rId4" Type="http://schemas.openxmlformats.org/officeDocument/2006/relationships/slideLayout" Target="../slideLayouts/slideLayout4.xml"/>
  <Relationship Id="rId9" Type="http://schemas.openxmlformats.org/officeDocument/2006/relationships/slideLayout" Target="../slideLayouts/slideLayout9.xml"/>
  <Relationship Id="rId14" Type="http://schemas.openxmlformats.org/officeDocument/2006/relationships/slideLayout" Target="../slideLayouts/slideLayout14.xml"/>
  <Relationship Id="rId22" Type="http://schemas.openxmlformats.org/officeDocument/2006/relationships/slideLayout" Target="../slideLayouts/slideLayout22.xml"/>
  <Relationship xmlns="http://schemas.openxmlformats.org/package/2006/relationships" Id="rId26" Type="http://schemas.openxmlformats.org/officeDocument/2006/relationships/image" Target="../media/copied_master_image1.png"/>
  <Relationship xmlns="http://schemas.openxmlformats.org/package/2006/relationships" Id="rId27" Type="http://schemas.openxmlformats.org/officeDocument/2006/relationships/image" Target="../media/copied_master_image2.svg"/>
</Relationships>
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cSld>
    <p:bg xmlns:p="http://schemas.openxmlformats.org/presentationml/2006/main" xmlns:a="http://schemas.openxmlformats.org/drawingml/2006/main"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CA5651"/>
              </a:buClr>
              <a:buSzPts val="2400"/>
              <a:buNone/>
            </a:pPr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525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None/>
              <a:tabLst/>
            </a:pPr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5C70C58-02E6-BE4A-9320-917330A400ED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PE" dirty="0"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DA0E84B-05E2-5549-AA3B-1A103B19CAF7}" type="slidenum">
              <a:rPr lang="es-PE" smtClean="0"/>
              <a:t>‹#›</a:t>
            </a:fld>
            <a:endParaRPr lang="es-PE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4" name="Graphic 3">
            <a:extLst>
              <a:ext uri="{FF2B5EF4-FFF2-40B4-BE49-F238E27FC236}">
                <a16:creationId xmlns:a16="http://schemas.microsoft.com/office/drawing/2014/main" id="{28CE3A90-11C1-4290-8A18-B460A5CC1023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046899" y="6217920"/>
            <a:ext cx="1913453" cy="457200"/>
          </a:xfrm>
          <a:prstGeom prst="rect">
            <a:avLst/>
          </a:prstGeom>
        </p:spPr>
      </p:pic>
      <p:cxnSp xmlns:p="http://schemas.openxmlformats.org/presentationml/2006/main" xmlns:a="http://schemas.openxmlformats.org/drawingml/2006/main">
        <p:nvCxnSpPr>
          <p:cNvPr id="5" name="Straight Connector 4">
            <a:extLst>
              <a:ext uri="{FF2B5EF4-FFF2-40B4-BE49-F238E27FC236}">
                <a16:creationId xmlns:a16="http://schemas.microsoft.com/office/drawing/2014/main" id="{5E2A0459-A2BC-4EE0-86A0-58CC0AA8D65E}"/>
              </a:ext>
            </a:extLst>
          </p:cNvPr>
          <p:cNvCxnSpPr/>
          <p:nvPr userDrawn="1"/>
        </p:nvCxnSpPr>
        <p:spPr>
          <a:xfrm>
            <a:off x="-1524" y="6035040"/>
            <a:ext cx="1219200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val="24068478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713" r:id="rId2"/>
    <p:sldLayoutId id="2147483714" r:id="rId3"/>
    <p:sldLayoutId id="2147483715" r:id="rId4"/>
    <p:sldLayoutId id="2147483717" r:id="rId5"/>
    <p:sldLayoutId id="2147483716" r:id="rId6"/>
    <p:sldLayoutId id="2147483725" r:id="rId7"/>
    <p:sldLayoutId id="2147483726" r:id="rId8"/>
    <p:sldLayoutId id="2147483727" r:id="rId9"/>
    <p:sldLayoutId id="2147483719" r:id="rId10"/>
    <p:sldLayoutId id="2147483720" r:id="rId11"/>
    <p:sldLayoutId id="2147483724" r:id="rId12"/>
    <p:sldLayoutId id="2147483723" r:id="rId13"/>
    <p:sldLayoutId id="2147483694" r:id="rId14"/>
    <p:sldLayoutId id="2147483692" r:id="rId15"/>
    <p:sldLayoutId id="2147483712" r:id="rId16"/>
    <p:sldLayoutId id="2147483693" r:id="rId17"/>
    <p:sldLayoutId id="2147483702" r:id="rId18"/>
    <p:sldLayoutId id="2147483682" r:id="rId19"/>
    <p:sldLayoutId id="2147483718" r:id="rId20"/>
    <p:sldLayoutId id="2147483721" r:id="rId21"/>
    <p:sldLayoutId id="2147483722" r:id="rId22"/>
    <p:sldLayoutId id="2147483688" r:id="rId23"/>
    <p:sldLayoutId id="2147483703" r:id="rId24"/>
  </p:sldLayoutIdLst>
  <p:txStyles xmlns:p="http://schemas.openxmlformats.org/presentationml/2006/main" xmlns:a="http://schemas.openxmlformats.org/drawingml/2006/main"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1d9ced259dbee7de1ebd6871da595ec741ff2c92.png"/>
<Relationship Id="rId3" Type="http://schemas.openxmlformats.org/officeDocument/2006/relationships/image" Target="../media/d34ab9535127d0bdc6cb2a1932ecd7411eeab312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2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2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2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2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2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2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2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3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3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3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3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3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3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3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3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3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3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4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4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4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4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4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4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4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4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4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4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5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5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5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5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5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5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0072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ecnur:title_slide:title"/>
          <p:cNvSpPr>
            <a:spLocks noGrp="1"/>
          </p:cNvSpPr>
          <p:nvPr>
            <p:ph type="ctrTitle"/>
          </p:nvPr>
        </p:nvSpPr>
        <p:spPr>
          <a:xfrm>
            <a:off x="228600" y="1122363"/>
            <a:ext cx="11731752" cy="23876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50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PDM 2026 - KOICA</a:t>
            </a:r>
          </a:p>
        </p:txBody>
      </p:sp>
      <p:sp>
        <p:nvSpPr>
          <p:cNvPr id="3" name="prosecnur:title_slide:subtitle"/>
          <p:cNvSpPr>
            <a:spLocks noGrp="1"/>
          </p:cNvSpPr>
          <p:nvPr>
            <p:ph/>
          </p:nvPr>
        </p:nvSpPr>
        <p:spPr>
          <a:xfrm>
            <a:off x="228600" y="4132390"/>
            <a:ext cx="11731752" cy="4572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FAEB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Resultados preliminares</a:t>
            </a:r>
          </a:p>
        </p:txBody>
      </p:sp>
      <p:sp>
        <p:nvSpPr>
          <p:cNvPr id="4" name="prosecnur:title_slide:date"/>
          <p:cNvSpPr>
            <a:spLocks noGrp="1"/>
          </p:cNvSpPr>
          <p:nvPr>
            <p:ph type="dt" idx="11"/>
          </p:nvPr>
        </p:nvSpPr>
        <p:spPr>
          <a:xfrm>
            <a:off x="4724400" y="5075238"/>
            <a:ext cx="2743200" cy="365125"/>
          </a:xfrm>
        </p:spPr>
        <p:txBody>
          <a:bodyPr/>
          <a:lstStyle/>
          <a:p>
            <a:r>
              <a:rPr/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Zonas de aplicación territorial - KOICA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932"/>
              <a:ext cx="11440491" cy="4822621"/>
            </a:xfrm>
            <a:prstGeom prst="rect">
              <a:avLst/>
            </a:prstGeom>
          </p:spPr>
          <p:txBody>
            <a:bodyPr/>
            <a:lstStyle/>
            <a:p/>
          </p:txBody>
        </p:sp>
        <p:pic>
          <p:nvPicPr>
            <p:cNvPr id="5" name="pic4"/>
            <p:cNvPicPr/>
            <p:nvPr/>
          </p:nvPicPr>
          <p:blipFill>
            <a:blip ns2:embed="rId2" cstate="print"/>
            <a:stretch>
              <a:fillRect/>
            </a:stretch>
          </p:blipFill>
          <p:spPr>
            <a:xfrm>
              <a:off x="317500" y="1103932"/>
              <a:ext cx="11440491" cy="4822621"/>
            </a:xfrm>
            <a:prstGeom prst="rect">
              <a:avLst/>
            </a:prstGeom>
          </p:spPr>
        </p:pic>
      </p:grpSp>
      <p:pic>
        <p:nvPicPr>
          <p:cNvPr id="8" name="PULSO PUCP footer logo" descr="PULSO PUCP"/>
          <p:cNvPicPr>
            <a:picLocks noGrp="1"/>
          </p:cNvPicPr>
          <p:nvPr>
            <p:ph/>
          </p:nvPr>
        </p:nvPicPr>
        <p:blipFill>
          <a:blip ns2:embed="rId3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Grupo etario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361762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297919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34075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361762" y="1542094"/>
              <a:ext cx="4787524" cy="58435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361762" y="2549599"/>
              <a:ext cx="7212577" cy="58435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361762" y="3557104"/>
              <a:ext cx="5006561" cy="58435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361762" y="4564609"/>
              <a:ext cx="2737963" cy="58435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tx11"/>
            <p:cNvSpPr/>
            <p:nvPr/>
          </p:nvSpPr>
          <p:spPr>
            <a:xfrm>
              <a:off x="6174696" y="1793768"/>
              <a:ext cx="317622" cy="80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24.2%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8599749" y="2801163"/>
              <a:ext cx="317622" cy="80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36.5%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6393733" y="3808778"/>
              <a:ext cx="317622" cy="80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25.4%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4125135" y="4816337"/>
              <a:ext cx="317622" cy="806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13.9%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418720" y="4804142"/>
              <a:ext cx="874718" cy="100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 años o más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522314" y="3798786"/>
              <a:ext cx="771125" cy="983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45 a 59 años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522314" y="2791281"/>
              <a:ext cx="771125" cy="983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30 a 44 años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522314" y="1783776"/>
              <a:ext cx="771125" cy="983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18 a 29 años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279163" y="5529500"/>
              <a:ext cx="165199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6183535" y="5529277"/>
              <a:ext cx="228767" cy="82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1119691" y="5529500"/>
              <a:ext cx="228767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177360" y="5684164"/>
              <a:ext cx="4352884" cy="1151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1.262 respuestas (100%) respecto al total de 1.262.</a:t>
              </a:r>
            </a:p>
          </p:txBody>
        </p:sp>
      </p:grpSp>
      <p:pic>
        <p:nvPicPr>
          <p:cNvPr id="26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¿Cuál es su sexo?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961322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381685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7802048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22412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961322" y="1639697"/>
              <a:ext cx="6829885" cy="76696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961322" y="2962046"/>
              <a:ext cx="6840726" cy="76696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961322" y="4284396"/>
              <a:ext cx="10841" cy="76696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tx11"/>
            <p:cNvSpPr/>
            <p:nvPr/>
          </p:nvSpPr>
          <p:spPr>
            <a:xfrm>
              <a:off x="7816617" y="1982621"/>
              <a:ext cx="317622" cy="807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49.9%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7819985" y="3305244"/>
              <a:ext cx="224201" cy="80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992589" y="4627594"/>
              <a:ext cx="255323" cy="80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0.1%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633656" y="4614649"/>
              <a:ext cx="259342" cy="1010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Otro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559558" y="3269574"/>
              <a:ext cx="333440" cy="1237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Mujer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18720" y="1972488"/>
              <a:ext cx="474278" cy="98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Hombre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878722" y="5529500"/>
              <a:ext cx="165199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4267301" y="5529277"/>
              <a:ext cx="228767" cy="82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7687665" y="5529500"/>
              <a:ext cx="228767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11108028" y="5529891"/>
              <a:ext cx="228767" cy="817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7177360" y="5684164"/>
              <a:ext cx="4352884" cy="1151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1.262 respuestas (100%) respecto al total de 1.262.</a:t>
              </a:r>
            </a:p>
          </p:txBody>
        </p:sp>
      </p:grpSp>
      <p:pic>
        <p:nvPicPr>
          <p:cNvPr id="2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¿Cuál es el nivel educativo más alto que ha completado?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28593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33011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37429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41847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28593" y="1639697"/>
              <a:ext cx="721121" cy="76696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28593" y="2962046"/>
              <a:ext cx="5565835" cy="76696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28593" y="4284396"/>
              <a:ext cx="6530715" cy="76696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tx11"/>
            <p:cNvSpPr/>
            <p:nvPr/>
          </p:nvSpPr>
          <p:spPr>
            <a:xfrm>
              <a:off x="2370140" y="1982621"/>
              <a:ext cx="255323" cy="807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5.6%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7219838" y="3305025"/>
              <a:ext cx="317622" cy="80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43.4%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8177245" y="4627977"/>
              <a:ext cx="224201" cy="80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51%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418720" y="4590101"/>
              <a:ext cx="1141548" cy="1256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Educación superior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885640" y="3292299"/>
              <a:ext cx="674628" cy="1010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Secundaria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515347" y="1972683"/>
              <a:ext cx="1044922" cy="983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Primaria o menos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1545993" y="5529500"/>
              <a:ext cx="165199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4718627" y="5529277"/>
              <a:ext cx="228767" cy="82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7923045" y="5529500"/>
              <a:ext cx="228767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11127463" y="5529891"/>
              <a:ext cx="228767" cy="817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7177360" y="5684164"/>
              <a:ext cx="4352884" cy="1151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1.262 respuestas (100%) respecto al total de 1.262.</a:t>
              </a:r>
            </a:p>
          </p:txBody>
        </p:sp>
      </p:grpSp>
      <p:pic>
        <p:nvPicPr>
          <p:cNvPr id="2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¿Cuál describe mejor su situación laboral actual?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2154895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5188989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223083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57176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2154895" y="1441344"/>
              <a:ext cx="5568114" cy="395851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2154895" y="2123847"/>
              <a:ext cx="2875416" cy="395851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2154895" y="2806350"/>
              <a:ext cx="980911" cy="395851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2154895" y="3488854"/>
              <a:ext cx="2077224" cy="395851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154895" y="4171357"/>
              <a:ext cx="67317" cy="395851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154895" y="4853860"/>
              <a:ext cx="567389" cy="395851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7748420" y="1598712"/>
              <a:ext cx="317622" cy="807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45.9%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5055722" y="2281216"/>
              <a:ext cx="317622" cy="807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23.7%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3156233" y="2963664"/>
              <a:ext cx="255323" cy="80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8.1%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4257529" y="3646878"/>
              <a:ext cx="317622" cy="80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17.1%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2242639" y="4328671"/>
              <a:ext cx="255323" cy="80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0.6%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2742711" y="5011338"/>
              <a:ext cx="255323" cy="806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4.7%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796762" y="4974791"/>
              <a:ext cx="1289809" cy="1248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Prefiere no responder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589895" y="4318463"/>
              <a:ext cx="496676" cy="98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 sabe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18720" y="3538036"/>
              <a:ext cx="1667851" cy="12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 trabaja actualmente y no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74363" y="3680686"/>
              <a:ext cx="1312208" cy="125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está buscando trabajo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670770" y="2855988"/>
              <a:ext cx="1415801" cy="1241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 trabaja actualmente,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70419" y="2998183"/>
              <a:ext cx="1616152" cy="125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pero está buscando trabajo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63322" y="2100434"/>
              <a:ext cx="1623249" cy="1251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Trabaja en empleo informal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92818" y="2270041"/>
              <a:ext cx="1593753" cy="995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 en una actividad informal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77997" y="2388145"/>
              <a:ext cx="1408574" cy="1254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generadora de ingresos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55899" y="1417931"/>
              <a:ext cx="1630672" cy="1251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Trabaja en empleo formal 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707819" y="1587538"/>
              <a:ext cx="1378753" cy="995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una actividad formal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677997" y="1705642"/>
              <a:ext cx="1408574" cy="1254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generadora de ingresos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2072296" y="5529500"/>
              <a:ext cx="165199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5074605" y="5529277"/>
              <a:ext cx="228767" cy="82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8108699" y="5529500"/>
              <a:ext cx="228767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1142792" y="5529891"/>
              <a:ext cx="228767" cy="817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7177360" y="5684164"/>
              <a:ext cx="4352884" cy="1151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1.262 respuestas (100%) respecto al total de 1.262.</a:t>
              </a:r>
            </a:p>
          </p:txBody>
        </p:sp>
      </p:grpSp>
      <p:pic>
        <p:nvPicPr>
          <p:cNvPr id="40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Las personas refugiadas suelen huir de su país debido a violencia, conflictos o persecución.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34074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5009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583969"/>
              <a:ext cx="135411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4341489"/>
              <a:ext cx="422762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849179"/>
              <a:ext cx="115099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606698"/>
              <a:ext cx="724736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3114389"/>
              <a:ext cx="1354112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871908"/>
              <a:ext cx="1389077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379599"/>
              <a:ext cx="853090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2137118"/>
              <a:ext cx="694538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644809"/>
              <a:ext cx="169264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618057" y="1402328"/>
              <a:ext cx="3382102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1766976" y="4681395"/>
              <a:ext cx="16884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1.1%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2054328" y="4409197"/>
              <a:ext cx="168842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3.3%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2782560" y="3946135"/>
              <a:ext cx="168842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8.9%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2356301" y="3674299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5.6%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2988973" y="3211562"/>
              <a:ext cx="210040" cy="53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10.5%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023938" y="293947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10.8%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10165769" y="2476554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66.3%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8575307" y="2204791"/>
              <a:ext cx="148262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54%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3327501" y="1741800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13.2%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5016963" y="146989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26.3%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4726045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7942062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1158079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40" name="rc39"/>
            <p:cNvSpPr/>
            <p:nvPr/>
          </p:nvSpPr>
          <p:spPr>
            <a:xfrm>
              <a:off x="5520906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7187603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5807431" y="5422840"/>
              <a:ext cx="1308062" cy="1155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Lurigancho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7474128" y="5449644"/>
              <a:ext cx="181092" cy="88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403 respuestas (100%) respecto al total de 403.</a:t>
              </a:r>
            </a:p>
          </p:txBody>
        </p:sp>
      </p:grpSp>
      <p:pic>
        <p:nvPicPr>
          <p:cNvPr id="47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Las personas refugiadas suelen huir de su país debido a violencia, conflictos o persecución.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34074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5009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583969"/>
              <a:ext cx="115372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4341489"/>
              <a:ext cx="27370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849179"/>
              <a:ext cx="132678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606698"/>
              <a:ext cx="76636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3114389"/>
              <a:ext cx="149984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871908"/>
              <a:ext cx="1696962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379599"/>
              <a:ext cx="599938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2137118"/>
              <a:ext cx="6678367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644809"/>
              <a:ext cx="392267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618057" y="1402328"/>
              <a:ext cx="3448664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1746938" y="4681034"/>
              <a:ext cx="168842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0.9%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905268" y="4409125"/>
              <a:ext cx="16884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2.1%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2961648" y="3946280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10.3%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2392993" y="3674299"/>
              <a:ext cx="107064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134707" y="3211815"/>
              <a:ext cx="210040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11.7%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331823" y="293950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13.2%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634246" y="247659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46.6%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8313228" y="2204791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51.9%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5557536" y="1741909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30.5%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5083526" y="1469820"/>
              <a:ext cx="210040" cy="53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26.8%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4726045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7942062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1158079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40" name="rc39"/>
            <p:cNvSpPr/>
            <p:nvPr/>
          </p:nvSpPr>
          <p:spPr>
            <a:xfrm>
              <a:off x="5071797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6577136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5358322" y="5446993"/>
              <a:ext cx="1146705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Martín de Porres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6863661" y="5446993"/>
              <a:ext cx="1240668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Miraflores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458 respuestas (100%) respecto al total de 458.</a:t>
              </a:r>
            </a:p>
          </p:txBody>
        </p:sp>
      </p:grpSp>
      <p:pic>
        <p:nvPicPr>
          <p:cNvPr id="47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Las personas refugiadas suelen huir de su país debido a violencia, conflictos o persecución.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90168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51593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1442699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1238252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297556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3405194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829552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815182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649214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5984887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1721734" y="4681142"/>
              <a:ext cx="168842" cy="53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0.5%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2147503" y="4409125"/>
              <a:ext cx="16884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2.7%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3074264" y="3946605"/>
              <a:ext cx="16884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7.5%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2869817" y="3674299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6.4%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610428" y="3211453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15.4%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5040055" y="293950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17.6%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9925439" y="2476627"/>
              <a:ext cx="14826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43%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9786690" y="2204754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42.2%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8127007" y="1741764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33.6%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7614805" y="1470037"/>
              <a:ext cx="148262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729098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6597255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6015623" y="5447111"/>
              <a:ext cx="509522" cy="91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Chorrillos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6883780" y="5446993"/>
              <a:ext cx="563249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Los Olivos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401 respuestas (100%) respecto al total de 401.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La mayoría de las personas que llegan como refugiadas vienen principalmente por razones económicas.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34074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5009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583969"/>
              <a:ext cx="6770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4341489"/>
              <a:ext cx="60394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849179"/>
              <a:ext cx="20311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606698"/>
              <a:ext cx="30197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3114389"/>
              <a:ext cx="189575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871908"/>
              <a:ext cx="845525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379599"/>
              <a:ext cx="7447618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2137118"/>
              <a:ext cx="6220652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644809"/>
              <a:ext cx="3249869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618057" y="1402328"/>
              <a:ext cx="5435521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1699270" y="4681142"/>
              <a:ext cx="168842" cy="53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0.5%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691960" y="4409270"/>
              <a:ext cx="168842" cy="53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0.5%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1834682" y="3946171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1.6%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933538" y="3674299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2.3%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530618" y="3211453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14.7%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2477090" y="2939508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6.6%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9082479" y="2476663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57.9%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855513" y="220468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48.4%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884730" y="1741800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25.3%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7070382" y="146992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42.3%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4726045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7942062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1158079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40" name="rc39"/>
            <p:cNvSpPr/>
            <p:nvPr/>
          </p:nvSpPr>
          <p:spPr>
            <a:xfrm>
              <a:off x="5520906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7187603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5807431" y="5422840"/>
              <a:ext cx="1308062" cy="1155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Lurigancho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7474128" y="5449644"/>
              <a:ext cx="181092" cy="88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403 respuestas (100%) respecto al total de 403.</a:t>
              </a:r>
            </a:p>
          </p:txBody>
        </p:sp>
      </p:grpSp>
      <p:pic>
        <p:nvPicPr>
          <p:cNvPr id="47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La mayoría de las personas que llegan como refugiadas vienen principalmente por razones económicas.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34074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5009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583969"/>
              <a:ext cx="403804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4341489"/>
              <a:ext cx="71162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849179"/>
              <a:ext cx="2422828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606698"/>
              <a:ext cx="82111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3114389"/>
              <a:ext cx="126910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871908"/>
              <a:ext cx="930592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379599"/>
              <a:ext cx="5710953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2137118"/>
              <a:ext cx="7882662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644809"/>
              <a:ext cx="3057379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618057" y="1402328"/>
              <a:ext cx="2518072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2035370" y="4681070"/>
              <a:ext cx="168842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3.1%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2343194" y="4409523"/>
              <a:ext cx="16884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5.5%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4057690" y="3946135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18.8%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2452676" y="3674299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6.4%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2900666" y="3211453"/>
              <a:ext cx="168842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9.9%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2562157" y="2939545"/>
              <a:ext cx="16884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7.2%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345814" y="2476663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44.4%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9517523" y="220468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61.3%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692240" y="1741728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23.8%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152934" y="1469856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19.6%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4726045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7942062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1158079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40" name="rc39"/>
            <p:cNvSpPr/>
            <p:nvPr/>
          </p:nvSpPr>
          <p:spPr>
            <a:xfrm>
              <a:off x="5071797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6577136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5358322" y="5446993"/>
              <a:ext cx="1146705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Martín de Porres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6863661" y="5446993"/>
              <a:ext cx="1240668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Miraflores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458 respuestas (100%) respecto al total de 458.</a:t>
              </a:r>
            </a:p>
          </p:txBody>
        </p:sp>
      </p:grpSp>
      <p:pic>
        <p:nvPicPr>
          <p:cNvPr id="47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La mayoría de las personas que llegan como refugiadas vienen principalmente por razones económicas.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99185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30956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360674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72231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234438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2373317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847585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763589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3877254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8255016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2623421" y="4681395"/>
              <a:ext cx="16884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5.1%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1941128" y="4409089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1.6%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5241609" y="3946135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18.7%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2353879" y="3674407"/>
              <a:ext cx="168842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3.7%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979247" y="3211417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12.1%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008178" y="293950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12.3%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10110718" y="247659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43.9%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9270751" y="2204646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39.6%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5512115" y="1741800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20.1%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889877" y="1469856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42.8%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729098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6597255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6015623" y="5447111"/>
              <a:ext cx="509522" cy="91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Chorrillos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6883780" y="5446993"/>
              <a:ext cx="563249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Los Olivos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401 respuestas (100%) respecto al total de 401.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La mayoría de las personas refugiadas pueden integrarse exitosamente en la sociedad peruana.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2437402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181184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3351428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308012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5179479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534492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7616882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715677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710908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1902432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4072263" y="468096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12.6%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443405" y="4409089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9.4%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4986289" y="3946243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17.4%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4710047" y="3674299"/>
              <a:ext cx="14826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814341" y="3211272"/>
              <a:ext cx="210040" cy="53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26.8%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6979790" y="2939545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27.7%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9251743" y="2476663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39.5%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8791631" y="2204827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37.1%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342474" y="1741909"/>
              <a:ext cx="168842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3.7%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3533997" y="1470000"/>
              <a:ext cx="168842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9.9%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520906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7187603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5807431" y="5422840"/>
              <a:ext cx="1308062" cy="1155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Lurigancho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7474128" y="5449644"/>
              <a:ext cx="181092" cy="88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403 respuestas (100%) respecto al total de 403.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La mayoría de las personas refugiadas pueden integrarse exitosamente en la sociedad peruana.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1471003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106744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536483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3284442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5537894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640466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5710953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697944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1211414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156011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3102568" y="4680961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7.6%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2699009" y="4409523"/>
              <a:ext cx="16884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5.5%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6999696" y="3946099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27.8%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4914361" y="3674733"/>
              <a:ext cx="14826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7172755" y="3211308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28.7%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8039524" y="293950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33.2%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345814" y="2476518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29.6%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8614302" y="220468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36.2%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842979" y="1741764"/>
              <a:ext cx="168842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6.3%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3191675" y="1469892"/>
              <a:ext cx="168842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8.1%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071797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6577136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5358322" y="5446993"/>
              <a:ext cx="1146705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Martín de Porres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6863661" y="5446993"/>
              <a:ext cx="1240668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Miraflores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458 respuestas (100%) respecto al total de 458.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La mayoría de las personas refugiadas pueden integrarse exitosamente en la sociedad peruana.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1262361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41275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504944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299244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4869109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6088074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6762652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6913576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135253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2889255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2893927" y="4680961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6.5%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2044316" y="4409125"/>
              <a:ext cx="16884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2.1%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6684308" y="394617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26.2%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4627304" y="3674733"/>
              <a:ext cx="210040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15.5%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503970" y="3211417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25.2%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722935" y="293947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31.6%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8392571" y="2476699"/>
              <a:ext cx="148262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35%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8548437" y="220468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35.8%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979153" y="1742234"/>
              <a:ext cx="107064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519174" y="1470362"/>
              <a:ext cx="14826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729098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6597255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6015623" y="5447111"/>
              <a:ext cx="509522" cy="91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Chorrillos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6883780" y="5446993"/>
              <a:ext cx="563249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Los Olivos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401 respuestas (100%) respecto al total de 401.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Las personas refugiadas pueden hacer una contribución positiva a la economía del país.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2640519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226480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3656103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3804865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406233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4257825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802311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715677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91402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181184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4275380" y="4681070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13.7%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899661" y="4409523"/>
              <a:ext cx="210040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11.7%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5290964" y="3946135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18.9%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439726" y="3674371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19.7%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5697198" y="3211417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21.1%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5892686" y="2939545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22.1%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9657977" y="247659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41.6%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8791631" y="2204827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37.1%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545591" y="1741873"/>
              <a:ext cx="168842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4.7%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3443405" y="1469928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9.4%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520906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7187603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5807431" y="5422840"/>
              <a:ext cx="1308062" cy="1155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Lurigancho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7474128" y="5449644"/>
              <a:ext cx="181092" cy="88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403 respuestas (100%) respecto al total de 403.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Las personas refugiadas pueden hacer una contribución positiva a la economía del país.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1297944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156011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536483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303810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4413009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5008775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726848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8128995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95182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156011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2929509" y="4680961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6.7%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191675" y="4409053"/>
              <a:ext cx="168842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8.1%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6999696" y="3946099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27.8%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4672970" y="3674733"/>
              <a:ext cx="210040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15.7%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047870" y="3211345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22.9%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6638694" y="2939508"/>
              <a:ext cx="14826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8903347" y="2476699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37.7%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9763857" y="2204754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42.1%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583390" y="1741800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4.9%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3191675" y="1469892"/>
              <a:ext cx="168842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8.1%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071797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6577136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5358322" y="5446993"/>
              <a:ext cx="1146705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Martín de Porres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6863661" y="5446993"/>
              <a:ext cx="1240668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Miraflores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458 respuestas (100%) respecto al total de 458.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Las personas refugiadas pueden hacer una contribución positiva a la economía del país.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34074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5009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583969"/>
              <a:ext cx="114213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4341489"/>
              <a:ext cx="41275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849179"/>
              <a:ext cx="3246073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606698"/>
              <a:ext cx="2063754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3114389"/>
              <a:ext cx="3125848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871908"/>
              <a:ext cx="261408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379599"/>
              <a:ext cx="4448322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2137118"/>
              <a:ext cx="570971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644809"/>
              <a:ext cx="90168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618057" y="1402328"/>
              <a:ext cx="2063754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2773702" y="4680925"/>
              <a:ext cx="168842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8.9%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2044316" y="4409089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3.2%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4880934" y="3946207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25.2%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693673" y="3674299"/>
              <a:ext cx="14826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760709" y="321138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24.3%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4248949" y="293950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20.3%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6083183" y="2476554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34.6%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344581" y="2204791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44.4%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2528310" y="1742234"/>
              <a:ext cx="107064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3693673" y="1469928"/>
              <a:ext cx="14826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4726045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7942062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1158079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40" name="rc39"/>
            <p:cNvSpPr/>
            <p:nvPr/>
          </p:nvSpPr>
          <p:spPr>
            <a:xfrm>
              <a:off x="5729098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6597255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6015623" y="5447111"/>
              <a:ext cx="509522" cy="91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Chorrillos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6883780" y="5446993"/>
              <a:ext cx="563249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Los Olivos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401 respuestas (100%) respecto al total de 401.</a:t>
              </a:r>
            </a:p>
          </p:txBody>
        </p:sp>
      </p:grpSp>
      <p:pic>
        <p:nvPicPr>
          <p:cNvPr id="47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La presencia de personas refugiadas puede enriquecer la vida social y cultural de la comunidad.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3046752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3804865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4265453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317072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3554544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4348417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731220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643203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1117142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1540064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4681614" y="4680925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15.8%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5439726" y="4409161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19.7%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5900315" y="3946207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22.1%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4805582" y="3674299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16.4%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5189406" y="3211345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18.4%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5983278" y="2939545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22.5%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8947068" y="2476663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37.9%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8066895" y="2204827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33.3%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748708" y="1741764"/>
              <a:ext cx="168842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5.8%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3166687" y="1469892"/>
              <a:ext cx="107064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520906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7187603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5807431" y="5422840"/>
              <a:ext cx="1308062" cy="1155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Lurigancho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7474128" y="5449644"/>
              <a:ext cx="181092" cy="88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403 respuestas (100%) respecto al total de 403.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La presencia de personas refugiadas puede enriquecer la vida social y cultural de la comunidad.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1471003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147799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631666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385922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4499539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484455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640319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714366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60570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1970665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3102568" y="4680961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7.6%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109564" y="4409523"/>
              <a:ext cx="16884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7.7%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7951522" y="394617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32.7%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489139" y="3674299"/>
              <a:ext cx="14826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134400" y="321138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23.3%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6479414" y="2939545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25.1%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8038051" y="247659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33.2%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8773581" y="2204827"/>
              <a:ext cx="148262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37%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237272" y="1741909"/>
              <a:ext cx="168842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3.1%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3605526" y="146992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10.2%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071797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6577136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5358322" y="5446993"/>
              <a:ext cx="1146705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Martín de Porres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6863661" y="5446993"/>
              <a:ext cx="1240668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Miraflores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458 respuestas (100%) respecto al total de 458.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La presencia de personas refugiadas puede enriquecer la vida social y cultural de la comunidad.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34074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5009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583969"/>
              <a:ext cx="90168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4341489"/>
              <a:ext cx="275167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849179"/>
              <a:ext cx="3726972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606698"/>
              <a:ext cx="240771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3114389"/>
              <a:ext cx="306573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871908"/>
              <a:ext cx="2958047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379599"/>
              <a:ext cx="414776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2137118"/>
              <a:ext cx="5778511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644809"/>
              <a:ext cx="1021911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618057" y="1402328"/>
              <a:ext cx="1444627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2528310" y="4681395"/>
              <a:ext cx="107064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906732" y="4409125"/>
              <a:ext cx="16884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2.1%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356891" y="3946135"/>
              <a:ext cx="148262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29%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042574" y="367426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18.7%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700596" y="3211308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23.8%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4587966" y="2939508"/>
              <a:ext cx="14826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5782621" y="247659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32.2%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413372" y="220471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44.9%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2653477" y="1741873"/>
              <a:ext cx="168842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7.9%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3079489" y="1469964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11.2%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4726045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7942062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1158079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40" name="rc39"/>
            <p:cNvSpPr/>
            <p:nvPr/>
          </p:nvSpPr>
          <p:spPr>
            <a:xfrm>
              <a:off x="5729098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6597255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6015623" y="5447111"/>
              <a:ext cx="509522" cy="91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Chorrillos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6883780" y="5446993"/>
              <a:ext cx="563249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Los Olivos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401 respuestas (100%) respecto al total de 401.</a:t>
              </a:r>
            </a:p>
          </p:txBody>
        </p:sp>
      </p:grpSp>
      <p:pic>
        <p:nvPicPr>
          <p:cNvPr id="47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La llegada de personas refugiadas aumenta la inseguridad en la comunidad.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34074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5009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583969"/>
              <a:ext cx="270822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4341489"/>
              <a:ext cx="12078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849179"/>
              <a:ext cx="744761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606698"/>
              <a:ext cx="724736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3114389"/>
              <a:ext cx="2031168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871908"/>
              <a:ext cx="1993024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379599"/>
              <a:ext cx="5958094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2137118"/>
              <a:ext cx="513354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644809"/>
              <a:ext cx="385922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618057" y="1402328"/>
              <a:ext cx="489196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1902387" y="4680997"/>
              <a:ext cx="16884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2.1%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752354" y="4409161"/>
              <a:ext cx="168842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0.9%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2376327" y="3946135"/>
              <a:ext cx="168842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5.8%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2356301" y="3674299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5.6%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666029" y="3211345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15.8%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627885" y="2939942"/>
              <a:ext cx="210040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15.5%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592955" y="2476554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46.3%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6768409" y="2204791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39.9%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5489139" y="1741909"/>
              <a:ext cx="148262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6521888" y="1469892"/>
              <a:ext cx="148262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38%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4726045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7942062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1158079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40" name="rc39"/>
            <p:cNvSpPr/>
            <p:nvPr/>
          </p:nvSpPr>
          <p:spPr>
            <a:xfrm>
              <a:off x="5520906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7187603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5807431" y="5422840"/>
              <a:ext cx="1308062" cy="1155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Lurigancho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7474128" y="5449644"/>
              <a:ext cx="181092" cy="88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403 respuestas (100%) respecto al total de 403.</a:t>
              </a:r>
            </a:p>
          </p:txBody>
        </p:sp>
      </p:grpSp>
      <p:pic>
        <p:nvPicPr>
          <p:cNvPr id="47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La llegada de personas refugiadas aumenta la inseguridad en la comunidad.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60570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574777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1471003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147799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207671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3941331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7960723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755421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718195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5747774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2237272" y="4681070"/>
              <a:ext cx="168842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3.1%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2201400" y="4409197"/>
              <a:ext cx="107064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3102568" y="3946171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7.6%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3109564" y="3674733"/>
              <a:ext cx="16884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7.7%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711571" y="3211345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10.8%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5576192" y="293950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20.4%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9595584" y="2476627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41.3%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9189079" y="2204791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39.1%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8816818" y="1741800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37.2%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7382636" y="1469856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29.8%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071797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6577136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5358322" y="5446993"/>
              <a:ext cx="1146705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Martín de Porres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6863661" y="5446993"/>
              <a:ext cx="1240668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Miraflores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458 respuestas (100%) respecto al total de 458.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La llegada de personas refugiadas aumenta la inseguridad en la comunidad.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34074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5009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583969"/>
              <a:ext cx="60112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4341489"/>
              <a:ext cx="34395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849179"/>
              <a:ext cx="90168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606698"/>
              <a:ext cx="1031877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3114389"/>
              <a:ext cx="258483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871908"/>
              <a:ext cx="412750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379599"/>
              <a:ext cx="5951134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2137118"/>
              <a:ext cx="419630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644809"/>
              <a:ext cx="3366298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618057" y="1402328"/>
              <a:ext cx="316442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1691677" y="4681142"/>
              <a:ext cx="168842" cy="53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0.5%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975524" y="4409125"/>
              <a:ext cx="16884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2.7%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2528310" y="3946605"/>
              <a:ext cx="107064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2658500" y="3674262"/>
              <a:ext cx="107064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219697" y="321138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20.1%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5762369" y="293950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32.1%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585995" y="2476554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46.3%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5831161" y="220468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32.6%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5001159" y="1741800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26.2%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799284" y="146992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24.6%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4726045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7942062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1158079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40" name="rc39"/>
            <p:cNvSpPr/>
            <p:nvPr/>
          </p:nvSpPr>
          <p:spPr>
            <a:xfrm>
              <a:off x="5729098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6597255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6015623" y="5447111"/>
              <a:ext cx="509522" cy="91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Chorrillos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6883780" y="5446993"/>
              <a:ext cx="563249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Los Olivos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401 respuestas (100%) respecto al total de 401.</a:t>
              </a:r>
            </a:p>
          </p:txBody>
        </p:sp>
      </p:grpSp>
      <p:pic>
        <p:nvPicPr>
          <p:cNvPr id="47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Confío en que las personas refugiadas respetan las normas y leyes del país.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477324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4257825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609350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6613217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3960778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597907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416389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2083616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30467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36236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6408107" y="4680997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24.7%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5892686" y="4409125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22.1%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7728366" y="3946135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31.6%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8248079" y="3674335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34.3%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5595639" y="321138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20.5%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608992" y="2939617"/>
              <a:ext cx="148262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5798756" y="247659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21.6%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718477" y="220468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10.8%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936240" y="1741800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1.6%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993933" y="1470000"/>
              <a:ext cx="168842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1.9%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520906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7187603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5807431" y="5422840"/>
              <a:ext cx="1308062" cy="1155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Lurigancho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7474128" y="5449644"/>
              <a:ext cx="181092" cy="88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403 respuestas (100%) respecto al total de 403.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Confío en que las personas refugiadas respetan las normas y leyes del país.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34074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5009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583969"/>
              <a:ext cx="1730592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4341489"/>
              <a:ext cx="2408591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849179"/>
              <a:ext cx="628781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606698"/>
              <a:ext cx="448873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3114389"/>
              <a:ext cx="2826633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871908"/>
              <a:ext cx="3448664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379599"/>
              <a:ext cx="1730592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2137118"/>
              <a:ext cx="1970665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644809"/>
              <a:ext cx="288432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618057" y="1402328"/>
              <a:ext cx="547407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3365453" y="4681070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13.5%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4043452" y="4409053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18.7%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7922678" y="3946135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48.9%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123599" y="3674299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34.9%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456552" y="3211417"/>
              <a:ext cx="14826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5083526" y="2939400"/>
              <a:ext cx="210040" cy="53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26.8%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365453" y="2476699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13.5%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3605526" y="2204827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15.3%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919997" y="1741837"/>
              <a:ext cx="16884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2.2%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2178972" y="1469964"/>
              <a:ext cx="16884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4.3%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4726045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7942062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1158079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40" name="rc39"/>
            <p:cNvSpPr/>
            <p:nvPr/>
          </p:nvSpPr>
          <p:spPr>
            <a:xfrm>
              <a:off x="5071797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6577136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5358322" y="5446993"/>
              <a:ext cx="1146705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Martín de Porres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6863661" y="5446993"/>
              <a:ext cx="1240668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Miraflores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458 respuestas (100%) respecto al total de 458.</a:t>
              </a:r>
            </a:p>
          </p:txBody>
        </p:sp>
      </p:grpSp>
      <p:pic>
        <p:nvPicPr>
          <p:cNvPr id="47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Confío en que las personas refugiadas respetan las normas y leyes del país.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225421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185737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847585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6707201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5229784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722313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306573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278606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27050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72231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3889078" y="4681395"/>
              <a:ext cx="210040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11.7%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488944" y="4409017"/>
              <a:ext cx="168842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9.6%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0110718" y="394617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43.9%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8342062" y="367426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34.8%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864645" y="3211417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27.1%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8858000" y="2939545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37.4%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4700596" y="2476663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15.9%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420929" y="2204791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14.4%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902071" y="1741873"/>
              <a:ext cx="168842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1.4%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2353879" y="1470037"/>
              <a:ext cx="168842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3.7%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729098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6597255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6015623" y="5447111"/>
              <a:ext cx="509522" cy="91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Chorrillos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6883780" y="5446993"/>
              <a:ext cx="563249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Los Olivos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401 respuestas (100%) respecto al total de 401.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Me sentiría cómodo/a conviviendo con personas refugiadas en mi barrio.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3351428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271776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660129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4710785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446857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5707297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4570129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579788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30467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36236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4986289" y="4681034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17.4%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4352621" y="4409161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14.1%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8236159" y="394617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34.2%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6345646" y="3674335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24.4%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103432" y="321138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23.2%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342158" y="2939436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29.6%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6204990" y="247659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23.7%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427808" y="2204827"/>
              <a:ext cx="148262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936240" y="1741800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1.6%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993933" y="1470000"/>
              <a:ext cx="168842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1.9%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520906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7187603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5807431" y="5422840"/>
              <a:ext cx="1308062" cy="1155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Lurigancho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7474128" y="5449644"/>
              <a:ext cx="181092" cy="88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403 respuestas (100%) respecto al total de 403.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Me sentiría cómodo/a conviviendo con personas refugiadas en mi barrio.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103835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303810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7787664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541933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3374654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4926664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5970542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4433997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1124884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147799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2669920" y="4681034"/>
              <a:ext cx="168842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5.4%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4672970" y="4409523"/>
              <a:ext cx="210040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15.7%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9422525" y="3946207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40.4%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7054191" y="3674226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28.1%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5009515" y="3211815"/>
              <a:ext cx="210040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17.5%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6561525" y="2939545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25.5%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605403" y="2476663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30.9%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6063916" y="2204718"/>
              <a:ext cx="14826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756450" y="1741764"/>
              <a:ext cx="168842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5.8%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3109564" y="1470362"/>
              <a:ext cx="16884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7.7%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071797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6577136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5358322" y="5446993"/>
              <a:ext cx="1146705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Martín de Porres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6863661" y="5446993"/>
              <a:ext cx="1240668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Miraflores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458 respuestas (100%) respecto al total de 458.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Me sentiría cómodo/a conviviendo con personas refugiadas en mi barrio.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225421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1444627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7033158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454025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4688772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495300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432809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660401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99185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1754191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3889078" y="4681395"/>
              <a:ext cx="210040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11.7%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076193" y="4409523"/>
              <a:ext cx="16884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7.5%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8668019" y="3946135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36.4%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6175120" y="3674299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23.5%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323633" y="321138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24.3%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6587871" y="2939545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25.7%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5962958" y="2476627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22.4%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8238874" y="220471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34.2%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623421" y="1742234"/>
              <a:ext cx="16884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5.1%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3385756" y="1470000"/>
              <a:ext cx="168842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9.1%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729098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6597255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6015623" y="5447111"/>
              <a:ext cx="509522" cy="91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Chorrillos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6883780" y="5446993"/>
              <a:ext cx="563249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Los Olivos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401 respuestas (100%) respecto al total de 401.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Me sentiría cómodo/a comprando en un negocio atendido por personas refugiadas.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34074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5009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583969"/>
              <a:ext cx="880173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4341489"/>
              <a:ext cx="36236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849179"/>
              <a:ext cx="2098874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606698"/>
              <a:ext cx="1087104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3114389"/>
              <a:ext cx="223428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871908"/>
              <a:ext cx="2778155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379599"/>
              <a:ext cx="6905973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2137118"/>
              <a:ext cx="688499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644809"/>
              <a:ext cx="744761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618057" y="1402328"/>
              <a:ext cx="1751445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2511738" y="4680853"/>
              <a:ext cx="168842" cy="53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6.8%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993933" y="4409017"/>
              <a:ext cx="168842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2.8%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3733735" y="3946135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16.3%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2718669" y="3674262"/>
              <a:ext cx="168842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8.5%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69146" y="3211453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17.4%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4413016" y="293950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21.6%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8540834" y="2476699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53.7%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8519855" y="2204827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53.5%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2376327" y="1741764"/>
              <a:ext cx="168842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5.8%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3386307" y="146989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13.6%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4726045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7942062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1158079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40" name="rc39"/>
            <p:cNvSpPr/>
            <p:nvPr/>
          </p:nvSpPr>
          <p:spPr>
            <a:xfrm>
              <a:off x="5520906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7187603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5807431" y="5422840"/>
              <a:ext cx="1308062" cy="1155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Lurigancho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7474128" y="5449644"/>
              <a:ext cx="181092" cy="88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403 respuestas (100%) respecto al total de 403.</a:t>
              </a:r>
            </a:p>
          </p:txBody>
        </p:sp>
      </p:grpSp>
      <p:pic>
        <p:nvPicPr>
          <p:cNvPr id="47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Me sentiría cómodo/a comprando en un negocio atendido por personas refugiadas.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34074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5009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583969"/>
              <a:ext cx="922982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4341489"/>
              <a:ext cx="1259036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849179"/>
              <a:ext cx="3172752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606698"/>
              <a:ext cx="218962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3114389"/>
              <a:ext cx="2538201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871908"/>
              <a:ext cx="2518072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379599"/>
              <a:ext cx="484565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2137118"/>
              <a:ext cx="5802515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644809"/>
              <a:ext cx="1384473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618057" y="1402328"/>
              <a:ext cx="1094814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2554547" y="4680997"/>
              <a:ext cx="16884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7.2%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2890601" y="4409053"/>
              <a:ext cx="168842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9.8%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4807613" y="3946207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24.7%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819547" y="3674733"/>
              <a:ext cx="14826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173062" y="3211453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19.7%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4152934" y="2939436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19.6%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6480518" y="2476699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37.7%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437376" y="2204791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45.1%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3019334" y="1741764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10.8%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2726379" y="1469892"/>
              <a:ext cx="168842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8.5%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4726045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7942062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1158079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40" name="rc39"/>
            <p:cNvSpPr/>
            <p:nvPr/>
          </p:nvSpPr>
          <p:spPr>
            <a:xfrm>
              <a:off x="5071797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6577136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5358322" y="5446993"/>
              <a:ext cx="1146705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Martín de Porres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6863661" y="5446993"/>
              <a:ext cx="1240668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Miraflores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458 respuestas (100%) respecto al total de 458.</a:t>
              </a:r>
            </a:p>
          </p:txBody>
        </p:sp>
      </p:grpSp>
      <p:pic>
        <p:nvPicPr>
          <p:cNvPr id="47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Me sentiría cómodo/a comprando en un negocio atendido por personas refugiadas.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34074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5009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583969"/>
              <a:ext cx="114213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4341489"/>
              <a:ext cx="34395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849179"/>
              <a:ext cx="270506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606698"/>
              <a:ext cx="1582211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3114389"/>
              <a:ext cx="2224161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871908"/>
              <a:ext cx="151341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379599"/>
              <a:ext cx="5590459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2137118"/>
              <a:ext cx="6741596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644809"/>
              <a:ext cx="1202249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618057" y="1402328"/>
              <a:ext cx="268288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2773702" y="4680925"/>
              <a:ext cx="168842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8.9%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975524" y="4409125"/>
              <a:ext cx="16884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2.7%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4334979" y="3946207"/>
              <a:ext cx="14826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217072" y="3674299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12.3%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59022" y="3211489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17.3%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148280" y="293947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11.8%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225320" y="2476627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43.5%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8376458" y="2204754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52.4%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2833814" y="1741873"/>
              <a:ext cx="168842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9.3%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317741" y="146989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20.9%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4726045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7942062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1158079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40" name="rc39"/>
            <p:cNvSpPr/>
            <p:nvPr/>
          </p:nvSpPr>
          <p:spPr>
            <a:xfrm>
              <a:off x="5729098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6597255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6015623" y="5447111"/>
              <a:ext cx="509522" cy="91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Chorrillos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6883780" y="5446993"/>
              <a:ext cx="563249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Los Olivos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401 respuestas (100%) respecto al total de 401.</a:t>
              </a:r>
            </a:p>
          </p:txBody>
        </p:sp>
      </p:grpSp>
      <p:pic>
        <p:nvPicPr>
          <p:cNvPr id="47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Me sentiría cómodo/a si mis familiares compartieran espacios con personas refugiadas.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192961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1540064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5890388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4982561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477324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552611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639818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625084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30467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996512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3559529" y="4681142"/>
              <a:ext cx="148262" cy="53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166687" y="4409053"/>
              <a:ext cx="107064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7525250" y="3946280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30.5%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6617422" y="3674226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25.8%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408107" y="3211417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24.7%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160974" y="2939400"/>
              <a:ext cx="210040" cy="53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28.6%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8033042" y="247659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33.2%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885710" y="220471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32.4%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936240" y="1741800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1.6%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2628077" y="1469964"/>
              <a:ext cx="16884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5.2%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520906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7187603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5807431" y="5422840"/>
              <a:ext cx="1308062" cy="1155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Lurigancho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7474128" y="5449644"/>
              <a:ext cx="181092" cy="88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403 respuestas (100%) respecto al total de 403.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Me sentiría cómodo/a si mis familiares compartieran espacios con personas refugiadas.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103835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254544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7787664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5583552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415342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451610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5537894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566566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77876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985332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2669920" y="4681034"/>
              <a:ext cx="168842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5.4%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4180304" y="4409089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13.2%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9422525" y="3946207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40.4%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7218413" y="3674226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28.9%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5788282" y="3211417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21.5%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6150970" y="293950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23.4%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172755" y="2476518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28.7%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300525" y="220468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29.4%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405389" y="1741873"/>
              <a:ext cx="107064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2616898" y="1470362"/>
              <a:ext cx="16884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5.1%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071797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6577136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5358322" y="5446993"/>
              <a:ext cx="1146705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Martín de Porres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6863661" y="5446993"/>
              <a:ext cx="1240668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Miraflores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458 respuestas (100%) respecto al total de 458.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Me sentiría cómodo/a si mis familiares compartieran espacios con personas refugiadas.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207388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825501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712332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567532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4237928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454025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513961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6500825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721349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1754191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3708741" y="4681142"/>
              <a:ext cx="210040" cy="53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10.7%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2457067" y="4409125"/>
              <a:ext cx="16884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4.3%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8758188" y="3946099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36.9%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7310185" y="367426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29.4%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5867847" y="3211417"/>
              <a:ext cx="14826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6175120" y="293950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23.5%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6774476" y="247659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26.6%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8135686" y="2204827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33.7%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352914" y="1741909"/>
              <a:ext cx="168842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3.7%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3385756" y="1470000"/>
              <a:ext cx="168842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9.1%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729098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6597255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6015623" y="5447111"/>
              <a:ext cx="509522" cy="91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Chorrillos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6883780" y="5446993"/>
              <a:ext cx="563249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Los Olivos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401 respuestas (100%) respecto al total de 401.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Me sentiría incómodo/a teniendo contacto cercano con personas refugiadas.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1320259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1540064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771844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6975585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3351428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534492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5890388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416723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1015584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126828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2951824" y="4680853"/>
              <a:ext cx="168842" cy="53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6.8%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166687" y="4409053"/>
              <a:ext cx="107064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9348359" y="3946207"/>
              <a:ext cx="14826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8610447" y="367426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36.2%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986289" y="3211453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17.4%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6979790" y="2939545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27.7%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525250" y="2476699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30.5%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5802094" y="220471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21.6%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647149" y="1741909"/>
              <a:ext cx="168842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5.3%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2899853" y="1469928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6.6%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520906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7187603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5807431" y="5422840"/>
              <a:ext cx="1308062" cy="1155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Lurigancho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7474128" y="5449644"/>
              <a:ext cx="181092" cy="88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403 respuestas (100%) respecto al total de 403.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Me sentiría incómodo/a teniendo contacto cercano con personas refugiadas.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618057" y="4583969"/>
              <a:ext cx="199018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341489"/>
              <a:ext cx="221699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3849179"/>
              <a:ext cx="8393371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606698"/>
              <a:ext cx="6486774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114389"/>
              <a:ext cx="3288124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2871908"/>
              <a:ext cx="4926664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379599"/>
              <a:ext cx="501871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137118"/>
              <a:ext cx="468033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1644809"/>
              <a:ext cx="60570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402328"/>
              <a:ext cx="985332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3625042" y="4681070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10.3%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851860" y="4409523"/>
              <a:ext cx="210040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11.5%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0028232" y="3946207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43.5%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8121635" y="367426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33.6%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918043" y="3211815"/>
              <a:ext cx="14826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6561525" y="2939545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25.5%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6648635" y="2476591"/>
              <a:ext cx="14826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6315192" y="220471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24.3%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237272" y="1741909"/>
              <a:ext cx="168842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3.1%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2616898" y="1470362"/>
              <a:ext cx="16884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5.1%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34054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15807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071797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6577136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5358322" y="5446993"/>
              <a:ext cx="1146705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Martín de Porres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6863661" y="5446993"/>
              <a:ext cx="1240668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Miraflores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458 respuestas (100%) respecto al total de 458.</a:t>
              </a:r>
            </a:p>
          </p:txBody>
        </p:sp>
      </p:grpSp>
      <p:pic>
        <p:nvPicPr>
          <p:cNvPr id="4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Me sentiría incómodo/a teniendo contacto cercano con personas refugiadas.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34074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5009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583969"/>
              <a:ext cx="1743261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4341489"/>
              <a:ext cx="165100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849179"/>
              <a:ext cx="6071359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606698"/>
              <a:ext cx="5159385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3114389"/>
              <a:ext cx="282528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871908"/>
              <a:ext cx="240771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379599"/>
              <a:ext cx="1683149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2137118"/>
              <a:ext cx="2751672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644809"/>
              <a:ext cx="541012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618057" y="1402328"/>
              <a:ext cx="89429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3378122" y="4680925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13.6%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3285864" y="4409017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12.8%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7706220" y="3946207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47.2%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794246" y="3674335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40.1%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455204" y="3211417"/>
              <a:ext cx="14826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4042574" y="293947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18.7%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318010" y="2476699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13.1%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386533" y="2204754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21.4%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2172577" y="1741837"/>
              <a:ext cx="16884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4.2%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2520916" y="1470362"/>
              <a:ext cx="107064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4726045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7942062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1158079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40" name="rc39"/>
            <p:cNvSpPr/>
            <p:nvPr/>
          </p:nvSpPr>
          <p:spPr>
            <a:xfrm>
              <a:off x="5729098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6597255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6015623" y="5447111"/>
              <a:ext cx="509522" cy="91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Chorrillos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6883780" y="5446993"/>
              <a:ext cx="563249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Los Olivos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7622413" y="5716935"/>
              <a:ext cx="393313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401 respuestas (100%) respecto al total de 401.</a:t>
              </a:r>
            </a:p>
          </p:txBody>
        </p:sp>
      </p:grpSp>
      <p:pic>
        <p:nvPicPr>
          <p:cNvPr id="47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¿Han aumentado, disminuido o se mantienen igual los mensajes negativos sobre personas refugiadas respecto al año pasado?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2553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703856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798217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050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425533" y="4316001"/>
              <a:ext cx="7126787" cy="354628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425533" y="3921969"/>
              <a:ext cx="6683958" cy="354628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425533" y="3121966"/>
              <a:ext cx="4418608" cy="354628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425533" y="2727935"/>
              <a:ext cx="4646942" cy="354628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425533" y="1927932"/>
              <a:ext cx="1567893" cy="354628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425533" y="1533901"/>
              <a:ext cx="1782388" cy="354628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8569125" y="4490411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54.3%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8121353" y="4049016"/>
              <a:ext cx="14826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51%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5860945" y="3296449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33.7%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6089279" y="2854584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35.4%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005288" y="2102343"/>
              <a:ext cx="14826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3224726" y="1660478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13.6%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67595" y="4253816"/>
              <a:ext cx="795307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Han aumentado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06067" y="3035280"/>
              <a:ext cx="956835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 mantienen igual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592589" y="1865639"/>
              <a:ext cx="770314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Han disminuido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1347523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595827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87414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1152472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28" name="rc27"/>
            <p:cNvSpPr/>
            <p:nvPr/>
          </p:nvSpPr>
          <p:spPr>
            <a:xfrm>
              <a:off x="5424644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7091341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tx29"/>
            <p:cNvSpPr/>
            <p:nvPr/>
          </p:nvSpPr>
          <p:spPr>
            <a:xfrm>
              <a:off x="5711169" y="5422840"/>
              <a:ext cx="1308062" cy="1155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Lurigancho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7377866" y="5449644"/>
              <a:ext cx="181092" cy="88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7590657" y="5716935"/>
              <a:ext cx="3964892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390 respuestas (96.8%) respecto al total de 403.</a:t>
              </a:r>
            </a:p>
          </p:txBody>
        </p:sp>
      </p:grpSp>
      <p:pic>
        <p:nvPicPr>
          <p:cNvPr id="3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¿Han aumentado, disminuido o se mantienen igual los mensajes negativos sobre personas refugiadas respecto al año pasado?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2553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703856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798217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050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425533" y="4316001"/>
              <a:ext cx="7940157" cy="354628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425533" y="3921969"/>
              <a:ext cx="8324088" cy="354628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425533" y="3121966"/>
              <a:ext cx="3428704" cy="354628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425533" y="2727935"/>
              <a:ext cx="3876972" cy="354628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425533" y="1927932"/>
              <a:ext cx="1744428" cy="354628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425533" y="1533901"/>
              <a:ext cx="912228" cy="354628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9382494" y="4490339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60.6%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9766425" y="4048546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63.5%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871041" y="329634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26.1%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5319309" y="2854476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29.6%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186765" y="2102415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13.3%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2346327" y="1660948"/>
              <a:ext cx="107064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67595" y="4253816"/>
              <a:ext cx="795307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Han aumentado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06067" y="3035280"/>
              <a:ext cx="956835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 mantienen igual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592589" y="1865639"/>
              <a:ext cx="770314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Han disminuido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1347523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595827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87414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1152472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28" name="rc27"/>
            <p:cNvSpPr/>
            <p:nvPr/>
          </p:nvSpPr>
          <p:spPr>
            <a:xfrm>
              <a:off x="4975535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6480874" y="5387945"/>
              <a:ext cx="214416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tx29"/>
            <p:cNvSpPr/>
            <p:nvPr/>
          </p:nvSpPr>
          <p:spPr>
            <a:xfrm>
              <a:off x="5262060" y="5446993"/>
              <a:ext cx="1146705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Martín de Porres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6767399" y="5446993"/>
              <a:ext cx="1240668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Miraflores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7590657" y="5716935"/>
              <a:ext cx="3964892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448 respuestas (97.8%) respecto al total de 458.</a:t>
              </a:r>
            </a:p>
          </p:txBody>
        </p:sp>
      </p:grpSp>
      <p:pic>
        <p:nvPicPr>
          <p:cNvPr id="3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¿Han aumentado, disminuido o se mantienen igual los mensajes negativos sobre personas refugiadas respecto al año pasado?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2553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703856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798217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050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425533" y="4316001"/>
              <a:ext cx="7880582" cy="354628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425533" y="3921969"/>
              <a:ext cx="7925614" cy="354628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425533" y="3121966"/>
              <a:ext cx="4476171" cy="354628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425533" y="2727935"/>
              <a:ext cx="3314347" cy="354628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425533" y="1927932"/>
              <a:ext cx="756535" cy="354628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425533" y="1533901"/>
              <a:ext cx="1873327" cy="354628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9322919" y="4490339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60.1%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9367951" y="4048546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60.4%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5918508" y="3296377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34.1%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4756685" y="285454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25.3%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2195577" y="2102271"/>
              <a:ext cx="168842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5.8%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3315664" y="1660550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14.3%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67595" y="4253816"/>
              <a:ext cx="795307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Han aumentado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06067" y="3035280"/>
              <a:ext cx="956835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 mantienen igual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592589" y="1865639"/>
              <a:ext cx="770314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Han disminuido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1347523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595827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87414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1152472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28" name="rc27"/>
            <p:cNvSpPr/>
            <p:nvPr/>
          </p:nvSpPr>
          <p:spPr>
            <a:xfrm>
              <a:off x="5632836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6500993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tx29"/>
            <p:cNvSpPr/>
            <p:nvPr/>
          </p:nvSpPr>
          <p:spPr>
            <a:xfrm>
              <a:off x="5919361" y="5447111"/>
              <a:ext cx="509522" cy="91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Chorrillos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6787518" y="5446993"/>
              <a:ext cx="563249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Los Olivos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7590657" y="5716935"/>
              <a:ext cx="3964892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390 respuestas (97.3%) respecto al total de 401.</a:t>
              </a:r>
            </a:p>
          </p:txBody>
        </p:sp>
      </p:grpSp>
      <p:pic>
        <p:nvPicPr>
          <p:cNvPr id="3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¿Han aumentado, disminuido o se mantienen igual los comentarios discriminatorios hacia personas refugiadas respecto al año pasado?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2553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703856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798217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050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425533" y="4316001"/>
              <a:ext cx="6556644" cy="354628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425533" y="3921969"/>
              <a:ext cx="6174704" cy="354628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425533" y="3121966"/>
              <a:ext cx="5131287" cy="354628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425533" y="2727935"/>
              <a:ext cx="4965226" cy="354628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425533" y="1927932"/>
              <a:ext cx="1425357" cy="354628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425533" y="1533901"/>
              <a:ext cx="1973359" cy="354628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7994039" y="4490556"/>
              <a:ext cx="148262" cy="53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7617041" y="4048655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47.1%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573624" y="3296413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39.1%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6407563" y="2854621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37.9%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2867694" y="2102379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10.9%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3410753" y="1660948"/>
              <a:ext cx="14826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67595" y="4253816"/>
              <a:ext cx="795307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Han aumentado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06067" y="3035280"/>
              <a:ext cx="956835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 mantienen igual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592589" y="1865639"/>
              <a:ext cx="770314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Han disminuido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1347523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595827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87414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1152472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28" name="rc27"/>
            <p:cNvSpPr/>
            <p:nvPr/>
          </p:nvSpPr>
          <p:spPr>
            <a:xfrm>
              <a:off x="5424644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7091341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tx29"/>
            <p:cNvSpPr/>
            <p:nvPr/>
          </p:nvSpPr>
          <p:spPr>
            <a:xfrm>
              <a:off x="5711169" y="5422840"/>
              <a:ext cx="1308062" cy="1155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Lurigancho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7377866" y="5449644"/>
              <a:ext cx="181092" cy="88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7590657" y="5716935"/>
              <a:ext cx="3964892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390 respuestas (96.8%) respecto al total de 403.</a:t>
              </a:r>
            </a:p>
          </p:txBody>
        </p:sp>
      </p:grpSp>
      <p:pic>
        <p:nvPicPr>
          <p:cNvPr id="3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¿Han aumentado, disminuido o se mantienen igual los comentarios discriminatorios hacia personas refugiadas respecto al año pasado?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2553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703856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798217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050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425533" y="4316001"/>
              <a:ext cx="6737102" cy="354628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425533" y="3921969"/>
              <a:ext cx="6727687" cy="354628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425533" y="3121966"/>
              <a:ext cx="4872369" cy="354628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425533" y="2727935"/>
              <a:ext cx="5587401" cy="354628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425533" y="1927932"/>
              <a:ext cx="1503817" cy="354628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425533" y="1533901"/>
              <a:ext cx="798200" cy="354628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8179440" y="4490447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51.4%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8170024" y="4048691"/>
              <a:ext cx="210040" cy="53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51.3%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314706" y="3296341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37.2%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7029738" y="285454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42.6%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2946154" y="2102741"/>
              <a:ext cx="210040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11.5%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2237241" y="1660514"/>
              <a:ext cx="16884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6.1%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67595" y="4253816"/>
              <a:ext cx="795307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Han aumentado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06067" y="3035280"/>
              <a:ext cx="956835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 mantienen igual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592589" y="1865639"/>
              <a:ext cx="770314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Han disminuido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1347523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595827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87414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1152472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28" name="rc27"/>
            <p:cNvSpPr/>
            <p:nvPr/>
          </p:nvSpPr>
          <p:spPr>
            <a:xfrm>
              <a:off x="4975535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6480874" y="5387945"/>
              <a:ext cx="214416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tx29"/>
            <p:cNvSpPr/>
            <p:nvPr/>
          </p:nvSpPr>
          <p:spPr>
            <a:xfrm>
              <a:off x="5262060" y="5446993"/>
              <a:ext cx="1146705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Martín de Porres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6767399" y="5446993"/>
              <a:ext cx="1240668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Miraflores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7590657" y="5716935"/>
              <a:ext cx="3964892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448 respuestas (97.8%) respecto al total de 458.</a:t>
              </a:r>
            </a:p>
          </p:txBody>
        </p:sp>
      </p:grpSp>
      <p:pic>
        <p:nvPicPr>
          <p:cNvPr id="3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¿Han aumentado, disminuido o se mantienen igual los comentarios discriminatorios hacia personas refugiadas respecto al año pasado?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2553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703856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798217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050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425533" y="4316001"/>
              <a:ext cx="7376225" cy="354628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425533" y="3921969"/>
              <a:ext cx="6628695" cy="354628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425533" y="3121966"/>
              <a:ext cx="4728349" cy="354628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425533" y="2727935"/>
              <a:ext cx="4899470" cy="354628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425533" y="1927932"/>
              <a:ext cx="1008714" cy="354628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425533" y="1533901"/>
              <a:ext cx="1585122" cy="354628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8818562" y="4490375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56.2%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8071033" y="4048763"/>
              <a:ext cx="210040" cy="53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50.5%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170686" y="3296305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36.1%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6341808" y="2854584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37.4%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2447755" y="2102741"/>
              <a:ext cx="16884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7.7%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3027460" y="1660550"/>
              <a:ext cx="210040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12.1%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67595" y="4253816"/>
              <a:ext cx="795307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Han aumentado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06067" y="3035280"/>
              <a:ext cx="956835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 mantienen igual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592589" y="1865639"/>
              <a:ext cx="770314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Han disminuido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1347523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595827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874149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1152472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28" name="rc27"/>
            <p:cNvSpPr/>
            <p:nvPr/>
          </p:nvSpPr>
          <p:spPr>
            <a:xfrm>
              <a:off x="5632836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6500993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tx29"/>
            <p:cNvSpPr/>
            <p:nvPr/>
          </p:nvSpPr>
          <p:spPr>
            <a:xfrm>
              <a:off x="5919361" y="5447111"/>
              <a:ext cx="509522" cy="91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Chorrillos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6787518" y="5446993"/>
              <a:ext cx="563249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Los Olivos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7590657" y="5716935"/>
              <a:ext cx="3964892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390 respuestas (97.3%) respecto al total de 401.</a:t>
              </a:r>
            </a:p>
          </p:txBody>
        </p:sp>
      </p:grpSp>
      <p:pic>
        <p:nvPicPr>
          <p:cNvPr id="3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¿Recuerda haber visto mensajes que promuevan solidaridad con personas refugiadas?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776853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933291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89728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46165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776853" y="1639697"/>
              <a:ext cx="5172355" cy="76696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776853" y="2962046"/>
              <a:ext cx="7373357" cy="76696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776853" y="4284396"/>
              <a:ext cx="80036" cy="76696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tx11"/>
            <p:cNvSpPr/>
            <p:nvPr/>
          </p:nvSpPr>
          <p:spPr>
            <a:xfrm>
              <a:off x="6967145" y="1982730"/>
              <a:ext cx="224201" cy="806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41%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9175621" y="3304916"/>
              <a:ext cx="317622" cy="80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58.4%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1877316" y="4627266"/>
              <a:ext cx="255323" cy="80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0.6%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418720" y="4590883"/>
              <a:ext cx="1289809" cy="1248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Prefiere no responder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1538066" y="3295164"/>
              <a:ext cx="170464" cy="981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1582537" y="1969949"/>
              <a:ext cx="125992" cy="1010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Sí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1694254" y="5529500"/>
              <a:ext cx="165199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4818907" y="5529277"/>
              <a:ext cx="228767" cy="82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7975344" y="5529500"/>
              <a:ext cx="228767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11131781" y="5529891"/>
              <a:ext cx="228767" cy="817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7177360" y="5684164"/>
              <a:ext cx="4352884" cy="1151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1.262 respuestas (100%) respecto al total de 1.262.</a:t>
              </a:r>
            </a:p>
          </p:txBody>
        </p:sp>
      </p:grpSp>
      <p:pic>
        <p:nvPicPr>
          <p:cNvPr id="25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Si respondió sí: ¿Dónde vio o escuchó esos mensajes?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800142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949042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97943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46843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800142" y="1372352"/>
              <a:ext cx="8259011" cy="266769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800142" y="1832300"/>
              <a:ext cx="3410801" cy="266769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800142" y="2292247"/>
              <a:ext cx="657797" cy="266769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800142" y="2752195"/>
              <a:ext cx="2143932" cy="266769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800142" y="3212143"/>
              <a:ext cx="1120691" cy="266769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800142" y="3672091"/>
              <a:ext cx="1145054" cy="266769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800142" y="4132039"/>
              <a:ext cx="2436286" cy="266769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800142" y="4591987"/>
              <a:ext cx="1315594" cy="266769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800142" y="5051934"/>
              <a:ext cx="682160" cy="266769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10083744" y="1466488"/>
              <a:ext cx="307376" cy="781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65.6%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5235533" y="1926488"/>
              <a:ext cx="307376" cy="780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27.1%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2477706" y="2386436"/>
              <a:ext cx="247087" cy="780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5.2%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3961432" y="2846966"/>
              <a:ext cx="216968" cy="774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2940601" y="3306226"/>
              <a:ext cx="247087" cy="78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8.9%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2964964" y="3766332"/>
              <a:ext cx="247087" cy="78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9.1%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4261019" y="4226280"/>
              <a:ext cx="307376" cy="78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19.3%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140327" y="4686175"/>
              <a:ext cx="307376" cy="780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10.4%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502069" y="5146176"/>
              <a:ext cx="247087" cy="78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5.4%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484825" y="5134625"/>
              <a:ext cx="246992" cy="962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Otro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18720" y="4582718"/>
              <a:ext cx="1313098" cy="1196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Instituciones públicas o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1061223" y="4721925"/>
              <a:ext cx="670594" cy="117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municipales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623731" y="4190482"/>
              <a:ext cx="1108087" cy="120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Amigos o familiares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52913" y="3687503"/>
              <a:ext cx="1178904" cy="949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Afiches o carteles en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729337" y="3799983"/>
              <a:ext cx="1002481" cy="1196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espacios públicos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96359" y="3228548"/>
              <a:ext cx="1235459" cy="939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Eventos o actividades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011862" y="3366018"/>
              <a:ext cx="719956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comunitarias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637683" y="2837180"/>
              <a:ext cx="1094134" cy="939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Internet / sitios web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399993" y="2377356"/>
              <a:ext cx="331824" cy="93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Radio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160070" y="1915548"/>
              <a:ext cx="571748" cy="956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Televisión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870599" y="1457337"/>
              <a:ext cx="861218" cy="939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Redes sociales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717542" y="5529500"/>
              <a:ext cx="165199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4834659" y="5529277"/>
              <a:ext cx="228767" cy="82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7983559" y="5529500"/>
              <a:ext cx="228767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11132460" y="5529891"/>
              <a:ext cx="228767" cy="817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7217773" y="5684164"/>
              <a:ext cx="4312471" cy="1151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múltiple. 517 respuestas (41%) respecto al total de 1.262.</a:t>
              </a:r>
            </a:p>
          </p:txBody>
        </p:sp>
      </p:grpSp>
      <p:pic>
        <p:nvPicPr>
          <p:cNvPr id="46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¿Ha participado en alguna actividad que promueva la integración de las personas refugiadas?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220859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3723137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6225415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8727693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1229971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220859" y="1639697"/>
              <a:ext cx="951738" cy="76696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220859" y="2962046"/>
              <a:ext cx="8993924" cy="76696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220859" y="4284396"/>
              <a:ext cx="63449" cy="76696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2193023" y="1982730"/>
              <a:ext cx="255323" cy="806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9.5%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10240194" y="3304916"/>
              <a:ext cx="317622" cy="80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89.9%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1304734" y="4627266"/>
              <a:ext cx="255323" cy="80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0.6%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418720" y="4617188"/>
              <a:ext cx="733815" cy="98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 recuerda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982072" y="3295164"/>
              <a:ext cx="170464" cy="981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1026543" y="1969949"/>
              <a:ext cx="125992" cy="1010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Sí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1138260" y="5529500"/>
              <a:ext cx="165199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3608754" y="5529277"/>
              <a:ext cx="228767" cy="82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6111032" y="5529500"/>
              <a:ext cx="228767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8613310" y="5529891"/>
              <a:ext cx="228767" cy="817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11083803" y="5529500"/>
              <a:ext cx="292335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177360" y="5684164"/>
              <a:ext cx="4352884" cy="1151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1.262 respuestas (100%) respecto al total de 1.262.</a:t>
              </a:r>
            </a:p>
          </p:txBody>
        </p:sp>
      </p:grpSp>
      <p:pic>
        <p:nvPicPr>
          <p:cNvPr id="27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¿Sabe qué es ACNUR?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657508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3296522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5935535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8574549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1213563" y="1229768"/>
              <a:ext cx="0" cy="4231519"/>
            </a:xfrm>
            <a:custGeom>
              <a:avLst/>
              <a:pathLst>
                <a:path w="0" h="4231519">
                  <a:moveTo>
                    <a:pt x="0" y="42315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657508" y="1826028"/>
              <a:ext cx="326217" cy="111558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657508" y="3749446"/>
              <a:ext cx="10229837" cy="111558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tx11"/>
            <p:cNvSpPr/>
            <p:nvPr/>
          </p:nvSpPr>
          <p:spPr>
            <a:xfrm>
              <a:off x="1004151" y="2343426"/>
              <a:ext cx="255323" cy="805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3.1%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10912755" y="4266570"/>
              <a:ext cx="317622" cy="80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96.9%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418720" y="4256873"/>
              <a:ext cx="170464" cy="981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463192" y="2330590"/>
              <a:ext cx="125992" cy="1010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Sí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574908" y="5529500"/>
              <a:ext cx="165199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3182138" y="5529277"/>
              <a:ext cx="228767" cy="82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5821152" y="5529500"/>
              <a:ext cx="228767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8460165" y="5529891"/>
              <a:ext cx="228767" cy="817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1067395" y="5529500"/>
              <a:ext cx="292335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7177360" y="5684164"/>
              <a:ext cx="4352884" cy="1151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1.262 respuestas (100%) respecto al total de 1.262.</a:t>
              </a:r>
            </a:p>
          </p:txBody>
        </p:sp>
      </p:grpSp>
      <p:pic>
        <p:nvPicPr>
          <p:cNvPr id="24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¿El trabajo de ACNUR en el Perú tiene un impacto positivo?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34074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5009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583969"/>
              <a:ext cx="321601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4341489"/>
              <a:ext cx="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849179"/>
              <a:ext cx="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606698"/>
              <a:ext cx="2338921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3114389"/>
              <a:ext cx="6432033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871908"/>
              <a:ext cx="584730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379599"/>
              <a:ext cx="321601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2137118"/>
              <a:ext cx="2338921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644809"/>
              <a:ext cx="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618057" y="1402328"/>
              <a:ext cx="2338921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4845935" y="4680997"/>
              <a:ext cx="14826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3973782" y="3674226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18.2%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8061952" y="3211562"/>
              <a:ext cx="148262" cy="53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7482164" y="2939581"/>
              <a:ext cx="210040" cy="5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45.5%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845935" y="2476627"/>
              <a:ext cx="14826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973782" y="2204646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18.2%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973782" y="1469856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18.2%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726045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7942062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1158079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37" name="rc36"/>
            <p:cNvSpPr/>
            <p:nvPr/>
          </p:nvSpPr>
          <p:spPr>
            <a:xfrm>
              <a:off x="5520906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7187603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tx38"/>
            <p:cNvSpPr/>
            <p:nvPr/>
          </p:nvSpPr>
          <p:spPr>
            <a:xfrm>
              <a:off x="5807431" y="5422840"/>
              <a:ext cx="1308062" cy="1155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Lurigancho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7474128" y="5449644"/>
              <a:ext cx="181092" cy="88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7717793" y="5716935"/>
              <a:ext cx="383775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15 respuestas (3.7%) respecto al total de 403.</a:t>
              </a:r>
            </a:p>
          </p:txBody>
        </p:sp>
      </p:grpSp>
      <p:pic>
        <p:nvPicPr>
          <p:cNvPr id="44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¿El trabajo de ACNUR en el Perú tiene un impacto positivo?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030070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6442083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8854095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4583969"/>
              <a:ext cx="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4341489"/>
              <a:ext cx="742157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849179"/>
              <a:ext cx="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3606698"/>
              <a:ext cx="222647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3114389"/>
              <a:ext cx="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871908"/>
              <a:ext cx="222647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2379599"/>
              <a:ext cx="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2137118"/>
              <a:ext cx="4452946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618057" y="1644809"/>
              <a:ext cx="964805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1618057" y="1402328"/>
              <a:ext cx="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tx19"/>
            <p:cNvSpPr/>
            <p:nvPr/>
          </p:nvSpPr>
          <p:spPr>
            <a:xfrm>
              <a:off x="2373723" y="4409523"/>
              <a:ext cx="16884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7.7%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3861334" y="3674299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23.1%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861334" y="293950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23.1%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6087807" y="220471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46.2%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11281265" y="1741981"/>
              <a:ext cx="189459" cy="53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922041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6334054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8746066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1128061" y="5075244"/>
              <a:ext cx="276094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37" name="rc36"/>
            <p:cNvSpPr/>
            <p:nvPr/>
          </p:nvSpPr>
          <p:spPr>
            <a:xfrm>
              <a:off x="5071797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6577136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tx38"/>
            <p:cNvSpPr/>
            <p:nvPr/>
          </p:nvSpPr>
          <p:spPr>
            <a:xfrm>
              <a:off x="5358322" y="5446993"/>
              <a:ext cx="1146705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Martín de Porres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6863661" y="5446993"/>
              <a:ext cx="1240668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Miraflores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7717793" y="5716935"/>
              <a:ext cx="383775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15 respuestas (3.3%) respecto al total de 458.</a:t>
              </a:r>
            </a:p>
          </p:txBody>
        </p:sp>
      </p:grpSp>
      <p:pic>
        <p:nvPicPr>
          <p:cNvPr id="44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¿El trabajo de ACNUR en el Perú tiene un impacto positivo?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8057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34074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50091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610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8057" y="4583969"/>
              <a:ext cx="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8057" y="4341489"/>
              <a:ext cx="257281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8057" y="3849179"/>
              <a:ext cx="321601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8057" y="3606698"/>
              <a:ext cx="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8057" y="3114389"/>
              <a:ext cx="6432033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8057" y="2871908"/>
              <a:ext cx="771844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8057" y="2379599"/>
              <a:ext cx="3216016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8057" y="2137118"/>
              <a:ext cx="2572813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8057" y="1644809"/>
              <a:ext cx="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618057" y="1402328"/>
              <a:ext cx="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4202732" y="4409089"/>
              <a:ext cx="14826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4845935" y="3946207"/>
              <a:ext cx="14826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8061952" y="3211562"/>
              <a:ext cx="148262" cy="53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9348359" y="2939472"/>
              <a:ext cx="148262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60%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845935" y="2476627"/>
              <a:ext cx="14826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4202732" y="2204718"/>
              <a:ext cx="14826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840993" y="4469285"/>
              <a:ext cx="714434" cy="82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en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971361" y="4589604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803612" y="3794463"/>
              <a:ext cx="751815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 desacuerdo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586204" y="2999432"/>
              <a:ext cx="96922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 de acuerdo ni en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71361" y="3120023"/>
              <a:ext cx="584066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desacuerdo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977637" y="2324992"/>
              <a:ext cx="57779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 acuerdo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06067" y="1590202"/>
              <a:ext cx="1149359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Totalmente de acuerdo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540047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726045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7942062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1158079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36" name="rc35"/>
            <p:cNvSpPr/>
            <p:nvPr/>
          </p:nvSpPr>
          <p:spPr>
            <a:xfrm>
              <a:off x="5729098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6597255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tx37"/>
            <p:cNvSpPr/>
            <p:nvPr/>
          </p:nvSpPr>
          <p:spPr>
            <a:xfrm>
              <a:off x="6015623" y="5447111"/>
              <a:ext cx="509522" cy="91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Chorrillos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6883780" y="5446993"/>
              <a:ext cx="563249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Los Olivos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7781361" y="5716935"/>
              <a:ext cx="3774188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9 respuestas (2.2%) respecto al total de 401.</a:t>
              </a:r>
            </a:p>
          </p:txBody>
        </p:sp>
      </p:grpSp>
      <p:pic>
        <p:nvPicPr>
          <p:cNvPr id="43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En su opinión, ¿quiénes son los principales beneficiarios de las actividades de ACNUR en el Perú?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1782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29830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4787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5925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1782" y="4583969"/>
              <a:ext cx="643609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1782" y="4341489"/>
              <a:ext cx="3510597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1782" y="3849179"/>
              <a:ext cx="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1782" y="3606698"/>
              <a:ext cx="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1782" y="3114389"/>
              <a:ext cx="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1782" y="2871908"/>
              <a:ext cx="234039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1782" y="2379599"/>
              <a:ext cx="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1782" y="2137118"/>
              <a:ext cx="3510597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1782" y="1644809"/>
              <a:ext cx="643609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611782" y="1402328"/>
              <a:ext cx="3510597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8059738" y="4681142"/>
              <a:ext cx="148262" cy="53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5139183" y="4409089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27.3%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3968984" y="2939436"/>
              <a:ext cx="210040" cy="53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18.2%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5139183" y="220471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27.3%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8059738" y="1741981"/>
              <a:ext cx="148262" cy="53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5139183" y="146992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27.3%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592370" y="4508189"/>
              <a:ext cx="956781" cy="1037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 sabe / No opina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691907" y="3713321"/>
              <a:ext cx="857245" cy="103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Principalmente la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741511" y="3854923"/>
              <a:ext cx="80764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comunidad local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06067" y="2915616"/>
              <a:ext cx="1143084" cy="106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Tanto refugiados como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548932" y="3038609"/>
              <a:ext cx="1000219" cy="1037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comunidad local por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1313026" y="3158163"/>
              <a:ext cx="236125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igual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09942" y="2243741"/>
              <a:ext cx="739209" cy="103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Principalmente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8564" y="2361877"/>
              <a:ext cx="1130587" cy="106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refugiados y migrantes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685577" y="1505349"/>
              <a:ext cx="863575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Solo refugiados y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058455" y="1628233"/>
              <a:ext cx="490696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migrantes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33771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4721801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7939848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11157896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39" name="rc38"/>
            <p:cNvSpPr/>
            <p:nvPr/>
          </p:nvSpPr>
          <p:spPr>
            <a:xfrm>
              <a:off x="5517768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7184465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5804293" y="5422840"/>
              <a:ext cx="1308062" cy="1155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Lurigancho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470990" y="5449644"/>
              <a:ext cx="181092" cy="88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7717793" y="5716935"/>
              <a:ext cx="383775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15 respuestas (3.7%) respecto al total de 403.</a:t>
              </a:r>
            </a:p>
          </p:txBody>
        </p:sp>
      </p:grpSp>
      <p:pic>
        <p:nvPicPr>
          <p:cNvPr id="46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En su opinión, ¿quiénes son los principales beneficiarios de las actividades de ACNUR en el Perú?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1782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02531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6438854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8852389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1265925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1782" y="4583969"/>
              <a:ext cx="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1782" y="4341489"/>
              <a:ext cx="742626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1782" y="3849179"/>
              <a:ext cx="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1782" y="3606698"/>
              <a:ext cx="742626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1782" y="3114389"/>
              <a:ext cx="9654143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1782" y="2871908"/>
              <a:ext cx="222787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1782" y="2379599"/>
              <a:ext cx="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1782" y="2137118"/>
              <a:ext cx="2227879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611782" y="1644809"/>
              <a:ext cx="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1611782" y="1402328"/>
              <a:ext cx="3713132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tx19"/>
            <p:cNvSpPr/>
            <p:nvPr/>
          </p:nvSpPr>
          <p:spPr>
            <a:xfrm>
              <a:off x="2367916" y="4409523"/>
              <a:ext cx="16884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7.7%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2367916" y="3674733"/>
              <a:ext cx="168842" cy="52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7.7%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1281082" y="3211562"/>
              <a:ext cx="189459" cy="53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56464" y="293950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23.1%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56464" y="2204718"/>
              <a:ext cx="210040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23.1%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5341717" y="1469892"/>
              <a:ext cx="210040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38.5%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592370" y="4508189"/>
              <a:ext cx="956781" cy="1037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 sabe / No opina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691907" y="3713321"/>
              <a:ext cx="857245" cy="103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Principalmente la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741511" y="3854923"/>
              <a:ext cx="80764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comunidad local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406067" y="2915616"/>
              <a:ext cx="1143084" cy="106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Tanto refugiados como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548932" y="3038609"/>
              <a:ext cx="1000219" cy="1037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comunidad local por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313026" y="3158163"/>
              <a:ext cx="236125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igual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809942" y="2243741"/>
              <a:ext cx="739209" cy="103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Principalmente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18564" y="2361877"/>
              <a:ext cx="1130587" cy="106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refugiados y migrantes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685577" y="1505349"/>
              <a:ext cx="863575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Solo refugiados y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058455" y="1628233"/>
              <a:ext cx="490696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migrantes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533771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917289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6330825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8744360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11127878" y="5075244"/>
              <a:ext cx="276094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41" name="rc40"/>
            <p:cNvSpPr/>
            <p:nvPr/>
          </p:nvSpPr>
          <p:spPr>
            <a:xfrm>
              <a:off x="5068659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6573999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tx42"/>
            <p:cNvSpPr/>
            <p:nvPr/>
          </p:nvSpPr>
          <p:spPr>
            <a:xfrm>
              <a:off x="5355184" y="5446993"/>
              <a:ext cx="1146705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Martín de Porres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6860524" y="5446993"/>
              <a:ext cx="1240668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San Juan de Miraflores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7717793" y="5716935"/>
              <a:ext cx="3837756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15 respuestas (3.3%) respecto al total de 458.</a:t>
              </a:r>
            </a:p>
          </p:txBody>
        </p:sp>
      </p:grpSp>
      <p:pic>
        <p:nvPicPr>
          <p:cNvPr id="48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50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En su opinión, ¿quiénes son los principales beneficiarios de las actividades de ACNUR en el Perú?</a:t>
            </a:r>
          </a:p>
        </p:txBody>
      </p:sp>
      <p:grpSp>
        <p:nvGrpSpPr>
          <p:cNvPr id="3" name="prosecnur:slide_1:plot"/>
          <p:cNvGrpSpPr/>
          <p:nvPr/>
        </p:nvGrpSpPr>
        <p:grpSpPr>
          <a:xfrm rot="-0">
            <a:off x="317500" y="1103243"/>
            <a:ext cx="11440491" cy="4824000"/>
            <a:chOff x="317500" y="1103243"/>
            <a:chExt cx="11440491" cy="4824000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482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611782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29830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47878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265925" y="1191810"/>
              <a:ext cx="0" cy="3820909"/>
            </a:xfrm>
            <a:custGeom>
              <a:avLst/>
              <a:pathLst>
                <a:path w="0" h="3820909">
                  <a:moveTo>
                    <a:pt x="0" y="38209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611782" y="4583969"/>
              <a:ext cx="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11782" y="4341489"/>
              <a:ext cx="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611782" y="3849179"/>
              <a:ext cx="0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611782" y="3606698"/>
              <a:ext cx="257443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611782" y="3114389"/>
              <a:ext cx="321804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611782" y="2871908"/>
              <a:ext cx="2574438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611782" y="2379599"/>
              <a:ext cx="6436095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611782" y="2137118"/>
              <a:ext cx="0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611782" y="1644809"/>
              <a:ext cx="3218047" cy="218232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611782" y="1402328"/>
              <a:ext cx="7723314" cy="218232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4198081" y="3674299"/>
              <a:ext cx="14826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4841691" y="3211417"/>
              <a:ext cx="14826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4198081" y="2939508"/>
              <a:ext cx="148262" cy="5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8059738" y="2476771"/>
              <a:ext cx="148262" cy="53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841691" y="1741837"/>
              <a:ext cx="148262" cy="5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9346958" y="1469892"/>
              <a:ext cx="148262" cy="53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3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60%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592370" y="4508189"/>
              <a:ext cx="956781" cy="1037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 sabe / No opina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691907" y="3713321"/>
              <a:ext cx="857245" cy="103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Principalmente la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741511" y="3854923"/>
              <a:ext cx="807640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comunidad local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06067" y="2915616"/>
              <a:ext cx="1143084" cy="106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Tanto refugiados como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548932" y="3038609"/>
              <a:ext cx="1000219" cy="1037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comunidad local por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1313026" y="3158163"/>
              <a:ext cx="236125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igual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09942" y="2243741"/>
              <a:ext cx="739209" cy="103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Principalmente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8564" y="2361877"/>
              <a:ext cx="1130587" cy="106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refugiados y migrantes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685577" y="1505349"/>
              <a:ext cx="863575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Solo refugiados y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058455" y="1628233"/>
              <a:ext cx="490696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migrantes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533771" y="5075244"/>
              <a:ext cx="156021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4721801" y="5075033"/>
              <a:ext cx="216058" cy="77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7939848" y="5075244"/>
              <a:ext cx="216058" cy="77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11157896" y="5075613"/>
              <a:ext cx="216058" cy="77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39" name="rc38"/>
            <p:cNvSpPr/>
            <p:nvPr/>
          </p:nvSpPr>
          <p:spPr>
            <a:xfrm>
              <a:off x="5725960" y="5387945"/>
              <a:ext cx="214415" cy="214415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6594117" y="5387945"/>
              <a:ext cx="214415" cy="214415"/>
            </a:xfrm>
            <a:prstGeom prst="rect">
              <a:avLst/>
            </a:prstGeom>
            <a:solidFill>
              <a:srgbClr val="CBCBCB">
                <a:alpha val="100000"/>
              </a:srgbClr>
            </a:solidFill>
            <a:ln w="379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6012485" y="5447111"/>
              <a:ext cx="509522" cy="91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Chorrillos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6880642" y="5446993"/>
              <a:ext cx="563249" cy="914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Los Olivos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7781361" y="5716935"/>
              <a:ext cx="3774188" cy="109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selección única. 9 respuestas (2.2%) respecto al total de 401.</a:t>
              </a:r>
            </a:p>
          </p:txBody>
        </p:sp>
      </p:grpSp>
      <p:pic>
        <p:nvPicPr>
          <p:cNvPr id="46" name="PULSO PUCP footer logo" descr="PULSO PUCP"/>
          <p:cNvPicPr>
            <a:picLocks noGrp="1"/>
          </p:cNvPicPr>
          <p:nvPr>
            <p:ph/>
          </p:nvPr>
        </p:nvPicPr>
        <p:blipFill>
          <a:blip ns2:embed="rId2"/>
          <a:stretch>
            <a:fillRect/>
          </a:stretch>
        </p:blipFill>
        <p:spPr>
          <a:xfrm>
            <a:off x="420624" y="6108192"/>
            <a:ext cx="1398189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ns1="http://schemas.microsoft.com/office/thememl/2012/main" name="Office Theme">
  <a:themeElements>
    <a:clrScheme xmlns:a="http://schemas.openxmlformats.org/drawingml/2006/main" name="Custom 1">
      <a:dk1>
        <a:srgbClr val="1A1A1A"/>
      </a:dk1>
      <a:lt1>
        <a:sysClr val="window" lastClr="FFFFFF"/>
      </a:lt1>
      <a:dk2>
        <a:srgbClr val="1A1A1A"/>
      </a:dk2>
      <a:lt2>
        <a:srgbClr val="FFFFFF"/>
      </a:lt2>
      <a:accent1>
        <a:srgbClr val="0072BC"/>
      </a:accent1>
      <a:accent2>
        <a:srgbClr val="18375F"/>
      </a:accent2>
      <a:accent3>
        <a:srgbClr val="00B398"/>
      </a:accent3>
      <a:accent4>
        <a:srgbClr val="666666"/>
      </a:accent4>
      <a:accent5>
        <a:srgbClr val="EF4A60"/>
      </a:accent5>
      <a:accent6>
        <a:srgbClr val="FAEB00"/>
      </a:accent6>
      <a:hlink>
        <a:srgbClr val="0072BC"/>
      </a:hlink>
      <a:folHlink>
        <a:srgbClr val="0072BC"/>
      </a:folHlink>
    </a:clrScheme>
    <a:fontScheme xmlns:a="http://schemas.openxmlformats.org/drawingml/2006/main" name="UNHCR-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xmlns:a="http://schemas.openxmlformats.org/drawingml/2006/main"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800" b="1" i="0" u="none" strike="noStrike" dirty="0" smtClean="0">
            <a:solidFill>
              <a:srgbClr val="081F5C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ns1:themeFamily name="Presentación1" id="{B1CB6F6B-24A1-6F49-B872-82DD1AF8E1E6}" vid="{DD329C6C-F619-234E-8D9B-2B4F242E03A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205</TotalTime>
  <Words>1</Words>
  <Application>Microsoft Macintosh PowerPoint</Application>
  <PresentationFormat>Panorámica</PresentationFormat>
  <Paragraphs>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ESTUDIO DE OPINIÓN EN EL MARCO DE LA ACREDITACIÓN DE LA CARRERA DE COMUNICACIÓN PARA EL DESARROLLO DE LA PUCP</dc:title>
  <dc:creator>Por encargo de PULSO PUCP</dc:creator>
  <cp:keywords/>
  <cp:lastModifiedBy>gonzaloalmendariz</cp:lastModifiedBy>
  <cp:revision>73</cp:revision>
  <dcterms:created xsi:type="dcterms:W3CDTF">2025-07-16T05:29:30Z</dcterms:created>
  <dcterms:modified xsi:type="dcterms:W3CDTF">2026-06-25T11:12:54Z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16 de julio de 2025</vt:lpwstr>
  </property>
  <property fmtid="{D5CDD505-2E9C-101B-9397-08002B2CF9AE}" pid="3" name="output">
    <vt:lpwstr>pulsoreport::pptx_slides</vt:lpwstr>
  </property>
  <property fmtid="{D5CDD505-2E9C-101B-9397-08002B2CF9AE}" pid="4" name="params">
    <vt:lpwstr/>
  </property>
  <property fmtid="{D5CDD505-2E9C-101B-9397-08002B2CF9AE}" pid="5" name="subtitle">
    <vt:lpwstr>Informe Consolidado</vt:lpwstr>
  </property>
</Properties>
</file>