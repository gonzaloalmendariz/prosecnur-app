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feb657ef01a9ce117ddb336cc0cc9a66c4db272.png"/>
<Relationship Id="rId3" Type="http://schemas.openxmlformats.org/officeDocument/2006/relationships/image" Target="../media/978277cd0329c4af9360c13c8e3d11bf2db52476.png"/>
<Relationship Id="rId4" Type="http://schemas.openxmlformats.org/officeDocument/2006/relationships/image" Target="../media/017e2d6738d566b93d2e53b9d9c981e21e63c427.png"/>
<Relationship Id="rId5" Type="http://schemas.openxmlformats.org/officeDocument/2006/relationships/image" Target="../media/99c88974cef60a1c6ad6997439c0fba8722dd6c2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PARA EL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400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Ideas de referencia, en la línea de PULSO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idea dibujada con los recursos de la identidad y con contenido que calcula el motor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se propone, de dónde sale y dónde viviría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417320"/>
          <a:ext cx="11292840" cy="4114800"/>
        </p:xfrm>
        <a:graphic>
          <a:graphicData uri="http://schemas.openxmlformats.org/drawingml/2006/table">
            <a:tbl>
              <a:tblPr/>
              <a:tblGrid>
                <a:gridCol w="365760"/>
                <a:gridCol w="2926080"/>
                <a:gridCol w="3017520"/>
                <a:gridCol w="2194560"/>
                <a:gridCol w="1554480"/>
                <a:gridCol w="1188720"/>
              </a:tblGrid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#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Propuesta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idea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 calcula el motor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la app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Separadores sin cero y con más alternativas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Jerarquía de capítulos sin texto extra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Número y título del plan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Cifras destacadas de 1 a 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cifra destacada de III.2, en cualquier cantidad y posición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Cifras y detalle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rótulo corto por cifra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Bottom Two Box junto al Top Two Box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Cuántos están insatisfechos, sin sumar a ojo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columna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Aceptada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Peso de cada aspecto en la satisfacción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Qué importa, además de qué se evalúa bien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Todo, con un análisis nuevo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Tabla de significancia con su gráfico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diferencia y su intervalo, o la matriz de pares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Prueba y letras (ya existen)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Fila Total separada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referencia se distingue de los grupos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fila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Aceptada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 según los comentarios del 2026-10-08. La pregunta exacta en el pie se retiró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1: 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3 Y 6: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139696"/>
            <a:ext cx="376413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91734" y="213055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8151" y="2139696"/>
            <a:ext cx="104737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98151" y="2130552"/>
            <a:ext cx="10437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1866" y="2139696"/>
            <a:ext cx="2463842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1866" y="2130552"/>
            <a:ext cx="2460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02050" y="2139696"/>
            <a:ext cx="2016535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02050" y="2130552"/>
            <a:ext cx="2012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14928" y="2139696"/>
            <a:ext cx="1565572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14928" y="2130552"/>
            <a:ext cx="15655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715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272491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74498" y="2724912"/>
            <a:ext cx="2165638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74498" y="2715768"/>
            <a:ext cx="21619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6478" y="2724912"/>
            <a:ext cx="402941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36478" y="2715768"/>
            <a:ext cx="40257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62234" y="2724912"/>
            <a:ext cx="1118265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2234" y="2715768"/>
            <a:ext cx="11182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94461" y="26609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07339" y="24323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0998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3108960"/>
            <a:ext cx="450964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29009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72702" y="3108960"/>
            <a:ext cx="134557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72702" y="3099816"/>
            <a:ext cx="13419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4621" y="3108960"/>
            <a:ext cx="2538393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4621" y="3099816"/>
            <a:ext cx="2534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49356" y="3108960"/>
            <a:ext cx="1420127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49356" y="3099816"/>
            <a:ext cx="1416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65825" y="3108960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5825" y="3099816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021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1188" y="361188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526219" y="399592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23499" y="399592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3251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334256"/>
            <a:ext cx="15426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76004" y="4334256"/>
            <a:ext cx="380178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044224" y="43251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552525" y="4334256"/>
            <a:ext cx="316642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52525" y="4325112"/>
            <a:ext cx="31627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15296" y="4334256"/>
            <a:ext cx="2639300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15296" y="4325112"/>
            <a:ext cx="2635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50938" y="4334256"/>
            <a:ext cx="1129561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50938" y="4325112"/>
            <a:ext cx="11295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095214" y="42702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08092" y="40416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71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14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6634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91032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91947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74498" y="4919472"/>
            <a:ext cx="231474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74498" y="4910328"/>
            <a:ext cx="23110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5580" y="4919472"/>
            <a:ext cx="328390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485580" y="4910328"/>
            <a:ext cx="3280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65825" y="4919472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5825" y="4910328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94461" y="4855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7339" y="4626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52943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5303520"/>
            <a:ext cx="229570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51308" y="5303520"/>
            <a:ext cx="45548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57180" y="52943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703133" y="5303520"/>
            <a:ext cx="3392341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703133" y="5294376"/>
            <a:ext cx="3388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1816" y="5303520"/>
            <a:ext cx="2413388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091816" y="5294376"/>
            <a:ext cx="24097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501546" y="5303520"/>
            <a:ext cx="978953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501546" y="5294376"/>
            <a:ext cx="9789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32866" y="52395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45744" y="50109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71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14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4: 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9424"/>
            <a:ext cx="16421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9424"/>
            <a:ext cx="43181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9424"/>
            <a:ext cx="251909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9424"/>
            <a:ext cx="2037411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9424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52928"/>
            <a:ext cx="48533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52928"/>
            <a:ext cx="1020534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52928"/>
            <a:ext cx="241205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52928"/>
            <a:ext cx="1181094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52928"/>
            <a:ext cx="26759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8892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6032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56432"/>
            <a:ext cx="21773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56432"/>
            <a:ext cx="64589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56432"/>
            <a:ext cx="273316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56432"/>
            <a:ext cx="155573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56432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9936"/>
            <a:ext cx="11069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9936"/>
            <a:ext cx="48533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9936"/>
            <a:ext cx="278668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9936"/>
            <a:ext cx="1769812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9936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SIGNIFICANCIA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se grafica la diferencia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30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Cada grupo con su intervalo de 95 %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3035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misión?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9988" y="2286000"/>
            <a:ext cx="3566160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71158" y="2286000"/>
            <a:ext cx="423518" cy="1325880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957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793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14685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98302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33588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17205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49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610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45059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71158" y="2532888"/>
            <a:ext cx="1569928" cy="54864"/>
          </a:xfrm>
          <a:prstGeom prst="round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74713" y="2478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19050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14238" y="24323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04495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0819" y="3127248"/>
            <a:ext cx="1383857" cy="54864"/>
          </a:xfrm>
          <a:prstGeom prst="round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5403" y="3072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19050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67827" y="302666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023360"/>
            <a:ext cx="5394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intervalos se solapan (zona naranja). A simple vista parece que no hay diferencia.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2190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87668" y="1508760"/>
            <a:ext cx="5415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La diferencia con su intervalo de 95 %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87668" y="1746504"/>
            <a:ext cx="5415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menos estudiantes, en puntos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87668" y="2286000"/>
            <a:ext cx="5141671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8401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6762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64856" y="2286000"/>
            <a:ext cx="16459" cy="132588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3046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54846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38464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340264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23881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6256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092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05072" y="2834640"/>
            <a:ext cx="272410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292114" y="277977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5610" y="2359152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  [0.2 a 21.4]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96228" y="4023360"/>
            <a:ext cx="55074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intervalo de la diferencia no cruza el cero: es significativa (p = 0.043).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029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148072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eso el gráfico de significancia muestra la diferencia y su intervalo, no sólo los grupos. Con tres o más grupos, se comparan los pares y se corrige por comparaciones múltiples.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Fuentes: Schenker y Gentleman (2001), Cumming y Finch (2005), Gardner y Altman (1986), Newcombe (1998) y Wright, Klein y Wieczorek (2019). Intervalos de Wilson y Newcombe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TABLA DE LETRAS Y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perfil de egreso en tres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9582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1022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166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1606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0750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9622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B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9622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775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C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27775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9289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menos C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9289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94767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2066544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39572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1172" y="2395728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84524" y="2414016"/>
            <a:ext cx="431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20166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0750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71576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277977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9582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0166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0750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09981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145536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347472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9582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166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20750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79476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85876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9582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66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0750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7880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24281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9582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0166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43652" y="4242816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47004" y="4261104"/>
            <a:ext cx="330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56285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4626864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9582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0166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0750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946904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010912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9582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0166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20750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33095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539496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9582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20166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0750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71500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8766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5800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4162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3340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21596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1795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0157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6919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53953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22315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1493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312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69948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38310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250729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106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0468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9646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8465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58101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264633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64718" y="2496312"/>
            <a:ext cx="62850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761104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342241" y="2496312"/>
            <a:ext cx="621771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36762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88517" y="2496312"/>
            <a:ext cx="61899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16529" y="244144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153475" y="2880360"/>
            <a:ext cx="76456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20596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97510" y="2880360"/>
            <a:ext cx="75102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59783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625984" y="2880360"/>
            <a:ext cx="67113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880058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2619" y="3575304"/>
            <a:ext cx="55063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208897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87207" y="3575304"/>
            <a:ext cx="47696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38045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42405" y="3575304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70019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89035" y="3959352"/>
            <a:ext cx="62867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95177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22914" y="3959352"/>
            <a:ext cx="566551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924325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742405" y="3959352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870019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009577" y="4343400"/>
            <a:ext cx="65484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311663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702246" y="4343400"/>
            <a:ext cx="52308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981185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534355" y="4343400"/>
            <a:ext cx="450790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710392" y="428853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891923" y="4727448"/>
            <a:ext cx="60313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7178641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8834994" y="4727448"/>
            <a:ext cx="5782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125278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0831634" y="4727448"/>
            <a:ext cx="4420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0987507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785788" y="5111496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7118130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8631482" y="5111496"/>
            <a:ext cx="6373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8957523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0715088" y="5111496"/>
            <a:ext cx="4488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10880264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6785788" y="5495544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7118130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8664755" y="5495544"/>
            <a:ext cx="64798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8993546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0746599" y="5495544"/>
            <a:ext cx="46229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10916287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59893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mayor. Cada panel muestra la diferencia de un par con su intervalo. Punto lleno: diferencia significativa.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Prueba z entre cada par de públicos, con corrección de Bonferroni (α = 0.05). Base: 51 docentes, 109 estudiantes y 161 egresados (misión: 52, 172 y 178)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[IC 95 %]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39628" y="1463040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93708" y="22951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 [10.8 a 27.7]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39628" y="22951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93708" y="27523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 [0.2 a 21.4]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39628" y="27523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0.043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93708" y="35387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 [15.4 a 40.7]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39628" y="35387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93708" y="39959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[-16.1 a 10.2]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39628" y="39959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0.795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93708" y="47823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 [-4.9 a 12.7]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39628" y="47823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0.240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93708" y="52395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[-12.5 a 4.4]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39628" y="52395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0.524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Intervalo de Newcombe. Punto lleno: el intervalo no cruza el cero (prueba z, α = 0.05)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93708" y="22951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puntos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511028" y="22951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93708" y="27523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11028" y="27523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93708" y="35387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puntos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511028" y="35387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93708" y="39959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11028" y="39959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093708" y="47823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11028" y="47823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93708" y="52395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511028" y="52395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barra es el intervalo de 95 %: si no cruza el cero, la diferencia es significativa (α = 0.05)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825496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36308" y="3154680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6308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08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43316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43316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36308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08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3316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43316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0.882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50324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50324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0.904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 los seis pares, p ajustada por Bonferroni, α = 0.05 (la misma prueba del motor)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95351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43316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36308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243316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50324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según la prueba z entre cada par de públicos, con corrección por comparaciones múltiples (α = 0.05)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entre docentes y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001260" y="1527048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10988" y="1463040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7148" y="1527048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6876" y="14630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1588" y="1965960"/>
            <a:ext cx="5029200" cy="3401568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579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5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6377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4738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56961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7545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5906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8129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6490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871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707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10312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7356" y="2212848"/>
            <a:ext cx="2112264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9036" y="214884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993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76772" y="214884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8028" y="211226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532888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8028" y="2532888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2670048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79108" y="2779776"/>
            <a:ext cx="1207008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85532" y="2715768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895844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78524" y="2715768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29300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68028" y="2679192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99816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68028" y="3099816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1188" y="32369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863340" y="3346704"/>
            <a:ext cx="3017520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80276" y="3282696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90588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62756" y="3282696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13532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368028" y="3246120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666744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68028" y="3666744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3803904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76188" y="3936492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5604" y="3849624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26380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6772" y="3849624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87084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8028" y="3813048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233672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68028" y="4233672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4370832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85532" y="4503420"/>
            <a:ext cx="502920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87868" y="4416552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98180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84948" y="4416552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35724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68028" y="4379976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800600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368028" y="4800600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188" y="493776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87284" y="5070348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886700" y="498348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237476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7868" y="498348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98180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368028" y="494690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6692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«Significativa»: la prueba estadística indica que es poco probable que la distancia se deba al azar de quiénes respondieron. No dice si la diferencia es grande o importante.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versión técnica muestra el intervalo y la prueba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son quienes más conocen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89280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828800"/>
            <a:ext cx="394598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67496" y="188366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67004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30068" y="2606040"/>
            <a:ext cx="3755136" cy="420624"/>
          </a:xfrm>
          <a:prstGeom prst="rect">
            <a:avLst/>
          </a:prstGeom>
          <a:ln w="15875" cap="rnd" cmpd="sng">
            <a:solidFill>
              <a:srgbClr val="8E9DBD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6644" y="266090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4728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0068" y="3383280"/>
            <a:ext cx="3119234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40742" y="343814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422452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4160520"/>
            <a:ext cx="3111087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32595" y="421538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25996" y="456102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97319" y="3383280"/>
            <a:ext cx="20117" cy="1197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97319" y="3972154"/>
            <a:ext cx="2029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46036" y="370789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 entre ellos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0828" y="1508760"/>
            <a:ext cx="7315" cy="33832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39428" y="1737360"/>
            <a:ext cx="45720" cy="2011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0596" y="1691640"/>
            <a:ext cx="2563063" cy="21031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más que estudiantes y egresados, y la diferencia es significativa. 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también marcan alto, pero con 15 casos su diferencia no resulta significativa.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970" y="5047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09698" y="4983480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significativa con los demás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78958" y="50474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8686" y="4983480"/>
            <a:ext cx="207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38628" y="5321808"/>
            <a:ext cx="402336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punteada: base de menos de 30 casos.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La versión técnica muestra la matriz de pares con la prueba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no se trae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62946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138428" y="149047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oscuro a sangre y cuña diagonal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38428" y="178308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la firma visual del informe de referencia. PULSO ya tiene la suya: fondo claro, personas y público.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31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6888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73329" y="2589581"/>
            <a:ext cx="261518" cy="26151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138428" y="245059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bloques de texto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38428" y="274320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Limitaciones o recomendaciones en párrafos no salen de los datos. Si hacen falta, van en la ficha técnica o en el Word.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2918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4290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73329" y="3549701"/>
            <a:ext cx="261518" cy="26151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138428" y="341071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flecha de los factores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370332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decorativo. El peso de cada aspecto se lee mejor con puntos, como en la propuesta 4.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51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38912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3329" y="4509821"/>
            <a:ext cx="261518" cy="26151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138428" y="437083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Colores por factor y celdas de color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8428" y="466344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Rompen la paleta: en PULSO el color dice la respuesta, no el tema.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2026-10-08T08:56:37Z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