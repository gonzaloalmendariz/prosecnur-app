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506e20b9a51521ad4a3ccbae304a6da3da744055.png"/>
<Relationship Id="rId3" Type="http://schemas.openxmlformats.org/officeDocument/2006/relationships/image" Target="../media/934d73068fa4b38f2df0a4440b336764716bed4a.png"/>
<Relationship Id="rId4" Type="http://schemas.openxmlformats.org/officeDocument/2006/relationships/image" Target="../media/ec4a2ee55e3f740b404461fc364283575bbc0ec4.png"/>
<Relationship Id="rId5" Type="http://schemas.openxmlformats.org/officeDocument/2006/relationships/image" Target="../media/b0624f93f0901ddded26fc8da982b3bbf66f4aa7.png"/>
<Relationship Id="rId6" Type="http://schemas.openxmlformats.org/officeDocument/2006/relationships/image" Target="../media/d3d99fd3adf75ab4de86bcd84ee9b158c322781d.png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feb657ef01a9ce117ddb336cc0cc9a66c4db272.png"/>
<Relationship Id="rId3" Type="http://schemas.openxmlformats.org/officeDocument/2006/relationships/image" Target="../media/978277cd0329c4af9360c13c8e3d11bf2db52476.png"/>
<Relationship Id="rId4" Type="http://schemas.openxmlformats.org/officeDocument/2006/relationships/image" Target="../media/017e2d6738d566b93d2e53b9d9c981e21e63c427.png"/>
<Relationship Id="rId5" Type="http://schemas.openxmlformats.org/officeDocument/2006/relationships/image" Target="../media/99c88974cef60a1c6ad6997439c0fba8722dd6c2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1938528"/>
            <a:ext cx="923544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PARA EL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31520" y="2286000"/>
            <a:ext cx="10698480" cy="6400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Ideas de referencia, en la línea de PULSO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01752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idea dibujada con los recursos de la identidad y con contenido que calcula el motor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63040" y="3429000"/>
            <a:ext cx="923544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se propone, de dónde sale y dónde viviría</a:t>
            </a:r>
          </a:p>
        </p:txBody>
      </p:sp>
      <p:graphicFrame>
        <p:nvGraphicFramePr>
          <p:cNvPr id="5" name=""/>
          <p:cNvGraphicFramePr>
            <a:graphicFrameLocks noGrp="true"/>
          </p:cNvGraphicFramePr>
          <p:nvPr/>
        </p:nvGraphicFramePr>
        <p:xfrm rot="0">
          <a:off x="452628" y="1417320"/>
          <a:ext cx="11292840" cy="4114800"/>
        </p:xfrm>
        <a:graphic>
          <a:graphicData uri="http://schemas.openxmlformats.org/drawingml/2006/table">
            <a:tbl>
              <a:tblPr/>
              <a:tblGrid>
                <a:gridCol w="365760"/>
                <a:gridCol w="2926080"/>
                <a:gridCol w="3017520"/>
                <a:gridCol w="2194560"/>
                <a:gridCol w="1554480"/>
                <a:gridCol w="1188720"/>
              </a:tblGrid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#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Propuesta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idea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 calcula el motor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 escribe en la app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0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T>
                    <a:lnB algn="ctr" cmpd="sng" cap="flat" w="12700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Separadores sin cero y con más alternativas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Jerarquía de capítulos sin texto extra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Número y título del plan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Cifras destacadas de 1 a 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cifra destacada de III.2, en cualquier cantidad y posición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Cifras y detalle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 rótulo corto por cifra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Bottom Two Box junto al Top Two Box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Cuántos están insatisfechos, sin sumar a ojo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columna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Aceptada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Peso de cada aspecto en la satisfacción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Qué importa, además de qué se evalúa bien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Todo, con un análisis nuevo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Tabla de significancia con su gráfico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diferencia y su intervalo, o la matriz de pares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Prueba y letras (ya existen)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En evaluación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Fila Total separada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 referencia se distingue de los grupos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 la fila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5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Aceptada</a:t>
                      </a:r>
                    </a:p>
                  </a:txBody>
                  <a:tcPr anchor="ctr" marB="63500" marT="635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 según los comentarios del 2026-10-08. La pregunta exacta en el pie se retiró</a:t>
            </a:r>
          </a:p>
        </p:txBody>
      </p:sp>
      <p:sp>
        <p:nvSpPr>
          <p:cNvPr id="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474720"/>
            <a:ext cx="1280160" cy="1554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520440" y="3931920"/>
            <a:ext cx="36576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49040" y="3840480"/>
            <a:ext cx="8154619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49040" y="4389120"/>
            <a:ext cx="8154619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A: NÚMERO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377440" y="3904488"/>
            <a:ext cx="1005840" cy="365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4041648"/>
            <a:ext cx="8961120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709160"/>
            <a:ext cx="89611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B: RÓTULO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144000" y="3383280"/>
            <a:ext cx="2377440" cy="2377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0" i="0" b="1" u="none" strike="noStrike">
                <a:solidFill>
                  <a:srgbClr val="DCE2E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86000" y="3520440"/>
            <a:ext cx="548640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286000" y="3886200"/>
            <a:ext cx="6766560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86000" y="4526280"/>
            <a:ext cx="6766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Misión, propósitos, gestión y planificación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CAPÍTULO, VARIANTE C: NÚMERO DE FONDO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514600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834640"/>
            <a:ext cx="8077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60348" y="283464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3401568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1: SOBRIA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452628" y="2606040"/>
            <a:ext cx="54864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35508" y="2578608"/>
            <a:ext cx="8229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2852928"/>
            <a:ext cx="91440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35508" y="342900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entre los cuatro públicos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2: BARRA LATERAL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2331720"/>
            <a:ext cx="12191695" cy="1600200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2697480"/>
            <a:ext cx="146304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78508" y="2743200"/>
            <a:ext cx="27432" cy="8229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1388" y="2697480"/>
            <a:ext cx="822960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1388" y="3246120"/>
            <a:ext cx="82296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2: Características institucionales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331659" y="6291072"/>
            <a:ext cx="45720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SUBCAPÍTULO, ALTERNATIVA 3: BANDA CLARA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y los propósitos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  MISIÓN Y PROPÓSITOS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203704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16836" y="2176272"/>
            <a:ext cx="5900075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16836" y="2203704"/>
            <a:ext cx="58964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13253" y="2176272"/>
            <a:ext cx="12033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67934" y="2112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23860" y="2103120"/>
            <a:ext cx="4956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31252" y="1883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2862072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116836" y="2834640"/>
            <a:ext cx="463655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16836" y="2862072"/>
            <a:ext cx="46328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49735" y="2834640"/>
            <a:ext cx="138385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49735" y="2862072"/>
            <a:ext cx="13838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520440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16836" y="3493008"/>
            <a:ext cx="469672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116836" y="3520440"/>
            <a:ext cx="46930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09903" y="3493008"/>
            <a:ext cx="1323685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809903" y="3520440"/>
            <a:ext cx="13236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178808"/>
            <a:ext cx="15544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16836" y="4151376"/>
            <a:ext cx="559923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16836" y="4178808"/>
            <a:ext cx="559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12415" y="4151376"/>
            <a:ext cx="421173" cy="3291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602962" y="417880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83330" y="48188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893058" y="475488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398518" y="481888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08246" y="475488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503920" y="1920240"/>
            <a:ext cx="45720" cy="1737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705088" y="1874520"/>
            <a:ext cx="3198571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separadora: el antetítulo en coral, con el número del subcapítulo, marca dónde empieza.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3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1: SEPARADORES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separadores de capítulo y cuatro de subcapítulo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04388" y="150876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sin cero, grande y en coral, con un filete que lo separa del título.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2628" y="20208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04388" y="2130552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«Capítulo 2» pequeño en coral sobre un filete corto. El título manda.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642616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2628" y="2752344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Capítulo C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4388" y="2752344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número grande en azul muy claro, detrás y a la derecha, como marca de agua.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3264408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374136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1 y 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04388" y="3374136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general sin personas ni público: el número y el título en una línea, o junto a una barra coral.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2628" y="3886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3995928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3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04388" y="3995928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banda clara a lo ancho con el número y el título. Se lee como un corte menor.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50799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617720"/>
            <a:ext cx="25603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Subcapítulo 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104388" y="4617720"/>
            <a:ext cx="879927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lámina propia: la primera lámina del subcapítulo lo anuncia en su antetítulo.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número y el título salen del plan del informe: ninguna variante pide escribir texto nuevo</a:t>
            </a:r>
          </a:p>
        </p:txBody>
      </p:sp>
      <p:sp>
        <p:nvSpPr>
          <p:cNvPr id="2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frente a su gráfico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20574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217810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743200"/>
            <a:ext cx="4297680" cy="8572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5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60045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920490"/>
            <a:ext cx="4297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24628" y="1508760"/>
            <a:ext cx="7315" cy="44531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390388" y="1508760"/>
            <a:ext cx="651327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390388" y="1746504"/>
            <a:ext cx="651327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390388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40619" y="2240280"/>
            <a:ext cx="1463040" cy="3632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390388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647024" y="2589530"/>
            <a:ext cx="325663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409502" y="2882138"/>
            <a:ext cx="4494157" cy="38404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390388" y="2882138"/>
            <a:ext cx="2022772" cy="38404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junto a su gráfico, en mitades. Base: 178 egresados</a:t>
            </a:r>
          </a:p>
        </p:txBody>
      </p:sp>
      <p:sp>
        <p:nvSpPr>
          <p:cNvPr id="20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cifras con rótulos de largo distinto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01058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067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5274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4315358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15358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15358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155229" y="1691640"/>
            <a:ext cx="7315" cy="22529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36096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481670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8269529" y="2377440"/>
            <a:ext cx="3634130" cy="698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69529" y="3075940"/>
            <a:ext cx="363413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9529" y="3578860"/>
            <a:ext cx="363413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48006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2628" y="498348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queda arriba, el rótulo ocupa hasta dos líneas y el detalle siempre cae a la misma altura, aunque un rótulo sea más largo.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25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2: CIFRAS, DE 1 A 5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cifras, el máximo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81234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36118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98 %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docentes 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8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77 %, egresados 78 %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053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9769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918399" y="1812341"/>
            <a:ext cx="261518" cy="261518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/p:nvPr>
        </p:nvSpPr>
        <p:spPr>
          <a:xfrm>
            <a:off x="270625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0625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estudiantes reconoce la tutoría académica que ofrece la Unidad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625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los docentes, 83 %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05608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42768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263469" y="1812341"/>
            <a:ext cx="261518" cy="261518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051328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051328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 las competencias técnicas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51328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de los 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35067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48783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608540" y="1812341"/>
            <a:ext cx="261518" cy="261518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39639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31 %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9639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los egresados tiene el título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9639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Aunque el 98 % trabaja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95749" y="1691640"/>
            <a:ext cx="7315" cy="245999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2909" y="169164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9953610" y="1812341"/>
            <a:ext cx="261518" cy="26151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9741469" y="2377440"/>
            <a:ext cx="2162190" cy="53975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741469" y="2917190"/>
            <a:ext cx="216219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41469" y="3785870"/>
            <a:ext cx="216219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cuatro públicos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4709160"/>
            <a:ext cx="11451031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cinco, la cifra baja a 34 pt. Si un rótulo pide una línea más, todos los detalles bajan con él. Con seis o más, la información va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417 personas encuestadas en cuatro públicos</a:t>
            </a:r>
          </a:p>
        </p:txBody>
      </p:sp>
      <p:sp>
        <p:nvSpPr>
          <p:cNvPr id="3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PROPUESTAS 3 Y 6: BOTTOM TWO BOX Y FILA TOTAL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213055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025396" y="2139696"/>
            <a:ext cx="376413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91734" y="213055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98151" y="2139696"/>
            <a:ext cx="104737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98151" y="2130552"/>
            <a:ext cx="104371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1866" y="2139696"/>
            <a:ext cx="2463842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1866" y="2130552"/>
            <a:ext cx="24601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902050" y="2139696"/>
            <a:ext cx="2016535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02050" y="2130552"/>
            <a:ext cx="2012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914928" y="2139696"/>
            <a:ext cx="1565572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914928" y="2130552"/>
            <a:ext cx="15655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71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714939" y="213055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52628" y="24688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2628" y="27157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025396" y="272491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174498" y="2724912"/>
            <a:ext cx="2165638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174498" y="2715768"/>
            <a:ext cx="21619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336478" y="2724912"/>
            <a:ext cx="402941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36478" y="2715768"/>
            <a:ext cx="40257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362234" y="2724912"/>
            <a:ext cx="1118265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62234" y="2715768"/>
            <a:ext cx="111826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94461" y="26609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07339" y="24323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71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14939" y="271576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0998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025396" y="3108960"/>
            <a:ext cx="450964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929009" y="30998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72702" y="3108960"/>
            <a:ext cx="134557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472702" y="3099816"/>
            <a:ext cx="13419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814621" y="3108960"/>
            <a:ext cx="2538393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814621" y="3099816"/>
            <a:ext cx="25347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49356" y="3108960"/>
            <a:ext cx="1420127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49356" y="3099816"/>
            <a:ext cx="14164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65825" y="3108960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5825" y="3099816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571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309981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502152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61188" y="361188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526219" y="399592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623499" y="399592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3251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025396" y="4334256"/>
            <a:ext cx="15426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176004" y="4334256"/>
            <a:ext cx="380178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044224" y="43251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552525" y="4334256"/>
            <a:ext cx="316642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552525" y="4325112"/>
            <a:ext cx="316277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715296" y="4334256"/>
            <a:ext cx="2639300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715296" y="4325112"/>
            <a:ext cx="263564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50938" y="4334256"/>
            <a:ext cx="1129561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350938" y="4325112"/>
            <a:ext cx="11295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095214" y="42702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808092" y="40416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571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714939" y="432511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6634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52628" y="491032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025396" y="4919472"/>
            <a:ext cx="152760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174498" y="4919472"/>
            <a:ext cx="231474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174498" y="4910328"/>
            <a:ext cx="23110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485580" y="4919472"/>
            <a:ext cx="328390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485580" y="4910328"/>
            <a:ext cx="3280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765825" y="4919472"/>
            <a:ext cx="1714674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765825" y="4910328"/>
            <a:ext cx="17146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94461" y="4855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807339" y="4626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91032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529437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025396" y="5303520"/>
            <a:ext cx="229570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51308" y="5303520"/>
            <a:ext cx="455482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57180" y="52943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703133" y="5303520"/>
            <a:ext cx="3392341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703133" y="5294376"/>
            <a:ext cx="33886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91816" y="5303520"/>
            <a:ext cx="2413388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6091816" y="5294376"/>
            <a:ext cx="24097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501546" y="5303520"/>
            <a:ext cx="978953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501546" y="5294376"/>
            <a:ext cx="9789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132866" y="52395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45744" y="50109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571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714939" y="5294376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«De acuerdo» más «Totalmente de acuerdo». Bottom Two Box: las dos respuestas en desacuerdo. Base: 52 docentes y 172 estudiantes</a:t>
            </a:r>
          </a:p>
        </p:txBody>
      </p:sp>
      <p:sp>
        <p:nvSpPr>
          <p:cNvPr id="10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4: PESO EN LA SATISFACCIÓN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atención en la Unidad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17320"/>
            <a:ext cx="11451031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tan satisfecho está con cada aspecto de la atención?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526219" y="1801368"/>
            <a:ext cx="12344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623499" y="1801368"/>
            <a:ext cx="13258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Bottom Two Box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1801368"/>
            <a:ext cx="16459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Cuánto pesa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71954"/>
            <a:ext cx="67482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63447" y="2313432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173175" y="2240280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824228" y="224028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Trato del personal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28516" y="2249424"/>
            <a:ext cx="16421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9075" y="2249424"/>
            <a:ext cx="43181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83115" y="22402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17234" y="2249424"/>
            <a:ext cx="251909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17234" y="2240280"/>
            <a:ext cx="25154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666" y="2249424"/>
            <a:ext cx="2037411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32666" y="2240280"/>
            <a:ext cx="20337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266420" y="2249424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203309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16188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7973" y="21854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78163" y="19568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71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14939" y="2240280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2975458"/>
            <a:ext cx="5431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1774" y="2916936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1502" y="2843784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2422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Tiempo de atención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28516" y="2852928"/>
            <a:ext cx="485336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315" y="28437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610194" y="2852928"/>
            <a:ext cx="1020534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610194" y="2843784"/>
            <a:ext cx="101687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27071" y="2852928"/>
            <a:ext cx="2412050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27071" y="2843784"/>
            <a:ext cx="24083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035464" y="2852928"/>
            <a:ext cx="1181094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035464" y="2843784"/>
            <a:ext cx="1177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212900" y="2852928"/>
            <a:ext cx="26759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341213" y="278892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4092" y="256032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571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714939" y="2843784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3578962"/>
            <a:ext cx="4279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16559" y="3520440"/>
            <a:ext cx="128016" cy="12801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287" y="3447288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824228" y="3355848"/>
            <a:ext cx="219456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Claridad de la información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128516" y="3456432"/>
            <a:ext cx="21773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42595" y="3456432"/>
            <a:ext cx="64589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42595" y="3447288"/>
            <a:ext cx="6422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84833" y="3456432"/>
            <a:ext cx="273316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4833" y="3447288"/>
            <a:ext cx="27295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14345" y="3456432"/>
            <a:ext cx="1555733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14345" y="3447288"/>
            <a:ext cx="15520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266420" y="3456432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30069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42948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973" y="3392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78163" y="3163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571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714939" y="3447288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4059936"/>
            <a:ext cx="13716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efecto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824228" y="405079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128516" y="4059936"/>
            <a:ext cx="110697" cy="25603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35556" y="4059936"/>
            <a:ext cx="485336" cy="25603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156355" y="4050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17234" y="4059936"/>
            <a:ext cx="2786689" cy="25603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717234" y="4050792"/>
            <a:ext cx="278303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00265" y="4059936"/>
            <a:ext cx="1769812" cy="25603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500265" y="4050792"/>
            <a:ext cx="176615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266420" y="4059936"/>
            <a:ext cx="214079" cy="25603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176549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889428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367973" y="399592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78163" y="376732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571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714939" y="4050792"/>
            <a:ext cx="11430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A44A1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52628" y="452628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52628" y="4636008"/>
            <a:ext cx="3657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el peso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52628" y="4910328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peso indica qué parte de la satisfacción general explica cada aspecto, según una regresión lineal. Se reparte entre los aspectos con efecto significativo y suma 100 %.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539496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trato del personal es el aspecto de mayor peso. La infraestructura, aunque bien evaluada, no tiene efecto significativo.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129638" y="588873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39366" y="582472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446626" y="588873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556354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976214" y="588873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085942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264502" y="588873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230" y="582472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327490" y="588873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437218" y="582472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ficticias. Peso estimado con una regresión lineal de la satisfacción general sobre los aspectos evaluados</a:t>
            </a:r>
          </a:p>
        </p:txBody>
      </p:sp>
      <p:sp>
        <p:nvSpPr>
          <p:cNvPr id="9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SIGNIFICANCIA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qué se grafica la diferencia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30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 Cada grupo con su intervalo de 95 %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2628" y="1746504"/>
            <a:ext cx="530352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misión?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9988" y="2286000"/>
            <a:ext cx="3566160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871158" y="2286000"/>
            <a:ext cx="423518" cy="1325880"/>
          </a:xfrm>
          <a:prstGeom prst="rect">
            <a:avLst/>
          </a:prstGeom>
          <a:solidFill>
            <a:srgbClr val="FBE3D3">
              <a:alpha val="100000"/>
            </a:srgbClr>
          </a:solidFill>
          <a:ln w="3175" cap="rnd" cmpd="sng">
            <a:solidFill>
              <a:srgbClr val="FBE3D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6957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3793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14685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398302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33588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17205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5249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43610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1188" y="245059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871158" y="2532888"/>
            <a:ext cx="1569928" cy="54864"/>
          </a:xfrm>
          <a:prstGeom prst="round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74713" y="2478024"/>
            <a:ext cx="164592" cy="164592"/>
          </a:xfrm>
          <a:prstGeom prst="ellipse">
            <a:avLst/>
          </a:prstGeom>
          <a:solidFill>
            <a:srgbClr val="0B4F8C">
              <a:alpha val="100000"/>
            </a:srgbClr>
          </a:solidFill>
          <a:ln w="19050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14238" y="24323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3044952"/>
            <a:ext cx="1691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0819" y="3127248"/>
            <a:ext cx="1383857" cy="54864"/>
          </a:xfrm>
          <a:prstGeom prst="round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05403" y="3072384"/>
            <a:ext cx="164592" cy="164592"/>
          </a:xfrm>
          <a:prstGeom prst="ellipse">
            <a:avLst/>
          </a:prstGeom>
          <a:solidFill>
            <a:srgbClr val="2A9D8F">
              <a:alpha val="100000"/>
            </a:srgbClr>
          </a:solidFill>
          <a:ln w="19050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67827" y="302666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4023360"/>
            <a:ext cx="539496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intervalos se solapan (zona naranja). A simple vista parece que no hay diferencia.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21908" y="1508760"/>
            <a:ext cx="7315" cy="3291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87668" y="1508760"/>
            <a:ext cx="541599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 La diferencia con su intervalo de 95 %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487668" y="1746504"/>
            <a:ext cx="5415991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menos estudiantes, en puntos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87668" y="2286000"/>
            <a:ext cx="5141671" cy="132588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484010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167628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64856" y="2286000"/>
            <a:ext cx="16459" cy="132588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3046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054846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738464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+10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340264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23881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625682" y="2286000"/>
            <a:ext cx="7315" cy="132588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09299" y="365760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05072" y="2834640"/>
            <a:ext cx="272410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292114" y="277977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545610" y="2359152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  [0.2 a 21.4]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96228" y="4023360"/>
            <a:ext cx="55074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intervalo de la diferencia no cruza el cero: es significativa (p = 0.043).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2628" y="502920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52628" y="5148072"/>
            <a:ext cx="11451031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eso el gráfico de significancia muestra la diferencia y su intervalo, no sólo los grupos. Con tres o más grupos, se comparan los pares y se corrige por comparaciones múltiples.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Fuentes: Schenker y Gentleman (2001), Cumming y Finch (2005), Gardner y Altman (1986), Newcombe (1998) y Wright, Klein y Wieczorek (2019). Intervalos de Wilson y Newcombe</a:t>
            </a:r>
          </a:p>
        </p:txBody>
      </p:sp>
      <p:sp>
        <p:nvSpPr>
          <p:cNvPr id="4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TABLA DE LETRAS Y GRÁFICO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perfil de egreso en tres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0438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9582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1022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0166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16068" y="1417320"/>
            <a:ext cx="114300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07508" y="1655064"/>
            <a:ext cx="9601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9622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B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9622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7758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menos C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277758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59289" y="1417320"/>
            <a:ext cx="183581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menos C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59289" y="1655064"/>
            <a:ext cx="183581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2628" y="194767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61188" y="2066544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61188" y="239572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81172" y="2395728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84524" y="2414016"/>
            <a:ext cx="4318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20166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07508" y="239572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271576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61188" y="277977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9582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20166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207508" y="277977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309981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145536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347472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9582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20166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207508" y="347472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79476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858768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9582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20166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07508" y="3858768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2628" y="4178808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61188" y="4242816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9582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201668" y="4242816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43652" y="4242816"/>
            <a:ext cx="55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47004" y="4261104"/>
            <a:ext cx="330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2628" y="4562856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61188" y="4626864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9582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0166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07508" y="4626864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52628" y="4946904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010912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9582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20166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207508" y="5010912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330952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61188" y="5394960"/>
            <a:ext cx="26517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9582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20166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207508" y="5394960"/>
            <a:ext cx="960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52628" y="5715000"/>
            <a:ext cx="5715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48766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65800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34162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3340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921596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81795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0157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369198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539533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22315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11493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80312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69948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383102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250729" y="2020824"/>
            <a:ext cx="1652930" cy="3694176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1064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104681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996467" y="2020824"/>
            <a:ext cx="16459" cy="3694176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684657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581015" y="2020824"/>
            <a:ext cx="7315" cy="3694176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264633" y="5751576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464718" y="2496312"/>
            <a:ext cx="628508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761104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342241" y="2496312"/>
            <a:ext cx="621771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636762" y="244144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688517" y="2496312"/>
            <a:ext cx="61899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916529" y="244144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153475" y="2880360"/>
            <a:ext cx="76456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7520596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997510" y="2880360"/>
            <a:ext cx="75102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359783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625984" y="2880360"/>
            <a:ext cx="67113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880058" y="282549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952619" y="3575304"/>
            <a:ext cx="55063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208897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787207" y="3575304"/>
            <a:ext cx="47696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38045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0742405" y="3575304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0870019" y="352044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789035" y="3959352"/>
            <a:ext cx="62867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7095177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622914" y="3959352"/>
            <a:ext cx="566551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8924325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0742405" y="3959352"/>
            <a:ext cx="362993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0870019" y="3904488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7009577" y="4343400"/>
            <a:ext cx="65484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7311663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702246" y="4343400"/>
            <a:ext cx="523082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8981185" y="428853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10534355" y="4343400"/>
            <a:ext cx="450790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10710392" y="4288536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891923" y="4727448"/>
            <a:ext cx="60313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7178641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8834994" y="4727448"/>
            <a:ext cx="5782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125278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10831634" y="4727448"/>
            <a:ext cx="44203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10987507" y="4672584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6785788" y="5111496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7118130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8631482" y="5111496"/>
            <a:ext cx="6373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8957523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0715088" y="5111496"/>
            <a:ext cx="44882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10880264" y="505663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6785788" y="5495544"/>
            <a:ext cx="694496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7118130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8664755" y="5495544"/>
            <a:ext cx="647989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8993546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10746599" y="5495544"/>
            <a:ext cx="46229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10916287" y="5440680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452628" y="5989320"/>
            <a:ext cx="11451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mayor. Cada panel muestra la diferencia de un par con su intervalo. Punto lleno: diferencia significativa.</a:t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Prueba z entre cada par de públicos, con corrección de Bonferroni (α = 0.05). Base: 51 docentes, 109 estudiantes y 161 egresados (misión: 52, 172 y 178)</a:t>
            </a:r>
          </a:p>
        </p:txBody>
      </p:sp>
      <p:sp>
        <p:nvSpPr>
          <p:cNvPr id="13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 [IC 95 %]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39628" y="1463040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093708" y="22951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 [10.8 a 27.7]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739628" y="22951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093708" y="2752344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 [0.2 a 21.4]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739628" y="2752344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0.043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093708" y="35387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 [15.4 a 40.7]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739628" y="35387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&lt; 0.001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93708" y="3995928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[-16.1 a 10.2]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39628" y="3995928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0.795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093708" y="47823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 [-4.9 a 12.7]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39628" y="47823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0.240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093708" y="5239512"/>
            <a:ext cx="1691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 [-12.5 a 4.4]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39628" y="5239512"/>
            <a:ext cx="11640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0.524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Intervalo de Newcombe. Punto lleno: el intervalo no cruza el cero (prueba z, α = 0.05)</a:t>
            </a:r>
          </a:p>
        </p:txBody>
      </p:sp>
      <p:sp>
        <p:nvSpPr>
          <p:cNvPr id="83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y estudiantes en seis preguntas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4630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7268" y="1554480"/>
            <a:ext cx="109728" cy="109728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51276" y="1463040"/>
            <a:ext cx="868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55948" y="1554480"/>
            <a:ext cx="109728" cy="109728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19956" y="146304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70348" y="1463040"/>
            <a:ext cx="40233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Diferencia, docentes menos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093708" y="1463040"/>
            <a:ext cx="15544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2628" y="1792224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61188" y="1920240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INSTITUCIONAL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22951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4154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10228" y="22951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093708" y="22951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+21 puntos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511028" y="22951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26609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093708" y="26609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1188" y="275234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4154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110228" y="2752344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093708" y="2752344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+12 puntos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511028" y="2752344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2628" y="3118104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93708" y="3118104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1188" y="3163824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61188" y="35387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24154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110228" y="35387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93708" y="35387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+30 puntos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511028" y="35387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2628" y="39044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93708" y="39044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61188" y="39959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24154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10228" y="399592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93708" y="3995928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11028" y="3995928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2628" y="4361688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93708" y="4361688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61188" y="4407408"/>
            <a:ext cx="45720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61188" y="47823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4154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110228" y="47823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093708" y="47823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puntos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11028" y="47823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2628" y="51480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093708" y="51480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61188" y="523951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4154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10228" y="523951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093708" y="5239512"/>
            <a:ext cx="13716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puntos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511028" y="5239512"/>
            <a:ext cx="1392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5605272"/>
            <a:ext cx="45720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93708" y="5605272"/>
            <a:ext cx="280995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161788" y="1874520"/>
            <a:ext cx="3840480" cy="3730752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245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11606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-20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25158" y="1874520"/>
            <a:ext cx="16459" cy="3730752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21334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2701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31062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+20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4290" y="1874520"/>
            <a:ext cx="7315" cy="373075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07908" y="56418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+40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126578" y="2404872"/>
            <a:ext cx="92914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589594" y="23500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47040" y="2862072"/>
            <a:ext cx="1162697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134567" y="2807208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376581" y="3648456"/>
            <a:ext cx="1387392" cy="54864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085234" y="3593592"/>
            <a:ext cx="164592" cy="164592"/>
          </a:xfrm>
          <a:prstGeom prst="ellipse">
            <a:avLst/>
          </a:prstGeom>
          <a:solidFill>
            <a:srgbClr val="081F5C">
              <a:alpha val="100000"/>
            </a:srgbClr>
          </a:solidFill>
          <a:ln w="19050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648807" y="4105656"/>
            <a:ext cx="1443570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355399" y="4050792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63897" y="4892040"/>
            <a:ext cx="966747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739279" y="48371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847572" y="5349240"/>
            <a:ext cx="928114" cy="54864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329698" y="5294376"/>
            <a:ext cx="164592" cy="164592"/>
          </a:xfrm>
          <a:prstGeom prst="ellipse">
            <a:avLst/>
          </a:prstGeom>
          <a:solidFill>
            <a:srgbClr val="FFFFFF">
              <a:alpha val="100000"/>
            </a:srgbClr>
          </a:solidFill>
          <a:ln w="19050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0458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estudiantes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24828" y="5861304"/>
            <a:ext cx="17373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en docentes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barra es el intervalo de 95 %: si no cruza el cero, la diferencia es significativa (α = 0.05)</a:t>
            </a:r>
          </a:p>
        </p:txBody>
      </p:sp>
      <p:sp>
        <p:nvSpPr>
          <p:cNvPr id="82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TÉCNICA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825496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36308" y="3154680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036308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08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0.004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243316" y="359359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43316" y="392277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036308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036308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1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8243316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8243316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0.882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50324" y="436168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50324" y="469087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 = 0.904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z de diferencia de proporciones en los seis pares, p ajustada por Bonferroni, α = 0.05 (la misma prueba del motor)</a:t>
            </a:r>
          </a:p>
        </p:txBody>
      </p:sp>
      <p:sp>
        <p:nvSpPr>
          <p:cNvPr id="77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ESTÁNDAR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 los cuatro públicos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54480"/>
            <a:ext cx="1828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64308" y="1554480"/>
            <a:ext cx="21945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50308" y="1554480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2628" y="1883664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12140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 Docentes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464308" y="2167128"/>
            <a:ext cx="143490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4933" y="212140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47853" y="2130552"/>
            <a:ext cx="5486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BC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0308" y="2121408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2560320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268833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 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464308" y="2734056"/>
            <a:ext cx="11313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41332" y="26883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0308" y="2688336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3127248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325526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  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64308" y="3300984"/>
            <a:ext cx="1134267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44295" y="3255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0308" y="3255264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2628" y="3694176"/>
            <a:ext cx="512064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2628" y="382219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  Administrativos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64308" y="3867912"/>
            <a:ext cx="1365504" cy="201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875532" y="3822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0308" y="3822192"/>
            <a:ext cx="5486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4389120"/>
            <a:ext cx="5120640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letra indica de qué público es significativamente mayor: docentes supera a estudiantes (B) y a egresados (C).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939028" y="1508760"/>
            <a:ext cx="7315" cy="38404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33388" y="146304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Fila menos columna, en puntos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36308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43316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0324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657332" y="167335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533388" y="2212848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72884" y="2002536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36308" y="2075688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36308" y="2368296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52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33388" y="2980944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72884" y="2770632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036308" y="2953512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279892" y="2770632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243316" y="2843784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43316" y="3136392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33388" y="3749040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72884" y="3538728"/>
            <a:ext cx="1133856" cy="694944"/>
          </a:xfrm>
          <a:prstGeom prst="roundRect">
            <a:avLst/>
          </a:prstGeom>
          <a:solidFill>
            <a:srgbClr val="19316B">
              <a:alpha val="100000"/>
            </a:srgbClr>
          </a:solidFill>
          <a:ln w="3175" cap="rnd" cmpd="sng">
            <a:solidFill>
              <a:srgbClr val="19316B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36308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-21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79892" y="3538728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243316" y="3721608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486900" y="3538728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450324" y="3611880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450324" y="3904488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178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533388" y="4517136"/>
            <a:ext cx="457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072884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036308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79892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243316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486900" y="4306824"/>
            <a:ext cx="1133856" cy="694944"/>
          </a:xfrm>
          <a:prstGeom prst="round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450324" y="4489704"/>
            <a:ext cx="1207008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+16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693908" y="4306824"/>
            <a:ext cx="1133856" cy="694944"/>
          </a:xfrm>
          <a:prstGeom prst="round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57332" y="4379976"/>
            <a:ext cx="1207008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57332" y="4672584"/>
            <a:ext cx="1207008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 = 15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22896" y="523951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532624" y="5175504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 (más intensa, mayor)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222484" y="5239512"/>
            <a:ext cx="137160" cy="137160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332212" y="5175504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33388" y="5541264"/>
            <a:ext cx="537027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 supera en 16 puntos a estudiantes y egresados, pero con 15 casos esa distancia no es significativa.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52628" y="5998464"/>
            <a:ext cx="9601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Estas pruebas suponen muestreo aleatorio. En estudios censales o por conveniencia, como los de acreditación, se leen como indicativas.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según la prueba z entre cada par de públicos, con corrección por comparaciones múltiples (α = 0.05)</a:t>
            </a:r>
          </a:p>
        </p:txBody>
      </p:sp>
      <p:sp>
        <p:nvSpPr>
          <p:cNvPr id="7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Diferencias significativas entre docentes y 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001260" y="1527048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110988" y="1463040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137148" y="1527048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246876" y="14630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61588" y="1965960"/>
            <a:ext cx="5029200" cy="3401568"/>
          </a:xfrm>
          <a:prstGeom prst="rect">
            <a:avLst/>
          </a:prstGeom>
          <a:solidFill>
            <a:srgbClr val="EAEDF2">
              <a:alpha val="100000"/>
            </a:srgbClr>
          </a:solidFill>
          <a:ln w="3175" cap="rnd" cmpd="sng">
            <a:solidFill>
              <a:srgbClr val="EAED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579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415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56377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4738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56961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7545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5906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58129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6490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587130" y="1965960"/>
            <a:ext cx="7315" cy="3401568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70748" y="5404104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1188" y="210312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7356" y="2212848"/>
            <a:ext cx="2112264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89036" y="214884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993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76772" y="214884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27548" y="211226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368028" y="211226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2628" y="2532888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8028" y="2532888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61188" y="2670048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79108" y="2779776"/>
            <a:ext cx="1207008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85532" y="2715768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895844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78524" y="2715768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829300" y="267919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368028" y="2679192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2628" y="3099816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368028" y="3099816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61188" y="3236976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863340" y="3346704"/>
            <a:ext cx="3017520" cy="73152"/>
          </a:xfrm>
          <a:prstGeom prst="round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80276" y="3282696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90588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62756" y="3282696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13532" y="32461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368028" y="3246120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Significativa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2628" y="3666744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368028" y="3666744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61188" y="3803904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76188" y="3936492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975604" y="3849624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326380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76772" y="3849624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387084" y="38130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8028" y="3813048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2628" y="4233672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368028" y="4233672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4370832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85532" y="4503420"/>
            <a:ext cx="502920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87868" y="4416552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98180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84948" y="4416552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35724" y="43799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368028" y="4379976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52628" y="4800600"/>
            <a:ext cx="29718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368028" y="4800600"/>
            <a:ext cx="25356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361188" y="4937760"/>
            <a:ext cx="301752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87284" y="5070348"/>
            <a:ext cx="201168" cy="27432"/>
          </a:xfrm>
          <a:prstGeom prst="roundRect">
            <a:avLst/>
          </a:prstGeom>
          <a:solidFill>
            <a:srgbClr val="AEB6C6">
              <a:alpha val="100000"/>
            </a:srgbClr>
          </a:solidFill>
          <a:ln w="3175" cap="rnd" cmpd="sng">
            <a:solidFill>
              <a:srgbClr val="AEB6C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886700" y="4983480"/>
            <a:ext cx="201168" cy="201168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237476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087868" y="4983480"/>
            <a:ext cx="201168" cy="201168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298180" y="49469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368028" y="4946904"/>
            <a:ext cx="2535631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significativa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2628" y="5669280"/>
            <a:ext cx="11451031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«Significativa»: la prueba estadística indica que es poco probable que la distancia se deba al azar de quiénes respondieron. No dice si la diferencia es grande o importante.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o «Sí». Base: 52 docentes y 172 estudiantes (Auditoría y Tributación: 51 y 109). La versión técnica muestra el intervalo y la prueba</a:t>
            </a:r>
          </a:p>
        </p:txBody>
      </p:sp>
      <p:sp>
        <p:nvSpPr>
          <p:cNvPr id="76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PROPUESTA 5: VERSIÓN PARA PÚBLICO GENERAL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son quienes más conocen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61188" y="189280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30068" y="1828800"/>
            <a:ext cx="394598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67496" y="188366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88" y="267004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30068" y="2606040"/>
            <a:ext cx="3755136" cy="420624"/>
          </a:xfrm>
          <a:prstGeom prst="rect">
            <a:avLst/>
          </a:prstGeom>
          <a:ln w="15875" cap="rnd" cmpd="sng">
            <a:solidFill>
              <a:srgbClr val="8E9DBD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6644" y="266090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61188" y="344728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30068" y="3383280"/>
            <a:ext cx="3119234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40742" y="343814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61188" y="4224528"/>
            <a:ext cx="233172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30068" y="4160520"/>
            <a:ext cx="3111087" cy="42062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32595" y="4215384"/>
            <a:ext cx="82296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825996" y="3383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825996" y="456102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97319" y="3383280"/>
            <a:ext cx="20117" cy="119786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897319" y="3972154"/>
            <a:ext cx="202997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146036" y="370789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 entre ellos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910828" y="1508760"/>
            <a:ext cx="7315" cy="33832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39428" y="1737360"/>
            <a:ext cx="45720" cy="20116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0596" y="1691640"/>
            <a:ext cx="2563063" cy="21031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más que estudiantes y egresados, y la diferencia es significativa. Los </a:t>
            </a: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también marcan alto, pero con 15 casos su diferencia no resulta significativa.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99970" y="5047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409698" y="4983480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 significativa con los demás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78958" y="5047488"/>
            <a:ext cx="137160" cy="13716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88686" y="4983480"/>
            <a:ext cx="207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diferencia significativa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38628" y="5321808"/>
            <a:ext cx="402336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1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 punteada: base de menos de 30 casos.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2628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La versión técnica muestra la matriz de pares con la prueba</a:t>
            </a:r>
          </a:p>
        </p:txBody>
      </p:sp>
      <p:sp>
        <p:nvSpPr>
          <p:cNvPr id="31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88036" y="214884"/>
            <a:ext cx="45720" cy="6583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2628" y="169164"/>
            <a:ext cx="8229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EVALUAR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452628" y="379476"/>
            <a:ext cx="950976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no se trae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2628" y="150876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3329" y="1629461"/>
            <a:ext cx="261518" cy="261518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138428" y="149047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oscuro a sangre y cuña diagonal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38428" y="178308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la firma visual del informe de referencia. PULSO ya tiene la suya: fondo claro, personas y público.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2628" y="233172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52628" y="246888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73329" y="2589581"/>
            <a:ext cx="261518" cy="26151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1138428" y="245059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bloques de texto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38428" y="274320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Limitaciones o recomendaciones en párrafos no salen de los datos. Si hacen falta, van en la ficha técnica o en el Word.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2628" y="329184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2628" y="342900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73329" y="3549701"/>
            <a:ext cx="261518" cy="261518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1138428" y="341071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flecha de los factores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8428" y="370332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decorativo. El peso de cada aspecto se lee mejor con puntos, como en la propuesta 4.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2628" y="4251960"/>
            <a:ext cx="11451031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2628" y="4389120"/>
            <a:ext cx="502920" cy="5029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73329" y="4509821"/>
            <a:ext cx="261518" cy="26151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138428" y="4370832"/>
            <a:ext cx="10765231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Colores por factor y celdas de color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8428" y="4663440"/>
            <a:ext cx="10765231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Rompen la paleta: en PULSO el color dice la respuesta, no el tema.</a:t>
            </a:r>
          </a:p>
        </p:txBody>
      </p:sp>
      <p:sp>
        <p:nvSpPr>
          <p:cNvPr id="24" name="Folio lamina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2026-10-08T09:39:03Z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