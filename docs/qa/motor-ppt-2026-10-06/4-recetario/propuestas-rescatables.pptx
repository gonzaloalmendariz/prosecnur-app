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Relationship Id="rId5" Type="http://schemas.openxmlformats.org/package/2006/relationships/metadata/extended-properties" Target="docProps/app0.xml"/>
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4000"/>
              <a:buFont typeface="Arial"/>
              <a:buNone/>
              <a:defRPr sz="2400" b="1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2000"/>
              <a:buNone/>
              <a:defRPr sz="1600" b="1">
                <a:solidFill>
                  <a:srgbClr val="85BB8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 b="1">
                <a:latin typeface="Arial"/>
                <a:solidFill>
                  <a:srgbClr val="85BB85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600" b="1">
                <a:latin typeface="Arial"/>
                <a:solidFill>
                  <a:srgbClr val="85BB85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9pPr>
          </a:lstStyle>
          <a:p>
            <a:r>
              <a:rPr lang="es-MX" dirty="0" sz="1600" b="1">
                <a:latin typeface="Arial"/>
                <a:solidFill>
                  <a:srgbClr val="85BB85"/>
                </a:solidFill>
              </a:rPr>
              <a:t>Haz clic para editar el estilo de subtítulo del patrón</a:t>
            </a:r>
            <a:endParaRPr lang="es-ES" dirty="0" sz="1600" b="1">
              <a:latin typeface="Arial"/>
              <a:solidFill>
                <a:srgbClr val="85BB85"/>
              </a:solidFill>
            </a:endParaRPr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ns3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8413979" y="5028077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ns3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7223" y="5937419"/>
            <a:ext cx="4734748" cy="5159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185629166"/>
      </p:ext>
    </p:extLst>
  </p:cSld>
  <p:clrMapOvr>
    <a:masterClrMapping/>
  </p:clrMapOvr>
  <p:extLst>
    <p:ext uri="{DCECCB84-F9BA-43D5-87BE-67443E8EF086}">
      <p15:sldGuideLst>
        <p15:guide id="1" orient="horz" pos="391">
          <p15:clr>
            <a:srgbClr val="E4A34C"/>
          </p15:clr>
        </p15:guide>
        <p15:guide id="2" pos="483">
          <p15:clr>
            <a:srgbClr val="E4A34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4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ns3:creationId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ns2:creationId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338328"/>
            <a:ext cx="9799981" cy="397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320734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924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val="251564292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" anchor="ctr">
            <a:normAutofit/>
          </a:bodyPr>
          <a:lstStyle>
            <a:lvl1pPr>
              <a:defRPr sz="2400" b="1">
                <a:latin typeface="Arial"/>
                <a:solidFill>
                  <a:srgbClr val="CA5651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ns2:creationId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CA56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ns2:creationId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3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3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3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059164739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3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7036" y="3153394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365683856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3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16217" y="3082608"/>
            <a:ext cx="1386773" cy="1387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735362092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12494"/>
            <a:ext cx="4726263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2mas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mas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3118" y="1212494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3754526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fil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2252" y="1212494"/>
            <a:ext cx="3611880" cy="4887468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273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arrib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11377879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557784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68212" y="3754526"/>
            <a:ext cx="557784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vertical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59052" y="1212494"/>
            <a:ext cx="918972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9052" y="3754526"/>
            <a:ext cx="918972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asimetric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694944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1252" y="1920240"/>
            <a:ext cx="4114800" cy="34747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tir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11680" y="1212494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11680" y="2926080"/>
            <a:ext cx="9802368" cy="14173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1680" y="4663440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2920" y="2834640"/>
            <a:ext cx="1234440" cy="1234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oron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206240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07808" y="1212494"/>
            <a:ext cx="4206240" cy="201168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26080" y="4617720"/>
            <a:ext cx="6400800" cy="14630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5232" y="2889504"/>
            <a:ext cx="1737360" cy="1737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ifra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2920" y="3017520"/>
            <a:ext cx="1417320" cy="7772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02920" y="3977640"/>
            <a:ext cx="1417320" cy="77724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240280" y="1212494"/>
            <a:ext cx="4160520" cy="2286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240280" y="3749040"/>
            <a:ext cx="4160520" cy="2286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12280" y="1212494"/>
            <a:ext cx="5001768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2920" y="1280160"/>
            <a:ext cx="1417320" cy="1417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cifras_y_grafico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772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343400" y="1212494"/>
            <a:ext cx="3611880" cy="105156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183880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1772" y="2606040"/>
            <a:ext cx="5577840" cy="347472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263640" y="2606040"/>
            <a:ext cx="5577840" cy="34747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  <p:sldLayoutId id="2147483625" r:id="rId26"/>
    <p:sldLayoutId id="2147483736" r:id="rId27"/>
    <p:sldLayoutId id="214748373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CA5651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06e20b9a51521ad4a3ccbae304a6da3da744055.png"/>
<Relationship Id="rId3" Type="http://schemas.openxmlformats.org/officeDocument/2006/relationships/image" Target="../media/934d73068fa4b38f2df0a4440b336764716bed4a.png"/>
<Relationship Id="rId4" Type="http://schemas.openxmlformats.org/officeDocument/2006/relationships/image" Target="../media/ec4a2ee55e3f740b404461fc364283575bbc0ec4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06e20b9a51521ad4a3ccbae304a6da3da744055.png"/>
<Relationship Id="rId3" Type="http://schemas.openxmlformats.org/officeDocument/2006/relationships/image" Target="../media/934d73068fa4b38f2df0a4440b336764716bed4a.png"/>
<Relationship Id="rId4" Type="http://schemas.openxmlformats.org/officeDocument/2006/relationships/image" Target="../media/ec4a2ee55e3f740b404461fc364283575bbc0ec4.png"/>
<Relationship Id="rId5" Type="http://schemas.openxmlformats.org/officeDocument/2006/relationships/image" Target="../media/b0624f93f0901ddded26fc8da982b3bbf66f4aa7.png"/>
<Relationship Id="rId6" Type="http://schemas.openxmlformats.org/officeDocument/2006/relationships/image" Target="../media/d3d99fd3adf75ab4de86bcd84ee9b158c322781d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feb657ef01a9ce117ddb336cc0cc9a66c4db272.png"/>
<Relationship Id="rId3" Type="http://schemas.openxmlformats.org/officeDocument/2006/relationships/image" Target="../media/978277cd0329c4af9360c13c8e3d11bf2db52476.png"/>
<Relationship Id="rId4" Type="http://schemas.openxmlformats.org/officeDocument/2006/relationships/image" Target="../media/017e2d6738d566b93d2e53b9d9c981e21e63c427.png"/>
<Relationship Id="rId5" Type="http://schemas.openxmlformats.org/officeDocument/2006/relationships/image" Target="../media/99c88974cef60a1c6ad6997439c0fba8722dd6c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1463040" y="1938528"/>
            <a:ext cx="923544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PROPUESTAS PARA EL RECETARIO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731520" y="2286000"/>
            <a:ext cx="10698480" cy="6400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Ideas de referencia, en la línea de PULSO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463040" y="3017520"/>
            <a:ext cx="9235440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idea dibujada con los recursos de la identidad y con contenido que calcula el motor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463040" y="3429000"/>
            <a:ext cx="9235440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EVALUAR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se propone, de dónde sale y dónde viviría</a:t>
            </a:r>
          </a:p>
        </p:txBody>
      </p:sp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452628" y="1417320"/>
          <a:ext cx="11292840" cy="41148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3017520"/>
                <a:gridCol w="2194560"/>
                <a:gridCol w="155448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Propuesta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idea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 calcula el motor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escribe en la app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Separadores sin cero y con más alternativas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Jerarquía de capítulos sin texto extra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Número y título del plan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evaluación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Cifras destacadas de 1 a 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cifra destacada de III.2, en cualquier cantidad y posición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Cifras y detalle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 rótulo corto por cifra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evaluación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Bottom Two Box junto al Top Two Box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Cuántos están insatisfechos, sin sumar a ojo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Toda la columna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Aceptada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Peso de cada aspecto en la satisfacción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Qué importa, además de qué se evalúa bien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Todo, con un análisis nuevo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evaluación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Tabla de significancia con su gráfico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diferencia y su intervalo, o la matriz de pares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 y letras (ya existen)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evaluación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Fila Total separada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referencia se distingue de los grupos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Toda la fila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5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Aceptada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 según los comentarios del 2026-10-08. La pregunta exacta en el pie se retiró</a:t>
            </a:r>
          </a:p>
        </p:txBody>
      </p:sp>
      <p:sp>
        <p:nvSpPr>
          <p:cNvPr id="7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286000" y="3474720"/>
            <a:ext cx="1280160" cy="15544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520440" y="3931920"/>
            <a:ext cx="36576" cy="109728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749040" y="3840480"/>
            <a:ext cx="8154619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749040" y="4389120"/>
            <a:ext cx="8154619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Misión, propósitos, gestión y planificación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331659" y="6291072"/>
            <a:ext cx="45720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CAPÍTULO, VARIANTE A: NÚMERO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286000" y="3520440"/>
            <a:ext cx="548640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2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377440" y="3904488"/>
            <a:ext cx="1005840" cy="3657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286000" y="4041648"/>
            <a:ext cx="8961120" cy="685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286000" y="4709160"/>
            <a:ext cx="89611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Misión, propósitos, gestión y planificación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331659" y="6291072"/>
            <a:ext cx="45720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CAPÍTULO, VARIANTE B: RÓTULO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9144000" y="3383280"/>
            <a:ext cx="2377440" cy="23774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0" i="0" b="1" u="none" strike="noStrike">
                <a:solidFill>
                  <a:srgbClr val="DCE2E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286000" y="3520440"/>
            <a:ext cx="548640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2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286000" y="3886200"/>
            <a:ext cx="6766560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286000" y="4526280"/>
            <a:ext cx="676656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Misión, propósitos, gestión y planificación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331659" y="6291072"/>
            <a:ext cx="45720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CAPÍTULO, VARIANTE C: NÚMERO DE FONDO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452628" y="2514600"/>
            <a:ext cx="8229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2: CARACTERÍSTICAS INSTITUCIONALES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2834640"/>
            <a:ext cx="8077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260348" y="2834640"/>
            <a:ext cx="822960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3401568"/>
            <a:ext cx="82296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entre los cuatro públicos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331659" y="6291072"/>
            <a:ext cx="45720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SUBCAPÍTULO, ALTERNATIVA 1: SOBRIA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452628" y="2606040"/>
            <a:ext cx="54864" cy="123444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35508" y="2578608"/>
            <a:ext cx="8229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2: CARACTERÍSTICAS INSTITUCIONALES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35508" y="2852928"/>
            <a:ext cx="914400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  Misión y propósitos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35508" y="3429000"/>
            <a:ext cx="82296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entre los cuatro públicos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331659" y="6291072"/>
            <a:ext cx="45720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SUBCAPÍTULO, ALTERNATIVA 2: BARRA LATERAL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0" y="2331720"/>
            <a:ext cx="12191695" cy="1600200"/>
          </a:xfrm>
          <a:prstGeom prst="rect">
            <a:avLst/>
          </a:prstGeom>
          <a:solidFill>
            <a:srgbClr val="E3E7EF">
              <a:alpha val="100000"/>
            </a:srgbClr>
          </a:solidFill>
          <a:ln w="3175" cap="rnd" cmpd="sng">
            <a:solidFill>
              <a:srgbClr val="E3E7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2697480"/>
            <a:ext cx="146304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778508" y="2743200"/>
            <a:ext cx="27432" cy="82296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961388" y="2697480"/>
            <a:ext cx="822960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961388" y="3246120"/>
            <a:ext cx="82296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2: Características institucionales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7331659" y="6291072"/>
            <a:ext cx="45720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SUBCAPÍTULO, ALTERNATIVA 3: BANDA CLARA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 la misión y los propósitos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  MISIÓN Y PROPÓSITOS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2203704"/>
            <a:ext cx="15544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116836" y="2176272"/>
            <a:ext cx="5900075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16836" y="2203704"/>
            <a:ext cx="589641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013253" y="2176272"/>
            <a:ext cx="120335" cy="3291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067934" y="2112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023860" y="2103120"/>
            <a:ext cx="49560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31252" y="1883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52628" y="2862072"/>
            <a:ext cx="15544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116836" y="2834640"/>
            <a:ext cx="4636557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116836" y="2862072"/>
            <a:ext cx="46328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749735" y="2834640"/>
            <a:ext cx="1383853" cy="3291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749735" y="2862072"/>
            <a:ext cx="138385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52628" y="3520440"/>
            <a:ext cx="15544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116836" y="3493008"/>
            <a:ext cx="4696724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116836" y="3520440"/>
            <a:ext cx="46930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809903" y="3493008"/>
            <a:ext cx="1323685" cy="3291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809903" y="3520440"/>
            <a:ext cx="13236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52628" y="4178808"/>
            <a:ext cx="15544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116836" y="4151376"/>
            <a:ext cx="5599237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116836" y="4178808"/>
            <a:ext cx="559557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12415" y="4151376"/>
            <a:ext cx="421173" cy="3291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602962" y="417880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783330" y="481888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893058" y="475488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398518" y="481888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08246" y="475488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503920" y="1920240"/>
            <a:ext cx="45720" cy="173736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8705088" y="1874520"/>
            <a:ext cx="3198571" cy="1828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lámina separadora: el antetítulo en coral, con el número del subcapítulo, marca dónde empieza.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</a:t>
            </a:r>
          </a:p>
        </p:txBody>
      </p:sp>
      <p:sp>
        <p:nvSpPr>
          <p:cNvPr id="34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1: SEPARADORES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separadores de capítulo y cuatro de subcapítulo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1508760"/>
            <a:ext cx="25603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104388" y="1508760"/>
            <a:ext cx="879927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número sin cero, grande y en coral, con un filete que lo separa del título.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52628" y="2020824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2628" y="2130552"/>
            <a:ext cx="25603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B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104388" y="2130552"/>
            <a:ext cx="879927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«Capítulo 2» pequeño en coral sobre un filete corto. El título manda.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52628" y="2642616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52628" y="2752344"/>
            <a:ext cx="25603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Capítulo C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104388" y="2752344"/>
            <a:ext cx="879927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número grande en azul muy claro, detrás y a la derecha, como marca de agua.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52628" y="3264408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2628" y="3374136"/>
            <a:ext cx="25603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Subcapítulo 1 y 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104388" y="3374136"/>
            <a:ext cx="879927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 general sin personas ni público: el número y el título en una línea, o junto a una barra coral.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52628" y="388620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52628" y="3995928"/>
            <a:ext cx="25603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Subcapítulo 3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104388" y="3995928"/>
            <a:ext cx="879927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Una banda clara a lo ancho con el número y el título. Se lee como un corte menor.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2628" y="4507992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2628" y="4617720"/>
            <a:ext cx="25603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Subcapítulo 4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104388" y="4617720"/>
            <a:ext cx="879927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lámina propia: la primera lámina del subcapítulo lo anuncia en su antetítulo.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número y el título salen del plan del informe: ninguna variante pide escribir texto nuevo</a:t>
            </a:r>
          </a:p>
        </p:txBody>
      </p:sp>
      <p:sp>
        <p:nvSpPr>
          <p:cNvPr id="23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2: CIFRAS, DE 1 A 5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Una cifra frente a su gráfico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205740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73329" y="2178101"/>
            <a:ext cx="261518" cy="261518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361188" y="2743200"/>
            <a:ext cx="4297680" cy="85725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5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31 %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1188" y="3600450"/>
            <a:ext cx="4297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los egresados tiene el título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61188" y="3920490"/>
            <a:ext cx="4297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Aunque el 98 % trabaja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024628" y="1508760"/>
            <a:ext cx="7315" cy="44531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390388" y="1508760"/>
            <a:ext cx="651327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390388" y="1746504"/>
            <a:ext cx="6513271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 egresados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390388" y="2240280"/>
            <a:ext cx="1463040" cy="3632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440619" y="2240280"/>
            <a:ext cx="1463040" cy="3632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390388" y="2589530"/>
            <a:ext cx="3256636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(56)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647024" y="2589530"/>
            <a:ext cx="3256636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(122)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409502" y="2882138"/>
            <a:ext cx="4494157" cy="38404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390388" y="2882138"/>
            <a:ext cx="2022772" cy="38404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Una cifra junto a su gráfico, en mitades. Base: 178 egresados</a:t>
            </a:r>
          </a:p>
        </p:txBody>
      </p:sp>
      <p:sp>
        <p:nvSpPr>
          <p:cNvPr id="20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2: CIFRAS, DE 1 A 5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cifras con rótulos de largo distinto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73329" y="1812341"/>
            <a:ext cx="261518" cy="261518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361188" y="2377440"/>
            <a:ext cx="3634130" cy="698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98 %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1188" y="3075940"/>
            <a:ext cx="3634130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los docentes conoce la misión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61188" y="3578860"/>
            <a:ext cx="363413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77 %, egresados 78 %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01058" y="1691640"/>
            <a:ext cx="7315" cy="22529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406798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2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4527499" y="1812341"/>
            <a:ext cx="261518" cy="261518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/p:nvPr>
        </p:nvSpPr>
        <p:spPr>
          <a:xfrm>
            <a:off x="4315358" y="2377440"/>
            <a:ext cx="3634130" cy="698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53 %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315358" y="3075940"/>
            <a:ext cx="3634130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los estudiantes reconoce la tutoría académica que ofrece la Unidad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315358" y="3578860"/>
            <a:ext cx="363413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los docentes, 83 %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155229" y="1691640"/>
            <a:ext cx="7315" cy="22529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360969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8481670" y="1812341"/>
            <a:ext cx="261518" cy="261518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8269529" y="2377440"/>
            <a:ext cx="3634130" cy="698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95 %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269529" y="3075940"/>
            <a:ext cx="3634130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valora las competencias técnicas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69529" y="3578860"/>
            <a:ext cx="363413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de los estudiantes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52628" y="480060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52628" y="4983480"/>
            <a:ext cx="11451031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cifra queda arriba, el rótulo ocupa hasta dos líneas y el detalle siempre cae a la misma altura, aunque un rótulo sea más largo.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 y 178 egresados</a:t>
            </a:r>
          </a:p>
        </p:txBody>
      </p:sp>
      <p:sp>
        <p:nvSpPr>
          <p:cNvPr id="25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2: CIFRAS, DE 1 A 5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Cinco cifras, el máximo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73329" y="1812341"/>
            <a:ext cx="261518" cy="261518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361188" y="2377440"/>
            <a:ext cx="2162190" cy="53975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98 %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1188" y="2917190"/>
            <a:ext cx="216219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los docentes conoce la misión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61188" y="3785870"/>
            <a:ext cx="216219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77 %, egresados 78 %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660538" y="1691640"/>
            <a:ext cx="7315" cy="245999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797698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2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2918399" y="1812341"/>
            <a:ext cx="261518" cy="261518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/p:nvPr>
        </p:nvSpPr>
        <p:spPr>
          <a:xfrm>
            <a:off x="2706258" y="2377440"/>
            <a:ext cx="2162190" cy="53975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53 %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706258" y="2917190"/>
            <a:ext cx="216219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los estudiantes reconoce la tutoría académica que ofrece la Unidad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706258" y="3785870"/>
            <a:ext cx="216219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los docentes, 83 %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005608" y="1691640"/>
            <a:ext cx="7315" cy="245999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142768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5263469" y="1812341"/>
            <a:ext cx="261518" cy="261518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5051328" y="2377440"/>
            <a:ext cx="2162190" cy="53975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95 %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051328" y="2917190"/>
            <a:ext cx="216219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valora las competencias técnicas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051328" y="3785870"/>
            <a:ext cx="216219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de los estudiantes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350679" y="1691640"/>
            <a:ext cx="7315" cy="245999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487839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7608540" y="1812341"/>
            <a:ext cx="261518" cy="261518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396399" y="2377440"/>
            <a:ext cx="2162190" cy="53975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31 %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396399" y="2917190"/>
            <a:ext cx="216219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los egresados tiene el título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396399" y="3785870"/>
            <a:ext cx="216219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Aunque el 98 % trabaja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695749" y="1691640"/>
            <a:ext cx="7315" cy="245999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832909" y="169164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9953610" y="1812341"/>
            <a:ext cx="261518" cy="261518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9741469" y="2377440"/>
            <a:ext cx="2162190" cy="53975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741469" y="2917190"/>
            <a:ext cx="216219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personas encuestadas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741469" y="3785870"/>
            <a:ext cx="216219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cuatro públicos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52628" y="452628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52628" y="4709160"/>
            <a:ext cx="11451031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 cinco, la cifra baja a 34 pt. Si un rótulo pide una línea más, todos los detalles bajan con él. Con seis o más, la información va a una tabla.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417 personas encuestadas en cuatro públicos</a:t>
            </a:r>
          </a:p>
        </p:txBody>
      </p:sp>
      <p:sp>
        <p:nvSpPr>
          <p:cNvPr id="37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PROPUESTAS 3 Y 6: BOTTOM TWO BOX Y FILA TOTAL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tutoría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61188" y="1417320"/>
            <a:ext cx="11451031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9526219" y="1801368"/>
            <a:ext cx="123444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0623499" y="1801368"/>
            <a:ext cx="13258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Bottom Two Box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2628" y="2130552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025396" y="2139696"/>
            <a:ext cx="376413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891734" y="213055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98151" y="2139696"/>
            <a:ext cx="1047372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98151" y="2130552"/>
            <a:ext cx="104371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441866" y="2139696"/>
            <a:ext cx="2463842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441866" y="2130552"/>
            <a:ext cx="24601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902050" y="2139696"/>
            <a:ext cx="2016535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902050" y="2130552"/>
            <a:ext cx="20128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914928" y="2139696"/>
            <a:ext cx="1565572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914928" y="2130552"/>
            <a:ext cx="15655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571939" y="2130552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714939" y="2130552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52628" y="246888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52628" y="2715768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025396" y="2724912"/>
            <a:ext cx="152760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174498" y="2724912"/>
            <a:ext cx="2165638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174498" y="2715768"/>
            <a:ext cx="21619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336478" y="2724912"/>
            <a:ext cx="4029413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336478" y="2715768"/>
            <a:ext cx="40257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362234" y="2724912"/>
            <a:ext cx="1118265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362234" y="2715768"/>
            <a:ext cx="111826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094461" y="26609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807339" y="24323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571939" y="2715768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714939" y="2715768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52628" y="3099816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025396" y="3108960"/>
            <a:ext cx="450964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929009" y="309981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472702" y="3108960"/>
            <a:ext cx="1345576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472702" y="3099816"/>
            <a:ext cx="134191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814621" y="3108960"/>
            <a:ext cx="2538393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814621" y="3099816"/>
            <a:ext cx="253473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49356" y="3108960"/>
            <a:ext cx="1420127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49356" y="3099816"/>
            <a:ext cx="141647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65825" y="3108960"/>
            <a:ext cx="1714674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765825" y="3099816"/>
            <a:ext cx="17146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571939" y="3099816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714939" y="3099816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52628" y="3502152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61188" y="3611880"/>
            <a:ext cx="11451031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socioemocional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526219" y="3995928"/>
            <a:ext cx="123444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623499" y="3995928"/>
            <a:ext cx="13258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Bottom Two Box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52628" y="4325112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025396" y="4334256"/>
            <a:ext cx="154266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176004" y="4334256"/>
            <a:ext cx="380178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044224" y="432511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552525" y="4334256"/>
            <a:ext cx="3166429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552525" y="4325112"/>
            <a:ext cx="316277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5715296" y="4334256"/>
            <a:ext cx="2639300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715296" y="4325112"/>
            <a:ext cx="263564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350938" y="4334256"/>
            <a:ext cx="1129561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350938" y="4325112"/>
            <a:ext cx="112956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095214" y="42702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808092" y="40416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571939" y="4325112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0714939" y="4325112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52628" y="466344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52628" y="4910328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025396" y="4919472"/>
            <a:ext cx="152760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174498" y="4919472"/>
            <a:ext cx="2314740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174498" y="4910328"/>
            <a:ext cx="231108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485580" y="4919472"/>
            <a:ext cx="3283903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4485580" y="4910328"/>
            <a:ext cx="328024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765825" y="4919472"/>
            <a:ext cx="1714674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765825" y="4910328"/>
            <a:ext cx="17146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094461" y="48554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807339" y="46268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571939" y="4910328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714939" y="4910328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52628" y="5294376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025396" y="5303520"/>
            <a:ext cx="229570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251308" y="5303520"/>
            <a:ext cx="455482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157180" y="52943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703133" y="5303520"/>
            <a:ext cx="3392341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703133" y="5294376"/>
            <a:ext cx="33886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6091816" y="5303520"/>
            <a:ext cx="2413388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6091816" y="5294376"/>
            <a:ext cx="240973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8501546" y="5303520"/>
            <a:ext cx="978953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8501546" y="5294376"/>
            <a:ext cx="97895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132866" y="523951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845744" y="501091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571939" y="5294376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0714939" y="5294376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129638" y="588873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239366" y="5824728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4446626" y="588873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4556354" y="5824728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5976214" y="588873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6085942" y="582472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7264502" y="588873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7374230" y="5824728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9327490" y="588873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9437218" y="5824728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Box: «De acuerdo» más «Totalmente de acuerdo». Bottom Two Box: las dos respuestas en desacuerdo. Base: 52 docentes y 172 estudiantes</a:t>
            </a:r>
          </a:p>
        </p:txBody>
      </p:sp>
      <p:sp>
        <p:nvSpPr>
          <p:cNvPr id="103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4: PESO EN LA SATISFACCIÓN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atención en la Unidad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61188" y="1417320"/>
            <a:ext cx="11451031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¿Qué tan satisfecho está con cada aspecto de la atención?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9526219" y="1801368"/>
            <a:ext cx="123444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0623499" y="1801368"/>
            <a:ext cx="13258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Bottom Two Box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1188" y="1801368"/>
            <a:ext cx="164592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Cuánto pesa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2628" y="2371954"/>
            <a:ext cx="674827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063447" y="2313432"/>
            <a:ext cx="128016" cy="12801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173175" y="2240280"/>
            <a:ext cx="548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824228" y="2240280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Trato del personal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128516" y="2249424"/>
            <a:ext cx="164217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289075" y="2249424"/>
            <a:ext cx="431816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183115" y="22402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17234" y="2249424"/>
            <a:ext cx="2519090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17234" y="2240280"/>
            <a:ext cx="25154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666" y="2249424"/>
            <a:ext cx="2037411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32666" y="2240280"/>
            <a:ext cx="203375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266420" y="2249424"/>
            <a:ext cx="214079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203309" y="21854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916188" y="19568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367973" y="21854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078163" y="19568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571939" y="2240280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714939" y="2240280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52628" y="2975458"/>
            <a:ext cx="54315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31774" y="2916936"/>
            <a:ext cx="128016" cy="12801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41502" y="2843784"/>
            <a:ext cx="548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824228" y="2843784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Tiempo de atención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128516" y="2852928"/>
            <a:ext cx="485336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049315" y="28437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610194" y="2852928"/>
            <a:ext cx="1020534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610194" y="2843784"/>
            <a:ext cx="101687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627071" y="2852928"/>
            <a:ext cx="2412050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627071" y="2843784"/>
            <a:ext cx="24083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035464" y="2852928"/>
            <a:ext cx="1181094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035464" y="2843784"/>
            <a:ext cx="11774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212900" y="2852928"/>
            <a:ext cx="267599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341213" y="278892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054092" y="256032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571939" y="2843784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714939" y="2843784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2628" y="3578962"/>
            <a:ext cx="427939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16559" y="3520440"/>
            <a:ext cx="128016" cy="12801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26287" y="3447288"/>
            <a:ext cx="548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824228" y="3355848"/>
            <a:ext cx="219456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Claridad de la información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128516" y="3456432"/>
            <a:ext cx="217737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342595" y="3456432"/>
            <a:ext cx="645896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342595" y="3447288"/>
            <a:ext cx="64223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984833" y="3456432"/>
            <a:ext cx="2733169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984833" y="3447288"/>
            <a:ext cx="272951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714345" y="3456432"/>
            <a:ext cx="1555733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714345" y="3447288"/>
            <a:ext cx="155207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266420" y="3456432"/>
            <a:ext cx="214079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230069" y="33924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942948" y="31638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367973" y="33924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078163" y="31638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571939" y="3447288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714939" y="3447288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361188" y="4059936"/>
            <a:ext cx="13716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efecto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824228" y="4050792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128516" y="4059936"/>
            <a:ext cx="110697" cy="25603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235556" y="4059936"/>
            <a:ext cx="485336" cy="25603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156355" y="40507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717234" y="4059936"/>
            <a:ext cx="2786689" cy="25603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717234" y="4050792"/>
            <a:ext cx="278303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7500265" y="4059936"/>
            <a:ext cx="1769812" cy="25603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500265" y="4050792"/>
            <a:ext cx="176615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266420" y="4059936"/>
            <a:ext cx="214079" cy="25603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4176549" y="399592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3889428" y="376732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367973" y="399592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078163" y="376732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571939" y="4050792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714939" y="4050792"/>
            <a:ext cx="1143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A44A1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52628" y="452628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52628" y="4636008"/>
            <a:ext cx="3657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se lee el peso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52628" y="4910328"/>
            <a:ext cx="1145103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peso indica qué parte de la satisfacción general explica cada aspecto, según una regresión lineal. Se reparte entre los aspectos con efecto significativo y suma 100 %.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52628" y="5394960"/>
            <a:ext cx="11451031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trato del personal es el aspecto de mayor peso. La infraestructura, aunque bien evaluada, no tiene efecto significativo.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129638" y="588873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239366" y="5824728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4446626" y="588873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4556354" y="5824728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5976214" y="588873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6085942" y="582472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7264502" y="588873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7374230" y="5824728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327490" y="588873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9437218" y="5824728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Cifras ficticias. Peso estimado con una regresión lineal de la satisfacción general sobre los aspectos evaluados</a:t>
            </a:r>
          </a:p>
        </p:txBody>
      </p:sp>
      <p:sp>
        <p:nvSpPr>
          <p:cNvPr id="93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SIGNIFICANCIA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Por qué se grafica la diferencia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1508760"/>
            <a:ext cx="5303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 Cada grupo con su intervalo de 95 %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52628" y="1746504"/>
            <a:ext cx="530352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 la misión?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89988" y="2286000"/>
            <a:ext cx="3566160" cy="1325880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871158" y="2286000"/>
            <a:ext cx="423518" cy="1325880"/>
          </a:xfrm>
          <a:prstGeom prst="rect">
            <a:avLst/>
          </a:prstGeom>
          <a:solidFill>
            <a:srgbClr val="FBE3D3">
              <a:alpha val="100000"/>
            </a:srgbClr>
          </a:solidFill>
          <a:ln w="3175" cap="rnd" cmpd="sng">
            <a:solidFill>
              <a:srgbClr val="FBE3D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695782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379399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714685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398302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33588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17205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752490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436108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61188" y="2450592"/>
            <a:ext cx="1691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871158" y="2532888"/>
            <a:ext cx="1569928" cy="54864"/>
          </a:xfrm>
          <a:prstGeom prst="round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874713" y="2478024"/>
            <a:ext cx="164592" cy="164592"/>
          </a:xfrm>
          <a:prstGeom prst="ellipse">
            <a:avLst/>
          </a:prstGeom>
          <a:solidFill>
            <a:srgbClr val="0B4F8C">
              <a:alpha val="100000"/>
            </a:srgbClr>
          </a:solidFill>
          <a:ln w="19050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514238" y="2432304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61188" y="3044952"/>
            <a:ext cx="1691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910819" y="3127248"/>
            <a:ext cx="1383857" cy="54864"/>
          </a:xfrm>
          <a:prstGeom prst="round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605403" y="3072384"/>
            <a:ext cx="164592" cy="164592"/>
          </a:xfrm>
          <a:prstGeom prst="ellipse">
            <a:avLst/>
          </a:prstGeom>
          <a:solidFill>
            <a:srgbClr val="2A9D8F">
              <a:alpha val="100000"/>
            </a:srgbClr>
          </a:solidFill>
          <a:ln w="19050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367827" y="3026664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61188" y="4023360"/>
            <a:ext cx="5394960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intervalos se solapan (zona naranja). A simple vista parece que no hay diferencia.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121908" y="1508760"/>
            <a:ext cx="7315" cy="329184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487668" y="1508760"/>
            <a:ext cx="541599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 La diferencia con su intervalo de 95 %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487668" y="1746504"/>
            <a:ext cx="5415991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menos estudiantes, en puntos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487668" y="2286000"/>
            <a:ext cx="5141671" cy="1325880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484010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167628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-10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764856" y="2286000"/>
            <a:ext cx="16459" cy="132588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453046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054846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738464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+10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340264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0023881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+20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625682" y="2286000"/>
            <a:ext cx="7315" cy="132588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1309299" y="365760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+30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805072" y="2834640"/>
            <a:ext cx="2724102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292114" y="2779776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545610" y="2359152"/>
            <a:ext cx="3657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+12 puntos  [0.2 a 21.4]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396228" y="4023360"/>
            <a:ext cx="550743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intervalo de la diferencia no cruza el cero: es significativa (p = 0.043).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2628" y="502920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52628" y="5148072"/>
            <a:ext cx="11451031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Por eso el gráfico de significancia muestra la diferencia y su intervalo, no sólo los grupos. Con tres o más grupos, se comparan los pares y se corrige por comparaciones múltiples.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Fuentes: Schenker y Gentleman (2001), Cumming y Finch (2005), Gardner y Altman (1986), Newcombe (1998) y Wright, Klein y Wieczorek (2019). Intervalos de Wilson y Newcombe</a:t>
            </a:r>
          </a:p>
        </p:txBody>
      </p:sp>
      <p:sp>
        <p:nvSpPr>
          <p:cNvPr id="47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TABLA DE LETRAS Y GRÁFICO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perfil de egreso en tres públicos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104388" y="1417320"/>
            <a:ext cx="114300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195828" y="1655064"/>
            <a:ext cx="9601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110228" y="1417320"/>
            <a:ext cx="114300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201668" y="1655064"/>
            <a:ext cx="9601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116068" y="1417320"/>
            <a:ext cx="114300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207508" y="1655064"/>
            <a:ext cx="9601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396228" y="1417320"/>
            <a:ext cx="183581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menos B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396228" y="1655064"/>
            <a:ext cx="183581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y estudiantes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277758" y="1417320"/>
            <a:ext cx="183581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menos C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8277758" y="1655064"/>
            <a:ext cx="183581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y egresados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59289" y="1417320"/>
            <a:ext cx="183581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 menos C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59289" y="1655064"/>
            <a:ext cx="183581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52628" y="1947672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61188" y="2066544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INSTITUCIONAL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61188" y="2395728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81172" y="2395728"/>
            <a:ext cx="5588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684524" y="2414016"/>
            <a:ext cx="4318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BC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201668" y="2395728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207508" y="2395728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2628" y="2715768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61188" y="2779776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Sabe dónde consultarla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195828" y="2779776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201668" y="2779776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207508" y="2779776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52628" y="3099816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61188" y="3145536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61188" y="3474720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195828" y="3474720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201668" y="3474720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207508" y="3474720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52628" y="3794760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61188" y="3858768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195828" y="3858768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201668" y="3858768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207508" y="3858768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52628" y="4178808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61188" y="4242816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195828" y="4242816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201668" y="4242816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343652" y="4242816"/>
            <a:ext cx="5588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747004" y="4261104"/>
            <a:ext cx="330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52628" y="4562856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61188" y="4626864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195828" y="4626864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201668" y="4626864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207508" y="4626864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52628" y="4946904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61188" y="5010912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3195828" y="5010912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201668" y="5010912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207508" y="5010912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52628" y="5330952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61188" y="5394960"/>
            <a:ext cx="26517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195828" y="5394960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201668" y="5394960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207508" y="5394960"/>
            <a:ext cx="960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52628" y="5715000"/>
            <a:ext cx="5715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6487668" y="2020824"/>
            <a:ext cx="1652930" cy="3694176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6658003" y="2020824"/>
            <a:ext cx="7315" cy="3694176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6341621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-20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233407" y="2020824"/>
            <a:ext cx="16459" cy="3694176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921596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7817954" y="2020824"/>
            <a:ext cx="7315" cy="3694176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501572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+20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369198" y="2020824"/>
            <a:ext cx="1652930" cy="3694176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539533" y="2020824"/>
            <a:ext cx="7315" cy="3694176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223151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-20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114937" y="2020824"/>
            <a:ext cx="16459" cy="3694176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803127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699485" y="2020824"/>
            <a:ext cx="7315" cy="3694176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383102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+20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0250729" y="2020824"/>
            <a:ext cx="1652930" cy="3694176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421064" y="2020824"/>
            <a:ext cx="7315" cy="3694176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0104681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-20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0996467" y="2020824"/>
            <a:ext cx="16459" cy="3694176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10684657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1581015" y="2020824"/>
            <a:ext cx="7315" cy="3694176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1264633" y="5751576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+20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7464718" y="2496312"/>
            <a:ext cx="628508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7761104" y="2441448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9342241" y="2496312"/>
            <a:ext cx="621771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9636762" y="2441448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688517" y="2496312"/>
            <a:ext cx="618997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10916529" y="2441448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7153475" y="2880360"/>
            <a:ext cx="764567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7520596" y="282549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8997510" y="2880360"/>
            <a:ext cx="751020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9359783" y="282549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0625984" y="2880360"/>
            <a:ext cx="671139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10880058" y="282549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6952619" y="3575304"/>
            <a:ext cx="550630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7208897" y="3520440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8787207" y="3575304"/>
            <a:ext cx="476963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9038045" y="3520440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10742405" y="3575304"/>
            <a:ext cx="362993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10870019" y="3520440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6789035" y="3959352"/>
            <a:ext cx="628674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7095177" y="3904488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8622914" y="3959352"/>
            <a:ext cx="566551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8924325" y="3904488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10742405" y="3959352"/>
            <a:ext cx="362993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10870019" y="3904488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7009577" y="4343400"/>
            <a:ext cx="654844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7311663" y="428853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8702246" y="4343400"/>
            <a:ext cx="523082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8981185" y="428853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10534355" y="4343400"/>
            <a:ext cx="450790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10710392" y="4288536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6891923" y="4727448"/>
            <a:ext cx="603137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7178641" y="4672584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8834994" y="4727448"/>
            <a:ext cx="578236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9125278" y="4672584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7" name=""/>
          <p:cNvSpPr>
            <a:spLocks noGrp="1"/>
          </p:cNvSpPr>
          <p:nvPr>
            </p:nvPr>
        </p:nvSpPr>
        <p:spPr>
          <a:xfrm>
            <a:off x="10831634" y="4727448"/>
            <a:ext cx="442036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8" name=""/>
          <p:cNvSpPr>
            <a:spLocks noGrp="1"/>
          </p:cNvSpPr>
          <p:nvPr>
            </p:nvPr>
        </p:nvSpPr>
        <p:spPr>
          <a:xfrm>
            <a:off x="10987507" y="4672584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9" name=""/>
          <p:cNvSpPr>
            <a:spLocks noGrp="1"/>
          </p:cNvSpPr>
          <p:nvPr>
            </p:nvPr>
        </p:nvSpPr>
        <p:spPr>
          <a:xfrm>
            <a:off x="6785788" y="5111496"/>
            <a:ext cx="694496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0" name=""/>
          <p:cNvSpPr>
            <a:spLocks noGrp="1"/>
          </p:cNvSpPr>
          <p:nvPr>
            </p:nvPr>
        </p:nvSpPr>
        <p:spPr>
          <a:xfrm>
            <a:off x="7118130" y="5056632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1" name=""/>
          <p:cNvSpPr>
            <a:spLocks noGrp="1"/>
          </p:cNvSpPr>
          <p:nvPr>
            </p:nvPr>
        </p:nvSpPr>
        <p:spPr>
          <a:xfrm>
            <a:off x="8631482" y="5111496"/>
            <a:ext cx="637327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2" name=""/>
          <p:cNvSpPr>
            <a:spLocks noGrp="1"/>
          </p:cNvSpPr>
          <p:nvPr>
            </p:nvPr>
        </p:nvSpPr>
        <p:spPr>
          <a:xfrm>
            <a:off x="8957523" y="5056632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3" name=""/>
          <p:cNvSpPr>
            <a:spLocks noGrp="1"/>
          </p:cNvSpPr>
          <p:nvPr>
            </p:nvPr>
        </p:nvSpPr>
        <p:spPr>
          <a:xfrm>
            <a:off x="10715088" y="5111496"/>
            <a:ext cx="448827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4" name=""/>
          <p:cNvSpPr>
            <a:spLocks noGrp="1"/>
          </p:cNvSpPr>
          <p:nvPr>
            </p:nvPr>
        </p:nvSpPr>
        <p:spPr>
          <a:xfrm>
            <a:off x="10880264" y="5056632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5" name=""/>
          <p:cNvSpPr>
            <a:spLocks noGrp="1"/>
          </p:cNvSpPr>
          <p:nvPr>
            </p:nvPr>
        </p:nvSpPr>
        <p:spPr>
          <a:xfrm>
            <a:off x="6785788" y="5495544"/>
            <a:ext cx="694496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6" name=""/>
          <p:cNvSpPr>
            <a:spLocks noGrp="1"/>
          </p:cNvSpPr>
          <p:nvPr>
            </p:nvPr>
        </p:nvSpPr>
        <p:spPr>
          <a:xfrm>
            <a:off x="7118130" y="5440680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7" name=""/>
          <p:cNvSpPr>
            <a:spLocks noGrp="1"/>
          </p:cNvSpPr>
          <p:nvPr>
            </p:nvPr>
        </p:nvSpPr>
        <p:spPr>
          <a:xfrm>
            <a:off x="8664755" y="5495544"/>
            <a:ext cx="647989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8" name=""/>
          <p:cNvSpPr>
            <a:spLocks noGrp="1"/>
          </p:cNvSpPr>
          <p:nvPr>
            </p:nvPr>
        </p:nvSpPr>
        <p:spPr>
          <a:xfrm>
            <a:off x="8993546" y="5440680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9" name=""/>
          <p:cNvSpPr>
            <a:spLocks noGrp="1"/>
          </p:cNvSpPr>
          <p:nvPr>
            </p:nvPr>
        </p:nvSpPr>
        <p:spPr>
          <a:xfrm>
            <a:off x="10746599" y="5495544"/>
            <a:ext cx="462294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0" name=""/>
          <p:cNvSpPr>
            <a:spLocks noGrp="1"/>
          </p:cNvSpPr>
          <p:nvPr>
            </p:nvPr>
        </p:nvSpPr>
        <p:spPr>
          <a:xfrm>
            <a:off x="10916287" y="5440680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1" name=""/>
          <p:cNvSpPr>
            <a:spLocks noGrp="1"/>
          </p:cNvSpPr>
          <p:nvPr>
            </p:nvPr>
        </p:nvSpPr>
        <p:spPr>
          <a:xfrm>
            <a:off x="452628" y="5989320"/>
            <a:ext cx="11451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letra indica de qué público es mayor. Cada panel muestra la diferencia de un par con su intervalo. Punto lleno: diferencia significativa.</a:t>
            </a:r>
          </a:p>
        </p:txBody>
      </p:sp>
      <p:sp>
        <p:nvSpPr>
          <p:cNvPr id="132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o «Sí». Prueba z entre cada par de públicos, con corrección de Bonferroni (α = 0.05). Base: 51 docentes, 109 estudiantes y 161 egresados (misión: 52, 172 y 178)</a:t>
            </a:r>
          </a:p>
        </p:txBody>
      </p:sp>
      <p:sp>
        <p:nvSpPr>
          <p:cNvPr id="133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VERSIÓN TÉCNICA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y estudiantes en seis preguntas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61188" y="146304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287268" y="1554480"/>
            <a:ext cx="109728" cy="109728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351276" y="1463040"/>
            <a:ext cx="868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155948" y="1554480"/>
            <a:ext cx="109728" cy="109728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219956" y="1463040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070348" y="1463040"/>
            <a:ext cx="40233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Diferencia, docentes menos estudiantes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093708" y="1463040"/>
            <a:ext cx="15544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Puntos [IC 95 %]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739628" y="1463040"/>
            <a:ext cx="1164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Prueba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52628" y="1792224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61188" y="1920240"/>
            <a:ext cx="45720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INSTITUCIONAL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61188" y="2295144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41548" y="22951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110228" y="22951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093708" y="2295144"/>
            <a:ext cx="1691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+21  [10.8 a 27.7]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739628" y="2295144"/>
            <a:ext cx="1164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&lt; 0.001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2628" y="2660904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093708" y="2660904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61188" y="2752344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Sabe dónde consultarla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241548" y="27523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110228" y="27523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093708" y="2752344"/>
            <a:ext cx="1691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+12  [0.2 a 21.4]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739628" y="2752344"/>
            <a:ext cx="1164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0.043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52628" y="3118104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093708" y="3118104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61188" y="3163824"/>
            <a:ext cx="45720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61188" y="3538728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académica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241548" y="35387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110228" y="35387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093708" y="3538728"/>
            <a:ext cx="1691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+30  [15.4 a 40.7]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739628" y="3538728"/>
            <a:ext cx="1164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&lt; 0.001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52628" y="3904488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093708" y="3904488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61188" y="3995928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3241548" y="39959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110228" y="39959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093708" y="3995928"/>
            <a:ext cx="1691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 [-16.1 a 10.2]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739628" y="3995928"/>
            <a:ext cx="1164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0.795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52628" y="4361688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093708" y="4361688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61188" y="4407408"/>
            <a:ext cx="45720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61188" y="4782312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241548" y="47823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110228" y="47823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093708" y="4782312"/>
            <a:ext cx="1691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+5  [-4.9 a 12.7]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739628" y="4782312"/>
            <a:ext cx="1164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0.240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52628" y="5148072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093708" y="5148072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61188" y="5239512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3241548" y="52395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110228" y="52395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093708" y="5239512"/>
            <a:ext cx="1691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 [-12.5 a 4.4]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0739628" y="5239512"/>
            <a:ext cx="11640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0.524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52628" y="5605272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093708" y="5605272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161788" y="1874520"/>
            <a:ext cx="3840480" cy="3730752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432450" y="1874520"/>
            <a:ext cx="7315" cy="373075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511606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-20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6525158" y="1874520"/>
            <a:ext cx="16459" cy="3730752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621334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627010" y="1874520"/>
            <a:ext cx="7315" cy="373075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31062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+20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8724290" y="1874520"/>
            <a:ext cx="7315" cy="373075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40790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+40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126578" y="2404872"/>
            <a:ext cx="929142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7589594" y="2350008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6547040" y="2862072"/>
            <a:ext cx="1162697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134567" y="2807208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376581" y="3648456"/>
            <a:ext cx="1387392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085234" y="3593592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648807" y="4105656"/>
            <a:ext cx="1443570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6355399" y="4050792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6263897" y="4892040"/>
            <a:ext cx="966747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6739279" y="483717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5847572" y="5349240"/>
            <a:ext cx="928114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6329698" y="529437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704588" y="5861304"/>
            <a:ext cx="173736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en estudiantes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624828" y="5861304"/>
            <a:ext cx="17373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en docentes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o «Sí». Base: 52 docentes y 172 estudiantes (Auditoría y Tributación: 51 y 109). Intervalo de Newcombe. Punto lleno: el intervalo no cruza el cero (prueba z, α = 0.05)</a:t>
            </a:r>
          </a:p>
        </p:txBody>
      </p:sp>
      <p:sp>
        <p:nvSpPr>
          <p:cNvPr id="83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VERSIÓN ESTÁNDAR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y estudiantes en seis preguntas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61188" y="146304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287268" y="1554480"/>
            <a:ext cx="109728" cy="109728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351276" y="1463040"/>
            <a:ext cx="868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155948" y="1554480"/>
            <a:ext cx="109728" cy="109728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219956" y="1463040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070348" y="1463040"/>
            <a:ext cx="40233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Diferencia, docentes menos estudiantes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093708" y="1463040"/>
            <a:ext cx="15544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52628" y="1792224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61188" y="1920240"/>
            <a:ext cx="45720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INSTITUCIONAL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61188" y="2295144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241548" y="22951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110228" y="22951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093708" y="2295144"/>
            <a:ext cx="1371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+21 puntos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511028" y="2295144"/>
            <a:ext cx="1392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2628" y="2660904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093708" y="2660904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61188" y="2752344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Sabe dónde consultarla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241548" y="27523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110228" y="2752344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093708" y="2752344"/>
            <a:ext cx="1371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+12 puntos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511028" y="2752344"/>
            <a:ext cx="1392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52628" y="3118104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093708" y="3118104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61188" y="3163824"/>
            <a:ext cx="45720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61188" y="3538728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académica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241548" y="35387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110228" y="35387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093708" y="3538728"/>
            <a:ext cx="1371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+30 puntos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511028" y="3538728"/>
            <a:ext cx="1392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52628" y="3904488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093708" y="3904488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61188" y="3995928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241548" y="39959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110228" y="399592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093708" y="3995928"/>
            <a:ext cx="1371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puntos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511028" y="3995928"/>
            <a:ext cx="1392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52628" y="4361688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093708" y="4361688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61188" y="4407408"/>
            <a:ext cx="45720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61188" y="4782312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241548" y="47823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110228" y="47823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093708" y="4782312"/>
            <a:ext cx="1371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+5 puntos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511028" y="4782312"/>
            <a:ext cx="1392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52628" y="5148072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093708" y="5148072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361188" y="5239512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241548" y="52395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110228" y="523951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093708" y="5239512"/>
            <a:ext cx="13716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puntos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511028" y="5239512"/>
            <a:ext cx="1392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52628" y="5605272"/>
            <a:ext cx="45720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093708" y="5605272"/>
            <a:ext cx="280995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161788" y="1874520"/>
            <a:ext cx="3840480" cy="3730752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432450" y="1874520"/>
            <a:ext cx="7315" cy="373075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11606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-20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525158" y="1874520"/>
            <a:ext cx="16459" cy="3730752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621334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627010" y="1874520"/>
            <a:ext cx="7315" cy="373075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31062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+20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8724290" y="1874520"/>
            <a:ext cx="7315" cy="373075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8407908" y="56418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+40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7126578" y="2404872"/>
            <a:ext cx="929142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589594" y="2350008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6547040" y="2862072"/>
            <a:ext cx="1162697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134567" y="2807208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376581" y="3648456"/>
            <a:ext cx="1387392" cy="54864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085234" y="3593592"/>
            <a:ext cx="164592" cy="164592"/>
          </a:xfrm>
          <a:prstGeom prst="ellipse">
            <a:avLst/>
          </a:prstGeom>
          <a:solidFill>
            <a:srgbClr val="081F5C">
              <a:alpha val="100000"/>
            </a:srgbClr>
          </a:solidFill>
          <a:ln w="19050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648807" y="4105656"/>
            <a:ext cx="1443570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6355399" y="4050792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6263897" y="4892040"/>
            <a:ext cx="966747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6739279" y="483717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5847572" y="5349240"/>
            <a:ext cx="928114" cy="54864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6329698" y="5294376"/>
            <a:ext cx="164592" cy="164592"/>
          </a:xfrm>
          <a:prstGeom prst="ellipse">
            <a:avLst/>
          </a:prstGeom>
          <a:solidFill>
            <a:srgbClr val="FFFFFF">
              <a:alpha val="100000"/>
            </a:srgbClr>
          </a:solidFill>
          <a:ln w="19050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704588" y="5861304"/>
            <a:ext cx="173736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en estudiantes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6624828" y="5861304"/>
            <a:ext cx="17373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en docentes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o «Sí». Base: 52 docentes y 172 estudiantes (Auditoría y Tributación: 51 y 109). La barra es el intervalo de 95 %: si no cruza el cero, la diferencia es significativa (α = 0.05)</a:t>
            </a:r>
          </a:p>
        </p:txBody>
      </p:sp>
      <p:sp>
        <p:nvSpPr>
          <p:cNvPr id="82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VERSIÓN TÉCNICA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 la misión en los cuatro públicos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1554480"/>
            <a:ext cx="18288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464308" y="155448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750308" y="1554480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2628" y="1883664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2628" y="2121408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 Docentes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464308" y="2167128"/>
            <a:ext cx="1434905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944933" y="2121408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447853" y="2130552"/>
            <a:ext cx="548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BC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50308" y="2121408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2628" y="2560320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2628" y="2688336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  Estudiantes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464308" y="2734056"/>
            <a:ext cx="1131304" cy="201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641332" y="268833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0308" y="2688336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2628" y="3127248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2628" y="3255264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  Egresados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464308" y="3300984"/>
            <a:ext cx="1134267" cy="201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644295" y="3255264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0308" y="3255264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2628" y="3694176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52628" y="3822192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  Administrativos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464308" y="3867912"/>
            <a:ext cx="1365504" cy="201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875532" y="382219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50308" y="3822192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52628" y="4389120"/>
            <a:ext cx="5120640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letra indica de qué público es significativamente mayor: docentes supera a estudiantes (B) y a egresados (C).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939028" y="1508760"/>
            <a:ext cx="7315" cy="38404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33388" y="1463040"/>
            <a:ext cx="54864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Fila menos columna, en puntos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036308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243316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450324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657332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533388" y="2212848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072884" y="2002536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036308" y="2075688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036308" y="2368296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52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533388" y="2980944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072884" y="2770632"/>
            <a:ext cx="1133856" cy="694944"/>
          </a:xfrm>
          <a:prstGeom prst="roundRect">
            <a:avLst/>
          </a:prstGeom>
          <a:solidFill>
            <a:srgbClr val="19316B">
              <a:alpha val="100000"/>
            </a:srgbClr>
          </a:solidFill>
          <a:ln w="3175" cap="rnd" cmpd="sng">
            <a:solidFill>
              <a:srgbClr val="1931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036308" y="2825496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036308" y="3154680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0.004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8279892" y="2770632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243316" y="2843784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243316" y="3136392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172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533388" y="3749040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072884" y="3538728"/>
            <a:ext cx="1133856" cy="694944"/>
          </a:xfrm>
          <a:prstGeom prst="roundRect">
            <a:avLst/>
          </a:prstGeom>
          <a:solidFill>
            <a:srgbClr val="19316B">
              <a:alpha val="100000"/>
            </a:srgbClr>
          </a:solidFill>
          <a:ln w="3175" cap="rnd" cmpd="sng">
            <a:solidFill>
              <a:srgbClr val="1931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036308" y="3593592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-21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036308" y="3922776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0.004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279892" y="3538728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243316" y="3593592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8243316" y="3922776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1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486900" y="3538728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450324" y="3611880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450324" y="3904488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178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533388" y="4517136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7072884" y="4306824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036308" y="4361688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036308" y="4690872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1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279892" y="4306824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8243316" y="4361688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+16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8243316" y="4690872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0.882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486900" y="4306824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450324" y="4361688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+16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450324" y="4690872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 = 0.904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0693908" y="4306824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657332" y="4379976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0657332" y="4672584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15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422896" y="5239512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532624" y="5175504"/>
            <a:ext cx="259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 (más intensa, mayor)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222484" y="5239512"/>
            <a:ext cx="137160" cy="137160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0332212" y="5175504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6533388" y="5541264"/>
            <a:ext cx="5370271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 supera en 16 puntos a estudiantes y egresados, pero con 15 casos esa distancia no es significativa.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52628" y="5998464"/>
            <a:ext cx="9601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Estas pruebas suponen muestreo aleatorio. En estudios censales o por conveniencia, como los de acreditación, se leen como indicativas.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Prueba z de diferencia de proporciones en los seis pares, p ajustada por Bonferroni, α = 0.05 (la misma prueba del motor)</a:t>
            </a:r>
          </a:p>
        </p:txBody>
      </p:sp>
      <p:sp>
        <p:nvSpPr>
          <p:cNvPr id="77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VERSIÓN ESTÁNDAR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 la misión en los cuatro públicos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1554480"/>
            <a:ext cx="18288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464308" y="1554480"/>
            <a:ext cx="21945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750308" y="1554480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2628" y="1883664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2628" y="2121408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 Docentes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464308" y="2167128"/>
            <a:ext cx="1434905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944933" y="2121408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447853" y="2130552"/>
            <a:ext cx="5486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BC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50308" y="2121408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2628" y="2560320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2628" y="2688336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  Estudiantes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464308" y="2734056"/>
            <a:ext cx="1131304" cy="201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641332" y="268833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0308" y="2688336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2628" y="3127248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2628" y="3255264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  Egresados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464308" y="3300984"/>
            <a:ext cx="1134267" cy="201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644295" y="3255264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0308" y="3255264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2628" y="3694176"/>
            <a:ext cx="512064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52628" y="3822192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  Administrativos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464308" y="3867912"/>
            <a:ext cx="1365504" cy="201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875532" y="382219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50308" y="3822192"/>
            <a:ext cx="5486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52628" y="4389120"/>
            <a:ext cx="5120640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letra indica de qué público es significativamente mayor: docentes supera a estudiantes (B) y a egresados (C).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939028" y="1508760"/>
            <a:ext cx="7315" cy="38404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33388" y="1463040"/>
            <a:ext cx="54864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Fila menos columna, en puntos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036308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243316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450324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657332" y="167335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533388" y="2212848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072884" y="2002536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036308" y="2075688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036308" y="2368296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52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533388" y="2980944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072884" y="2770632"/>
            <a:ext cx="1133856" cy="694944"/>
          </a:xfrm>
          <a:prstGeom prst="roundRect">
            <a:avLst/>
          </a:prstGeom>
          <a:solidFill>
            <a:srgbClr val="19316B">
              <a:alpha val="100000"/>
            </a:srgbClr>
          </a:solidFill>
          <a:ln w="3175" cap="rnd" cmpd="sng">
            <a:solidFill>
              <a:srgbClr val="1931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036308" y="2953512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279892" y="2770632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8243316" y="2843784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243316" y="3136392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172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533388" y="3749040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072884" y="3538728"/>
            <a:ext cx="1133856" cy="694944"/>
          </a:xfrm>
          <a:prstGeom prst="roundRect">
            <a:avLst/>
          </a:prstGeom>
          <a:solidFill>
            <a:srgbClr val="19316B">
              <a:alpha val="100000"/>
            </a:srgbClr>
          </a:solidFill>
          <a:ln w="3175" cap="rnd" cmpd="sng">
            <a:solidFill>
              <a:srgbClr val="1931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036308" y="3721608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-21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279892" y="3538728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8243316" y="3721608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486900" y="3538728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450324" y="3611880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450324" y="3904488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178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533388" y="4517136"/>
            <a:ext cx="457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072884" y="4306824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036308" y="4489704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279892" y="4306824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243316" y="4489704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+16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486900" y="4306824"/>
            <a:ext cx="1133856" cy="694944"/>
          </a:xfrm>
          <a:prstGeom prst="round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450324" y="4489704"/>
            <a:ext cx="1207008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+16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693908" y="4306824"/>
            <a:ext cx="1133856" cy="69494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657332" y="4379976"/>
            <a:ext cx="1207008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657332" y="4672584"/>
            <a:ext cx="1207008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 = 15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422896" y="5239512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532624" y="5175504"/>
            <a:ext cx="259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 (más intensa, mayor)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0222484" y="5239512"/>
            <a:ext cx="137160" cy="137160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0332212" y="5175504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533388" y="5541264"/>
            <a:ext cx="5370271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 supera en 16 puntos a estudiantes y egresados, pero con 15 casos esa distancia no es significativa.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452628" y="5998464"/>
            <a:ext cx="9601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Estas pruebas suponen muestreo aleatorio. En estudios censales o por conveniencia, como los de acreditación, se leen como indicativas.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Diferencias significativas según la prueba z entre cada par de públicos, con corrección por comparaciones múltiples (α = 0.05)</a:t>
            </a:r>
          </a:p>
        </p:txBody>
      </p:sp>
      <p:sp>
        <p:nvSpPr>
          <p:cNvPr id="71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VERSIÓN PARA PÚBLICO GENERAL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Diferencias significativas entre docentes y estudiantes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5001260" y="1527048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110988" y="1463040"/>
            <a:ext cx="934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137148" y="1527048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246876" y="1463040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561588" y="1965960"/>
            <a:ext cx="5029200" cy="3401568"/>
          </a:xfrm>
          <a:prstGeom prst="rect">
            <a:avLst/>
          </a:prstGeom>
          <a:solidFill>
            <a:srgbClr val="EAEDF2">
              <a:alpha val="100000"/>
            </a:srgbClr>
          </a:solidFill>
          <a:ln w="3175" cap="rnd" cmpd="sng">
            <a:solidFill>
              <a:srgbClr val="EAED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557930" y="1965960"/>
            <a:ext cx="7315" cy="3401568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41548" y="5404104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563770" y="1965960"/>
            <a:ext cx="7315" cy="3401568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247388" y="5404104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569610" y="1965960"/>
            <a:ext cx="7315" cy="3401568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253228" y="5404104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575450" y="1965960"/>
            <a:ext cx="7315" cy="3401568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259068" y="5404104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581290" y="1965960"/>
            <a:ext cx="7315" cy="3401568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64908" y="5404104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587130" y="1965960"/>
            <a:ext cx="7315" cy="3401568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70748" y="5404104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61188" y="2103120"/>
            <a:ext cx="30175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277356" y="2212848"/>
            <a:ext cx="2112264" cy="73152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289036" y="2148840"/>
            <a:ext cx="201168" cy="201168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499348" y="2112264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176772" y="2148840"/>
            <a:ext cx="201168" cy="201168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527548" y="2112264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368028" y="2112264"/>
            <a:ext cx="2535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52628" y="2532888"/>
            <a:ext cx="29718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368028" y="2532888"/>
            <a:ext cx="25356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61188" y="2670048"/>
            <a:ext cx="30175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Sabe dónde consultarla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579108" y="2779776"/>
            <a:ext cx="1207008" cy="73152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685532" y="2715768"/>
            <a:ext cx="201168" cy="201168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895844" y="267919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478524" y="2715768"/>
            <a:ext cx="201168" cy="201168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829300" y="2679192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368028" y="2679192"/>
            <a:ext cx="2535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52628" y="3099816"/>
            <a:ext cx="29718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368028" y="3099816"/>
            <a:ext cx="25356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61188" y="3236976"/>
            <a:ext cx="30175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académica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863340" y="3346704"/>
            <a:ext cx="3017520" cy="73152"/>
          </a:xfrm>
          <a:prstGeom prst="round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780276" y="3282696"/>
            <a:ext cx="201168" cy="201168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990588" y="3246120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762756" y="3282696"/>
            <a:ext cx="201168" cy="201168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113532" y="3246120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368028" y="3246120"/>
            <a:ext cx="2535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Significativa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52628" y="3666744"/>
            <a:ext cx="29718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368028" y="3666744"/>
            <a:ext cx="25356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61188" y="3803904"/>
            <a:ext cx="30175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076188" y="3936492"/>
            <a:ext cx="201168" cy="27432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5975604" y="3849624"/>
            <a:ext cx="201168" cy="201168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326380" y="3813048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176772" y="3849624"/>
            <a:ext cx="201168" cy="201168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387084" y="3813048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368028" y="3813048"/>
            <a:ext cx="2535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52628" y="4233672"/>
            <a:ext cx="29718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368028" y="4233672"/>
            <a:ext cx="25356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61188" y="4370832"/>
            <a:ext cx="30175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685532" y="4503420"/>
            <a:ext cx="502920" cy="27432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087868" y="4416552"/>
            <a:ext cx="201168" cy="201168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298180" y="437997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7584948" y="4416552"/>
            <a:ext cx="201168" cy="201168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6935724" y="4379976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368028" y="4379976"/>
            <a:ext cx="2535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52628" y="4800600"/>
            <a:ext cx="29718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368028" y="4800600"/>
            <a:ext cx="25356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361188" y="4937760"/>
            <a:ext cx="301752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987284" y="5070348"/>
            <a:ext cx="201168" cy="27432"/>
          </a:xfrm>
          <a:prstGeom prst="roundRect">
            <a:avLst/>
          </a:prstGeom>
          <a:solidFill>
            <a:srgbClr val="AEB6C6">
              <a:alpha val="100000"/>
            </a:srgbClr>
          </a:solidFill>
          <a:ln w="3175" cap="rnd" cmpd="sng">
            <a:solidFill>
              <a:srgbClr val="AEB6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7886700" y="4983480"/>
            <a:ext cx="201168" cy="201168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237476" y="4946904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087868" y="4983480"/>
            <a:ext cx="201168" cy="201168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298180" y="4946904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368028" y="4946904"/>
            <a:ext cx="2535631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significativa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52628" y="5669280"/>
            <a:ext cx="11451031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«Significativa»: la prueba estadística indica que es poco probable que la distancia se deba al azar de quiénes respondieron. No dice si la diferencia es grande o importante.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o «Sí». Base: 52 docentes y 172 estudiantes (Auditoría y Tributación: 51 y 109). La versión técnica muestra el intervalo y la prueba</a:t>
            </a:r>
          </a:p>
        </p:txBody>
      </p:sp>
      <p:sp>
        <p:nvSpPr>
          <p:cNvPr id="76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PROPUESTA 5: VERSIÓN PARA PÚBLICO GENERAL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docentes son quienes más conocen la misión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61188" y="1892808"/>
            <a:ext cx="233172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30068" y="1828800"/>
            <a:ext cx="3945988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867496" y="1883664"/>
            <a:ext cx="82296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1188" y="2670048"/>
            <a:ext cx="233172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30068" y="2606040"/>
            <a:ext cx="3755136" cy="420624"/>
          </a:xfrm>
          <a:prstGeom prst="rect">
            <a:avLst/>
          </a:prstGeom>
          <a:ln w="15875" cap="rnd" cmpd="sng">
            <a:solidFill>
              <a:srgbClr val="8E9DBD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76644" y="2660904"/>
            <a:ext cx="82296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61188" y="3447288"/>
            <a:ext cx="233172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30068" y="3383280"/>
            <a:ext cx="3119234" cy="42062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40742" y="3438144"/>
            <a:ext cx="82296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61188" y="4224528"/>
            <a:ext cx="233172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30068" y="4160520"/>
            <a:ext cx="3111087" cy="42062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032595" y="4215384"/>
            <a:ext cx="82296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825996" y="3383280"/>
            <a:ext cx="91440" cy="2011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825996" y="4561027"/>
            <a:ext cx="91440" cy="2011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897319" y="3383280"/>
            <a:ext cx="20117" cy="119786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897319" y="3972154"/>
            <a:ext cx="202997" cy="2011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146036" y="3707892"/>
            <a:ext cx="173736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diferencia significativa entre ellos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910828" y="1508760"/>
            <a:ext cx="7315" cy="33832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139428" y="1737360"/>
            <a:ext cx="45720" cy="201168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340596" y="1691640"/>
            <a:ext cx="2563063" cy="21031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conocen la misión más que estudiantes y egresados, y la diferencia es significativa. Los </a:t>
            </a: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también marcan alto, pero con 15 casos su diferencia no resulta significativa.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299970" y="504748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409698" y="4983480"/>
            <a:ext cx="2877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 significativa con los demás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378958" y="5047488"/>
            <a:ext cx="137160" cy="13716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488686" y="4983480"/>
            <a:ext cx="207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diferencia significativa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738628" y="5321808"/>
            <a:ext cx="402336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 punteada: base de menos de 30 casos.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2628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administrativos. La versión técnica muestra la matriz de pares con la prueba</a:t>
            </a:r>
          </a:p>
        </p:txBody>
      </p:sp>
      <p:sp>
        <p:nvSpPr>
          <p:cNvPr id="31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88036" y="214884"/>
            <a:ext cx="45720" cy="6583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2628" y="169164"/>
            <a:ext cx="8229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EVALUAR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452628" y="379476"/>
            <a:ext cx="950976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 que no se trae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2628" y="150876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73329" y="1629461"/>
            <a:ext cx="261518" cy="261518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1138428" y="1490472"/>
            <a:ext cx="10765231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Fondo oscuro a sangre y cuña diagonal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38428" y="1783080"/>
            <a:ext cx="10765231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Son la firma visual del informe de referencia. PULSO ya tiene la suya: fondo claro, personas y público.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2628" y="233172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52628" y="246888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573329" y="2589581"/>
            <a:ext cx="261518" cy="26151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1138428" y="2450592"/>
            <a:ext cx="10765231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Láminas de bloques de texto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138428" y="2743200"/>
            <a:ext cx="10765231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Limitaciones o recomendaciones en párrafos no salen de los datos. Si hacen falta, van en la ficha técnica o en el Word.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2628" y="329184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2628" y="342900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573329" y="3549701"/>
            <a:ext cx="261518" cy="261518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1138428" y="3410712"/>
            <a:ext cx="10765231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Diagrama de flecha de los factores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38428" y="3703320"/>
            <a:ext cx="10765231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decorativo. El peso de cada aspecto se lee mejor con puntos, como en la propuesta 4.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2628" y="4251960"/>
            <a:ext cx="11451031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2628" y="4389120"/>
            <a:ext cx="502920" cy="5029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73329" y="4509821"/>
            <a:ext cx="261518" cy="26151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138428" y="4370832"/>
            <a:ext cx="10765231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Colores por factor y celdas de color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38428" y="4663440"/>
            <a:ext cx="10765231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Rompen la paleta: en PULSO el color dice la respuesta, no el tema.</a:t>
            </a:r>
          </a:p>
        </p:txBody>
      </p:sp>
      <p:sp>
        <p:nvSpPr>
          <p:cNvPr id="24" name="Folio lamina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rgbClr val="081F5C"/>
      </a:dk1>
      <a:lt1>
        <a:srgbClr val="FFFFFF"/>
      </a:lt1>
      <a:dk2>
        <a:srgbClr val="081F5C"/>
      </a:dk2>
      <a:lt2>
        <a:srgbClr val="F2F2F2"/>
      </a:lt2>
      <a:accent1>
        <a:srgbClr val="081F5C"/>
      </a:accent1>
      <a:accent2>
        <a:srgbClr val="CA5651"/>
      </a:accent2>
      <a:accent3>
        <a:srgbClr val="85BB85"/>
      </a:accent3>
      <a:accent4>
        <a:srgbClr val="EFD25E"/>
      </a:accent4>
      <a:accent5>
        <a:srgbClr val="BFBFBF"/>
      </a:accent5>
      <a:accent6>
        <a:srgbClr val="E4A34C"/>
      </a:accent6>
      <a:hlink>
        <a:srgbClr val="7594CC"/>
      </a:hlink>
      <a:folHlink>
        <a:srgbClr val="9688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gonzaloalmendariz</cp:lastModifiedBy>
  <cp:revision>73</cp:revision>
  <dcterms:created xsi:type="dcterms:W3CDTF">2025-07-16T05:29:30Z</dcterms:created>
  <dcterms:modified xsi:type="dcterms:W3CDTF">2026-10-08T11:01:00Z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