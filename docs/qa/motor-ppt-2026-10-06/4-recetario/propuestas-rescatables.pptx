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mostrar una diferencia significativa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27048"/>
            <a:ext cx="329184" cy="32918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54480"/>
            <a:ext cx="329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508760"/>
            <a:ext cx="1094811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juzgar por el solapamiento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1819656"/>
            <a:ext cx="10948111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Que dos intervalos de 95 % se toquen no prueba que la diferencia no sea significativa: puede serlo aunque se solapen.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55548" y="2185416"/>
            <a:ext cx="109481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Schenker y Gentleman (2001), The American Statistician. Cumming y Finch (2005), American Psychologist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51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852928"/>
            <a:ext cx="329184" cy="32918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0360"/>
            <a:ext cx="329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2834640"/>
            <a:ext cx="1094811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Graficar la diferencia, no sólo los grupos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145536"/>
            <a:ext cx="10948111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dibuja la diferencia entre dos públicos con su intervalo. Si el intervalo no cruza el cero, la diferencia es significativa.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5548" y="3511296"/>
            <a:ext cx="109481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Gardner y Altman (1986), BMJ. Wright, Klein y Wieczorek (2019), The American Statistician. Newcombe (1998), Statistics in Medicine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9776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178808"/>
            <a:ext cx="329184" cy="32918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06240"/>
            <a:ext cx="329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4160520"/>
            <a:ext cx="1094811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tres o más grupos, comparar por pares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55548" y="4471416"/>
            <a:ext cx="10948111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par se prueba y se corrige por comparaciones múltiples. El resultado se lee en letras o en una matriz de pares sombreada.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5548" y="4837176"/>
            <a:ext cx="109481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Piepho (2004), Journal of Computational and Graphical Statistics. Wright, Klein y Wieczorek (2019), método I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prueba del motor ya es la correcta: z de diferencia de proporciones entre cada par, con corrección de Bonferroni y α = 0.05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DIFERENCIA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783080"/>
          <a:ext cx="5440680" cy="3383280"/>
        </p:xfrm>
        <a:graphic>
          <a:graphicData uri="http://schemas.openxmlformats.org/drawingml/2006/table">
            <a:tbl>
              <a:tblPr/>
              <a:tblGrid>
                <a:gridCol w="2286000"/>
                <a:gridCol w="1051560"/>
                <a:gridCol w="1051560"/>
                <a:gridCol w="1051560"/>
              </a:tblGrid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Diferencia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Conoce la misión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77%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+21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Sabe dónde consultarla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Tutoría académica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53%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+30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Tutoría socioemocional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77%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</a:p>
                  </a:txBody>
                  <a:tcPr anchor="ctr" marB="50800" marT="508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6121908" y="1417320"/>
            <a:ext cx="5781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en puntos (docentes menos estudiantes)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6213348" y="2148840"/>
            <a:ext cx="5690311" cy="3355848"/>
            <a:chOff x="6213348" y="2148840"/>
            <a:chExt cx="5690311" cy="3355848"/>
          </a:xfrm>
        </p:grpSpPr>
        <p:sp>
          <p:nvSpPr>
            <p:cNvPr id="8" name="pl3"/>
            <p:cNvSpPr/>
            <p:nvPr/>
          </p:nvSpPr>
          <p:spPr>
            <a:xfrm>
              <a:off x="6895724" y="2218429"/>
              <a:ext cx="0" cy="3036403"/>
            </a:xfrm>
            <a:custGeom>
              <a:avLst/>
              <a:pathLst>
                <a:path w="0" h="3036403">
                  <a:moveTo>
                    <a:pt x="0" y="30364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4"/>
            <p:cNvSpPr/>
            <p:nvPr/>
          </p:nvSpPr>
          <p:spPr>
            <a:xfrm>
              <a:off x="8337577" y="2218429"/>
              <a:ext cx="0" cy="3036403"/>
            </a:xfrm>
            <a:custGeom>
              <a:avLst/>
              <a:pathLst>
                <a:path w="0" h="3036403">
                  <a:moveTo>
                    <a:pt x="0" y="30364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5"/>
            <p:cNvSpPr/>
            <p:nvPr/>
          </p:nvSpPr>
          <p:spPr>
            <a:xfrm>
              <a:off x="9779429" y="2218429"/>
              <a:ext cx="0" cy="3036403"/>
            </a:xfrm>
            <a:custGeom>
              <a:avLst/>
              <a:pathLst>
                <a:path w="0" h="3036403">
                  <a:moveTo>
                    <a:pt x="0" y="30364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6"/>
            <p:cNvSpPr/>
            <p:nvPr/>
          </p:nvSpPr>
          <p:spPr>
            <a:xfrm>
              <a:off x="11221282" y="2218429"/>
              <a:ext cx="0" cy="3036403"/>
            </a:xfrm>
            <a:custGeom>
              <a:avLst/>
              <a:pathLst>
                <a:path w="0" h="3036403">
                  <a:moveTo>
                    <a:pt x="0" y="30364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2E5E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7"/>
            <p:cNvSpPr/>
            <p:nvPr/>
          </p:nvSpPr>
          <p:spPr>
            <a:xfrm>
              <a:off x="8337577" y="2218429"/>
              <a:ext cx="0" cy="3036403"/>
            </a:xfrm>
            <a:custGeom>
              <a:avLst/>
              <a:pathLst>
                <a:path w="0" h="3036403">
                  <a:moveTo>
                    <a:pt x="0" y="303640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8"/>
            <p:cNvSpPr/>
            <p:nvPr/>
          </p:nvSpPr>
          <p:spPr>
            <a:xfrm>
              <a:off x="9117043" y="2512274"/>
              <a:ext cx="1220915" cy="0"/>
            </a:xfrm>
            <a:custGeom>
              <a:avLst/>
              <a:pathLst>
                <a:path w="1220915" h="0">
                  <a:moveTo>
                    <a:pt x="0" y="0"/>
                  </a:moveTo>
                  <a:lnTo>
                    <a:pt x="1220915" y="0"/>
                  </a:lnTo>
                </a:path>
              </a:pathLst>
            </a:custGeom>
            <a:ln w="59622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9"/>
            <p:cNvSpPr/>
            <p:nvPr/>
          </p:nvSpPr>
          <p:spPr>
            <a:xfrm>
              <a:off x="8355516" y="3002017"/>
              <a:ext cx="1527812" cy="0"/>
            </a:xfrm>
            <a:custGeom>
              <a:avLst/>
              <a:pathLst>
                <a:path w="1527812" h="0">
                  <a:moveTo>
                    <a:pt x="0" y="0"/>
                  </a:moveTo>
                  <a:lnTo>
                    <a:pt x="1527812" y="0"/>
                  </a:lnTo>
                </a:path>
              </a:pathLst>
            </a:custGeom>
            <a:ln w="59622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0"/>
            <p:cNvSpPr/>
            <p:nvPr/>
          </p:nvSpPr>
          <p:spPr>
            <a:xfrm>
              <a:off x="9445553" y="3491759"/>
              <a:ext cx="1823067" cy="0"/>
            </a:xfrm>
            <a:custGeom>
              <a:avLst/>
              <a:pathLst>
                <a:path w="1823067" h="0">
                  <a:moveTo>
                    <a:pt x="0" y="0"/>
                  </a:moveTo>
                  <a:lnTo>
                    <a:pt x="1823067" y="0"/>
                  </a:lnTo>
                </a:path>
              </a:pathLst>
            </a:custGeom>
            <a:ln w="59622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1"/>
            <p:cNvSpPr/>
            <p:nvPr/>
          </p:nvSpPr>
          <p:spPr>
            <a:xfrm>
              <a:off x="7175216" y="3981502"/>
              <a:ext cx="1896886" cy="0"/>
            </a:xfrm>
            <a:custGeom>
              <a:avLst/>
              <a:pathLst>
                <a:path w="1896886" h="0">
                  <a:moveTo>
                    <a:pt x="0" y="0"/>
                  </a:moveTo>
                  <a:lnTo>
                    <a:pt x="1896886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2"/>
            <p:cNvSpPr/>
            <p:nvPr/>
          </p:nvSpPr>
          <p:spPr>
            <a:xfrm>
              <a:off x="7983458" y="4471244"/>
              <a:ext cx="1270329" cy="0"/>
            </a:xfrm>
            <a:custGeom>
              <a:avLst/>
              <a:pathLst>
                <a:path w="1270329" h="0">
                  <a:moveTo>
                    <a:pt x="0" y="0"/>
                  </a:moveTo>
                  <a:lnTo>
                    <a:pt x="1270329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3"/>
            <p:cNvSpPr/>
            <p:nvPr/>
          </p:nvSpPr>
          <p:spPr>
            <a:xfrm>
              <a:off x="7436398" y="4960987"/>
              <a:ext cx="1219564" cy="0"/>
            </a:xfrm>
            <a:custGeom>
              <a:avLst/>
              <a:pathLst>
                <a:path w="1219564" h="0">
                  <a:moveTo>
                    <a:pt x="0" y="0"/>
                  </a:moveTo>
                  <a:lnTo>
                    <a:pt x="1219564" y="0"/>
                  </a:lnTo>
                </a:path>
              </a:pathLst>
            </a:custGeom>
            <a:ln w="59622" cap="rnd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4"/>
            <p:cNvSpPr/>
            <p:nvPr/>
          </p:nvSpPr>
          <p:spPr>
            <a:xfrm>
              <a:off x="9769483" y="2448161"/>
              <a:ext cx="128225" cy="128225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5"/>
            <p:cNvSpPr/>
            <p:nvPr/>
          </p:nvSpPr>
          <p:spPr>
            <a:xfrm>
              <a:off x="9171566" y="2937904"/>
              <a:ext cx="128225" cy="128225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6"/>
            <p:cNvSpPr/>
            <p:nvPr/>
          </p:nvSpPr>
          <p:spPr>
            <a:xfrm>
              <a:off x="10420767" y="3427646"/>
              <a:ext cx="128225" cy="128225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7"/>
            <p:cNvSpPr/>
            <p:nvPr/>
          </p:nvSpPr>
          <p:spPr>
            <a:xfrm>
              <a:off x="8147721" y="3917389"/>
              <a:ext cx="128225" cy="128225"/>
            </a:xfrm>
            <a:prstGeom prst="ellipse">
              <a:avLst/>
            </a:prstGeom>
            <a:solidFill>
              <a:srgbClr val="9AA5B8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8"/>
            <p:cNvSpPr/>
            <p:nvPr/>
          </p:nvSpPr>
          <p:spPr>
            <a:xfrm>
              <a:off x="8652148" y="4407131"/>
              <a:ext cx="128225" cy="128225"/>
            </a:xfrm>
            <a:prstGeom prst="ellipse">
              <a:avLst/>
            </a:prstGeom>
            <a:solidFill>
              <a:srgbClr val="9AA5B8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19"/>
            <p:cNvSpPr/>
            <p:nvPr/>
          </p:nvSpPr>
          <p:spPr>
            <a:xfrm>
              <a:off x="8113950" y="4896874"/>
              <a:ext cx="128225" cy="128225"/>
            </a:xfrm>
            <a:prstGeom prst="ellipse">
              <a:avLst/>
            </a:prstGeom>
            <a:solidFill>
              <a:srgbClr val="9AA5B8">
                <a:alpha val="100000"/>
              </a:srgbClr>
            </a:solidFill>
            <a:ln w="1440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0"/>
            <p:cNvSpPr/>
            <p:nvPr/>
          </p:nvSpPr>
          <p:spPr>
            <a:xfrm>
              <a:off x="6803947" y="5315540"/>
              <a:ext cx="183554" cy="92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8302261" y="5315540"/>
              <a:ext cx="70631" cy="92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9671715" y="5315540"/>
              <a:ext cx="215428" cy="92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+20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11113568" y="5315540"/>
              <a:ext cx="215428" cy="92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+40</a:t>
              </a:r>
            </a:p>
          </p:txBody>
        </p:sp>
      </p:grpSp>
      <p:sp>
        <p:nvSpPr>
          <p:cNvPr id="29" name=""/>
          <p:cNvSpPr>
            <a:spLocks noGrp="1"/>
          </p:cNvSpPr>
          <p:nvPr>
            </p:nvPr>
        </p:nvSpPr>
        <p:spPr>
          <a:xfrm>
            <a:off x="7412076" y="55046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521804" y="5440680"/>
            <a:ext cx="1836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49664" y="5504688"/>
            <a:ext cx="137160" cy="137160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59392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Barra: intervalo de 95 % de la diferencia (Newcombe). Si no cruza el cero, la diferencia es significativa (prueba z, α = 0.05)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MATRIZ DE PARES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691640"/>
          <a:ext cx="5120640" cy="27432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82296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Conoce la misión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 (A)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BC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 (B)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77%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 (C)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178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Administrativos (D)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114800"/>
            <a:ext cx="512064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junto a una cifra indica de qué público es significativamente mayor.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141732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en puntos, fila menos columna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59268" y="1664208"/>
            <a:ext cx="1234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664208"/>
            <a:ext cx="1234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28148" y="1664208"/>
            <a:ext cx="1234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478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86700" y="2039112"/>
            <a:ext cx="1179576" cy="6035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59268" y="2194560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0478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86700" y="2697480"/>
            <a:ext cx="1179576" cy="6035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59268" y="2852928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21140" y="2697480"/>
            <a:ext cx="1179576" cy="603504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852928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0478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86700" y="3355848"/>
            <a:ext cx="1179576" cy="603504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9268" y="3511296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21140" y="3355848"/>
            <a:ext cx="1179576" cy="603504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3511296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55580" y="3355848"/>
            <a:ext cx="1179576" cy="603504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8148" y="3511296"/>
            <a:ext cx="1234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64500" y="42793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74228" y="4215384"/>
            <a:ext cx="1836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02088" y="427939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11816" y="421538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4788" y="4626864"/>
            <a:ext cx="55988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administrativos superan en 16 puntos a estudiantes y egresados, pero con 15 casos esa distancia no es significativa.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entre los seis pares, con corrección de Bonferroni y α = 0.05 (la misma del motor)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