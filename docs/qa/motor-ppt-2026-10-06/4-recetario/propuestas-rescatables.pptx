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Relationship Id="rId5" Type="http://schemas.openxmlformats.org/officeDocument/2006/relationships/image" Target="../media/b0624f93f0901ddded26fc8da982b3bbf66f4aa7.png"/>
<Relationship Id="rId6" Type="http://schemas.openxmlformats.org/officeDocument/2006/relationships/image" Target="../media/d3d99fd3adf75ab4de86bcd84ee9b158c322781d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feb657ef01a9ce117ddb336cc0cc9a66c4db272.png"/>
<Relationship Id="rId3" Type="http://schemas.openxmlformats.org/officeDocument/2006/relationships/image" Target="../media/978277cd0329c4af9360c13c8e3d11bf2db52476.png"/>
<Relationship Id="rId4" Type="http://schemas.openxmlformats.org/officeDocument/2006/relationships/image" Target="../media/017e2d6738d566b93d2e53b9d9c981e21e63c427.png"/>
<Relationship Id="rId5" Type="http://schemas.openxmlformats.org/officeDocument/2006/relationships/image" Target="../media/99c88974cef60a1c6ad6997439c0fba8722dd6c2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PROPUESTAS PARA EL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31520" y="2286000"/>
            <a:ext cx="10698480" cy="6400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Ideas de referencia, en la línea de PULSO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01752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idea dibujada con los recursos de la identidad y con contenido que calcula el motor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EVALUAR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se propone, de dónde sale y dónde viviría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417320"/>
          <a:ext cx="11292840" cy="4114800"/>
        </p:xfrm>
        <a:graphic>
          <a:graphicData uri="http://schemas.openxmlformats.org/drawingml/2006/table">
            <a:tbl>
              <a:tblPr/>
              <a:tblGrid>
                <a:gridCol w="365760"/>
                <a:gridCol w="2926080"/>
                <a:gridCol w="3017520"/>
                <a:gridCol w="2194560"/>
                <a:gridCol w="1554480"/>
                <a:gridCol w="1188720"/>
              </a:tblGrid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#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Propuesta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idea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 calcula el motor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 escribe en la app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Separadores sin cero y con más alternativas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Jerarquía de capítulos sin texto extra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Número y título del plan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Cifras destacadas de 1 a 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cifra destacada de III.2, en cualquier cantidad y posición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Cifras y detalle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 rótulo corto por cifra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Bottom Two Box junto al Top Two Box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Cuántos están insatisfechos, sin sumar a ojo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 la columna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Aceptada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Peso de cada aspecto en la satisfacción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Qué importa, además de qué se evalúa bien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Todo, con un análisis nuevo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Tabla de significancia con su gráfico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diferencia y su intervalo, o la matriz de pares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Prueba y letras (ya existen)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Fila Total separada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referencia se distingue de los grupos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 la fila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Aceptada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 según los comentarios del 2026-10-08. La pregunta exacta en el pie se retiró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474720"/>
            <a:ext cx="1280160" cy="1554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520440" y="3931920"/>
            <a:ext cx="36576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49040" y="3840480"/>
            <a:ext cx="8154619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49040" y="4389120"/>
            <a:ext cx="8154619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A: NÚMERO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B: RÓTULO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144000" y="3383280"/>
            <a:ext cx="2377440" cy="2377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0" i="0" b="1" u="none" strike="noStrike">
                <a:solidFill>
                  <a:srgbClr val="DCE2E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3886200"/>
            <a:ext cx="676656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526280"/>
            <a:ext cx="6766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C: NÚMERO DE FONDO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1: SOBRIA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606040"/>
            <a:ext cx="54864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35508" y="2578608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2852928"/>
            <a:ext cx="91440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342900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2: BARRA LATERAL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2331720"/>
            <a:ext cx="12191695" cy="160020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697480"/>
            <a:ext cx="146304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78508" y="2743200"/>
            <a:ext cx="27432" cy="8229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1388" y="269748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1388" y="324612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3: BANDA CLARA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y los propósitos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03704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16836" y="2176272"/>
            <a:ext cx="5900075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16836" y="2203704"/>
            <a:ext cx="58964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13253" y="2176272"/>
            <a:ext cx="12033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67934" y="2112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23860" y="2103120"/>
            <a:ext cx="495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31252" y="1883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862072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116836" y="2834640"/>
            <a:ext cx="463655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16836" y="2862072"/>
            <a:ext cx="46328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49735" y="2834640"/>
            <a:ext cx="138385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49735" y="2862072"/>
            <a:ext cx="13838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520440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16836" y="3493008"/>
            <a:ext cx="469672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116836" y="3520440"/>
            <a:ext cx="46930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09903" y="3493008"/>
            <a:ext cx="132368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09903" y="3520440"/>
            <a:ext cx="13236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78808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16836" y="4151376"/>
            <a:ext cx="559923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16836" y="4178808"/>
            <a:ext cx="559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12415" y="4151376"/>
            <a:ext cx="42117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02962" y="41788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83330" y="48188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893058" y="475488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398518" y="481888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08246" y="475488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503920" y="1920240"/>
            <a:ext cx="45720" cy="1737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05088" y="1874520"/>
            <a:ext cx="319857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separadora: el antetítulo en coral, con el número del subcapítulo, marca dónde empieza.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1: SEPARADORES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separadores de capítulo y cuatro de subcapítulo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50876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sin cero, grande y en coral, con un filete que lo separa del título.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20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04388" y="2130552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«Capítulo 2» pequeño en coral sobre un filete corto. El título manda.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42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752344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C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4388" y="2752344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número grande en azul muy claro, detrás y a la derecha, como marca de agua.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644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374136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1 y 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04388" y="3374136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general sin personas ni público: el número y el título en una línea, o junto a una barra coral.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86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95928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04388" y="3995928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banda clara a lo ancho con el número y el título. Se lee como un corte menor.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50799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61772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4388" y="461772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propia: la primera lámina del subcapítulo lo anuncia en su antetítulo.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y el título salen del plan del informe: ninguna variante pide escribir texto nuevo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2: CIFRAS,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frente a su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5740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217810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743200"/>
            <a:ext cx="4297680" cy="8572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5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60045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92049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46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90388" y="1508760"/>
            <a:ext cx="65132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90388" y="1746504"/>
            <a:ext cx="651327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40619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90388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47024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09502" y="2882138"/>
            <a:ext cx="4494157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90388" y="2882138"/>
            <a:ext cx="2022772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junto a su gráfico, en mitades. Base: 178 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2: CIFRAS,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cifras con rótulos de largo distinto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01058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67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74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31535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535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1535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5229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36096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481670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269529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69529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9529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8348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queda arriba, el rótulo ocupa hasta dos líneas y el detalle siempre cae a la misma altura, aunque un rótulo sea más largo.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2: CIFRAS,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cifras, el máximo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053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976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9183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70625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0625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625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0560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4276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263469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05132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05132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132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5067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8783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608540" y="1812341"/>
            <a:ext cx="261518" cy="261518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39639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9639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9639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9574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290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9953610" y="1812341"/>
            <a:ext cx="261518" cy="26151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974146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4146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4146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cuatro públicos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7091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cinco, la cifra baja a 34 pt. Si un rótulo pide una línea más, todos los detalles bajan con él. Con seis o más, la información va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417 personas encuestadas en cuatro públicos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PROPUESTAS 3 Y 6: BOTTOM TWO BOX Y FILA TOTAL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25396" y="2139696"/>
            <a:ext cx="376413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91734" y="213055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8151" y="2139696"/>
            <a:ext cx="104737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98151" y="2130552"/>
            <a:ext cx="10437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1866" y="2139696"/>
            <a:ext cx="2463842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1866" y="2130552"/>
            <a:ext cx="2460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902050" y="2139696"/>
            <a:ext cx="2016535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02050" y="2130552"/>
            <a:ext cx="2012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14928" y="2139696"/>
            <a:ext cx="1565572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14928" y="2130552"/>
            <a:ext cx="15655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71939" y="2130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2130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7157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2724912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74498" y="2724912"/>
            <a:ext cx="2165638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74498" y="2715768"/>
            <a:ext cx="21619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6478" y="2724912"/>
            <a:ext cx="402941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36478" y="2715768"/>
            <a:ext cx="40257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62234" y="2724912"/>
            <a:ext cx="1118265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62234" y="2715768"/>
            <a:ext cx="11182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94461" y="26609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07339" y="24323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71939" y="271576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14939" y="271576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0998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3108960"/>
            <a:ext cx="450964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29009" y="30998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72702" y="3108960"/>
            <a:ext cx="134557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72702" y="3099816"/>
            <a:ext cx="13419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4621" y="3108960"/>
            <a:ext cx="2538393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4621" y="3099816"/>
            <a:ext cx="2534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49356" y="3108960"/>
            <a:ext cx="1420127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49356" y="3099816"/>
            <a:ext cx="1416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65825" y="3108960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5825" y="3099816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571939" y="3099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3099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50215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1188" y="361188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526219" y="399592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23499" y="399592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3251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4334256"/>
            <a:ext cx="15426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76004" y="4334256"/>
            <a:ext cx="380178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044224" y="43251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552525" y="4334256"/>
            <a:ext cx="316642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52525" y="4325112"/>
            <a:ext cx="31627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15296" y="4334256"/>
            <a:ext cx="2639300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15296" y="4325112"/>
            <a:ext cx="2635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50938" y="4334256"/>
            <a:ext cx="1129561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50938" y="4325112"/>
            <a:ext cx="11295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095214" y="42702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08092" y="40416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571939" y="432511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14939" y="432511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6634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491032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4919472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74498" y="4919472"/>
            <a:ext cx="231474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174498" y="4910328"/>
            <a:ext cx="23110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5580" y="4919472"/>
            <a:ext cx="328390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485580" y="4910328"/>
            <a:ext cx="3280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65825" y="4919472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5825" y="4910328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94461" y="4855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807339" y="4626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9103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9103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529437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5303520"/>
            <a:ext cx="229570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51308" y="5303520"/>
            <a:ext cx="45548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57180" y="52943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703133" y="5303520"/>
            <a:ext cx="3392341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703133" y="5294376"/>
            <a:ext cx="3388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91816" y="5303520"/>
            <a:ext cx="2413388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091816" y="5294376"/>
            <a:ext cx="24097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501546" y="5303520"/>
            <a:ext cx="978953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501546" y="5294376"/>
            <a:ext cx="9789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132866" y="52395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45744" y="50109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571939" y="529437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714939" y="529437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«De acuerdo» más «Totalmente de acuerdo». Bottom Two Box: las dos respuestas en desacuerdo. Base: 52 docentes y 172 estudiantes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4: PESO EN LA SATISFACCIÓN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atención en la Unidad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 cada aspecto de la atención?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1801368"/>
            <a:ext cx="16459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Cuánto pesa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1954"/>
            <a:ext cx="67482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3447" y="2313432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3175" y="2240280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824228" y="224028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del personal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28516" y="2249424"/>
            <a:ext cx="16421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9075" y="2249424"/>
            <a:ext cx="43181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83115" y="22402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17234" y="2249424"/>
            <a:ext cx="251909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17234" y="2240280"/>
            <a:ext cx="25154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666" y="2249424"/>
            <a:ext cx="2037411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32666" y="2240280"/>
            <a:ext cx="20337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66420" y="2249424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203309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16188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7973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78163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71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2975458"/>
            <a:ext cx="5431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1774" y="2916936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1502" y="2843784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242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Tiempo de atención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8516" y="2852928"/>
            <a:ext cx="48533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315" y="28437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10194" y="2852928"/>
            <a:ext cx="1020534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610194" y="2843784"/>
            <a:ext cx="10168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27071" y="2852928"/>
            <a:ext cx="241205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27071" y="2843784"/>
            <a:ext cx="240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035464" y="2852928"/>
            <a:ext cx="1181094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035464" y="2843784"/>
            <a:ext cx="1177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12900" y="2852928"/>
            <a:ext cx="26759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41213" y="278892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4092" y="256032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571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714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578962"/>
            <a:ext cx="4279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59" y="3520440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287" y="3447288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24228" y="3355848"/>
            <a:ext cx="219456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Claridad de la información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128516" y="3456432"/>
            <a:ext cx="21773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42595" y="3456432"/>
            <a:ext cx="64589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42595" y="3447288"/>
            <a:ext cx="6422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84833" y="3456432"/>
            <a:ext cx="273316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4833" y="3447288"/>
            <a:ext cx="27295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14345" y="3456432"/>
            <a:ext cx="155573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14345" y="3447288"/>
            <a:ext cx="15520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66420" y="3456432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0069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42948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973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78163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571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14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405993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efecto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824228" y="405079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128516" y="4059936"/>
            <a:ext cx="11069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35556" y="4059936"/>
            <a:ext cx="48533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6355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17234" y="4059936"/>
            <a:ext cx="278668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17234" y="4050792"/>
            <a:ext cx="2783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00265" y="4059936"/>
            <a:ext cx="1769812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00265" y="4050792"/>
            <a:ext cx="17661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66420" y="4059936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176549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889428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67973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78163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636008"/>
            <a:ext cx="3657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el peso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910328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peso indica qué parte de la satisfacción general explica cada aspecto, según una regresión lineal. Se reparte entre los aspectos con efecto significativo y suma 100 %.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539496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trato del personal es el aspecto de mayor peso. La infraestructura, aunque bien evaluada, no tiene efecto significativo.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Peso estimado con una regresión lineal de la satisfacción general sobre los aspectos evaluados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SIGNIFICANCIA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se grafica la diferencia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30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 Cada grupo con su intervalo de 95 %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3035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misión?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99439" y="2286000"/>
            <a:ext cx="5486" cy="13258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33679" y="3657600"/>
            <a:ext cx="731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18342" y="2286000"/>
            <a:ext cx="5486" cy="13258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52582" y="3657600"/>
            <a:ext cx="731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37245" y="2286000"/>
            <a:ext cx="5486" cy="13258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71485" y="3657600"/>
            <a:ext cx="731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756148" y="2286000"/>
            <a:ext cx="5486" cy="13258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3657600"/>
            <a:ext cx="731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871158" y="2286000"/>
            <a:ext cx="423518" cy="1325880"/>
          </a:xfrm>
          <a:prstGeom prst="rect">
            <a:avLst/>
          </a:prstGeom>
          <a:solidFill>
            <a:srgbClr val="FBE3D3">
              <a:alpha val="100000"/>
            </a:srgbClr>
          </a:solidFill>
          <a:ln w="3175" cap="rnd" cmpd="sng">
            <a:solidFill>
              <a:srgbClr val="FBE3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188" y="245059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871158" y="2537460"/>
            <a:ext cx="1569928" cy="4572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5569" y="2468880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4238" y="24323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1188" y="304495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10819" y="3131820"/>
            <a:ext cx="1383857" cy="4572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596259" y="3063240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67827" y="302666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1188" y="4023360"/>
            <a:ext cx="5394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intervalos se solapan (zona naranja). A simple vista parece que no hay diferencia.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21908" y="1508760"/>
            <a:ext cx="7315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87668" y="1508760"/>
            <a:ext cx="5415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 La diferencia con su intervalo de 95 %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87668" y="1746504"/>
            <a:ext cx="5415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menos estudiantes, en puntos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87668" y="2286000"/>
            <a:ext cx="5486" cy="13258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21908" y="3657600"/>
            <a:ext cx="731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-10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3086" y="2286000"/>
            <a:ext cx="18288" cy="132588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07326" y="3657600"/>
            <a:ext cx="731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8504" y="2286000"/>
            <a:ext cx="5486" cy="13258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92744" y="3657600"/>
            <a:ext cx="731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343921" y="2286000"/>
            <a:ext cx="5486" cy="13258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978161" y="3657600"/>
            <a:ext cx="731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629339" y="2286000"/>
            <a:ext cx="5486" cy="13258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63579" y="3657600"/>
            <a:ext cx="731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805072" y="2830068"/>
            <a:ext cx="2724102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64682" y="275234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545610" y="2359152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  [0.2 a 21.4]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96228" y="4023360"/>
            <a:ext cx="55074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intervalo de la diferencia no cruza el cero: es significativa (p = 0.043).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029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148072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eso el gráfico de significancia muestra la diferencia y su intervalo, no sólo los grupos. Con tres o más grupos, se comparan los pares y se corrige por comparaciones múltiples.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Fuentes: Schenker y Gentleman (2001), Cumming y Finch (2005), Gardner y Altman (1986), Newcombe (1998) y Wright, Klein y Wieczorek (2019). Intervalos de Wilson y Newcombe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TABLA Y DIFERENCIA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7268" y="1554480"/>
            <a:ext cx="109728" cy="109728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51276" y="1463040"/>
            <a:ext cx="868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55948" y="1554480"/>
            <a:ext cx="109728" cy="109728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19956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[IC 95 %]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39628" y="1463040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6908" y="2203704"/>
            <a:ext cx="11496751" cy="45720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93708" y="22951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 [10.8 a 27.7]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39628" y="22951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93708" y="27523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 [0.2 a 21.4]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739628" y="27523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0.043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6908" y="3447288"/>
            <a:ext cx="11496751" cy="45720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93708" y="35387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 [15.4 a 40.7]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39628" y="35387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93708" y="39959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[-16.1 a 10.2]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39628" y="39959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0.795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4690872"/>
            <a:ext cx="11496751" cy="45720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93708" y="47823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 [-4.9 a 12.7]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39628" y="47823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0.240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93708" y="52395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[-12.5 a 4.4]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39628" y="52395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0.524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433365" y="1874520"/>
            <a:ext cx="5486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24244" y="1874520"/>
            <a:ext cx="18288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27925" y="1874520"/>
            <a:ext cx="5486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725205" y="1874520"/>
            <a:ext cx="5486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580450" y="234086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125423" y="279806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076090" y="358444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346255" y="4041648"/>
            <a:ext cx="182880" cy="182880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730135" y="4828032"/>
            <a:ext cx="182880" cy="182880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320554" y="5285232"/>
            <a:ext cx="182880" cy="182880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Intervalo de Newcombe. Punto lleno: el intervalo no cruza el cero (prueba z, α = 0.05)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TABLA Y MATRIZ DE PARES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63740" y="1993392"/>
            <a:ext cx="1152144" cy="713232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63740" y="2761488"/>
            <a:ext cx="1152144" cy="713232"/>
          </a:xfrm>
          <a:prstGeom prst="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825496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36308" y="3154680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70748" y="2761488"/>
            <a:ext cx="1152144" cy="713232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63740" y="3529584"/>
            <a:ext cx="1152144" cy="713232"/>
          </a:xfrm>
          <a:prstGeom prst="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6308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08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0748" y="3529584"/>
            <a:ext cx="1152144" cy="713232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243316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43316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77756" y="3529584"/>
            <a:ext cx="1152144" cy="713232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63740" y="4297680"/>
            <a:ext cx="1152144" cy="713232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36308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36308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0748" y="4297680"/>
            <a:ext cx="1152144" cy="713232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3316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43316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0.882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477756" y="4297680"/>
            <a:ext cx="1152144" cy="713232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50324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50324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0.904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84764" y="4297680"/>
            <a:ext cx="1152144" cy="713232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z de diferencia de proporciones en los seis pares, p ajustada por Bonferroni, α = 0.05 (la misma prueba del motor)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EVALUAR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no se trae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62946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138428" y="149047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oscuro a sangre y cuña diagonal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38428" y="178308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la firma visual del informe de referencia. PULSO ya tiene la suya: fondo claro, personas y público.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317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6888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73329" y="2589581"/>
            <a:ext cx="261518" cy="26151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138428" y="245059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bloques de texto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38428" y="274320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Limitaciones o recomendaciones en párrafos no salen de los datos. Si hacen falta, van en la ficha técnica o en el Word.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2918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42900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73329" y="3549701"/>
            <a:ext cx="261518" cy="26151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138428" y="341071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flecha de los factores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8428" y="370332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decorativo. El peso de cada aspecto se lee mejor con puntos, como en la propuesta 4.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519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38912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3329" y="4509821"/>
            <a:ext cx="261518" cy="26151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138428" y="437083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Colores por factor y celdas de color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8428" y="466344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Rompen la paleta: en PULSO el color dice la respuesta, no el tema.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2026-10-08T08:24:22Z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