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PARA EL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400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Piezas rescatables de un informe de referencia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Dibujadas con la identidad de PULSO para comentarlas y decidir si entran al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se propone y dónde viviría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417320"/>
          <a:ext cx="11292840" cy="4114800"/>
        </p:xfrm>
        <a:graphic>
          <a:graphicData uri="http://schemas.openxmlformats.org/drawingml/2006/table">
            <a:tbl>
              <a:tblPr/>
              <a:tblGrid>
                <a:gridCol w="411480"/>
                <a:gridCol w="3291840"/>
                <a:gridCol w="3566160"/>
                <a:gridCol w="3108960"/>
                <a:gridCol w="914400"/>
              </a:tblGrid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Propuesta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cambia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Dónde viviría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Esfuerzo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Separadores con número grande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Portadillas de capítulo y subcapítulo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Layout de la plantilla + p_slide_seccion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Resumen ejecutivo en columnas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Lámina nueva al inicio del informe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Constructor nuevo p_slide_resumen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Medio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Bottom Two Box junto al Top Two Box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columna más en las barras de escala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bloque_likert y likert_panel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Columna de impacto en la satisfacción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columna a la izquierda y una lámina de pesos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Analítica (regresión) + graficador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 resumen con significancia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 con celdas resaltadas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 de cruces del motor (letras ya existen)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Medio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Línea punteada bajo el Total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Separa la referencia de los subgrupos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bloque_likert y barras apiladas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Bloques numerados de cierre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Limitaciones y consideraciones para la réplica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Constructor nuevo p_slide_bloques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Medio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 exacta en el pie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Redacción de la pregunta sobre la base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Pie de lámina del motor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Esfuerzo bajo: cambio de dibujo. Medio: constructor nuevo. Alto: análisis nuevo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859536" y="2002536"/>
            <a:ext cx="3125216" cy="5120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822960" y="1965960"/>
            <a:ext cx="336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021328" y="1965960"/>
            <a:ext cx="64008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EL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22960" y="2514600"/>
            <a:ext cx="694944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EDUCATIVO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22960" y="3063240"/>
            <a:ext cx="694944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CARRERA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680960" y="1600200"/>
            <a:ext cx="3840480" cy="17373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grpSp xmlns:pic="http://schemas.openxmlformats.org/drawingml/2006/picture">
        <p:nvGrpSpPr>
          <p:cNvPr id="9" name=""/>
          <p:cNvGrpSpPr/>
          <p:nvPr/>
        </p:nvGrpSpPr>
        <p:grpSpPr>
          <a:xfrm>
            <a:off x="8899855" y="4663440"/>
            <a:ext cx="3291840" cy="2194560"/>
            <a:chOff x="8899855" y="4663440"/>
            <a:chExt cx="3291840" cy="2194560"/>
          </a:xfrm>
        </p:grpSpPr>
        <p:sp>
          <p:nvSpPr>
            <p:cNvPr id="10" name="rc3"/>
            <p:cNvSpPr/>
            <p:nvPr/>
          </p:nvSpPr>
          <p:spPr>
            <a:xfrm>
              <a:off x="8899855" y="4663440"/>
              <a:ext cx="3291839" cy="21945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1" name="pg4"/>
            <p:cNvSpPr/>
            <p:nvPr/>
          </p:nvSpPr>
          <p:spPr>
            <a:xfrm>
              <a:off x="9887407" y="4773168"/>
              <a:ext cx="2304287" cy="2084832"/>
            </a:xfrm>
            <a:custGeom>
              <a:avLst/>
              <a:pathLst>
                <a:path w="2304287" h="2084832">
                  <a:moveTo>
                    <a:pt x="0" y="2084832"/>
                  </a:moveTo>
                  <a:lnTo>
                    <a:pt x="855878" y="2084832"/>
                  </a:lnTo>
                  <a:lnTo>
                    <a:pt x="2304287" y="768096"/>
                  </a:lnTo>
                  <a:lnTo>
                    <a:pt x="2304287" y="0"/>
                  </a:lnTo>
                  <a:close/>
                </a:path>
              </a:pathLst>
            </a:custGeom>
            <a:solidFill>
              <a:srgbClr val="CA565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g5"/>
            <p:cNvSpPr/>
            <p:nvPr/>
          </p:nvSpPr>
          <p:spPr>
            <a:xfrm>
              <a:off x="11006632" y="5760720"/>
              <a:ext cx="1185062" cy="1097280"/>
            </a:xfrm>
            <a:custGeom>
              <a:avLst/>
              <a:pathLst>
                <a:path w="1185062" h="1097280">
                  <a:moveTo>
                    <a:pt x="0" y="1097280"/>
                  </a:moveTo>
                  <a:lnTo>
                    <a:pt x="263347" y="1097280"/>
                  </a:lnTo>
                  <a:lnTo>
                    <a:pt x="1185062" y="241401"/>
                  </a:lnTo>
                  <a:lnTo>
                    <a:pt x="1185062" y="0"/>
                  </a:lnTo>
                  <a:close/>
                </a:path>
              </a:pathLst>
            </a:custGeom>
            <a:solidFill>
              <a:srgbClr val="4F6A9A">
                <a:alpha val="100000"/>
              </a:srgbClr>
            </a:solidFill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859536" y="2002536"/>
            <a:ext cx="1931416" cy="5120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822960" y="1965960"/>
            <a:ext cx="21691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27528" y="1965960"/>
            <a:ext cx="64008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22960" y="2514600"/>
            <a:ext cx="694944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ACOMPAÑAMIENTO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22960" y="3063240"/>
            <a:ext cx="694944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ACADÉMICO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680960" y="1600200"/>
            <a:ext cx="3840480" cy="17373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grpSp xmlns:pic="http://schemas.openxmlformats.org/drawingml/2006/picture">
        <p:nvGrpSpPr>
          <p:cNvPr id="9" name=""/>
          <p:cNvGrpSpPr/>
          <p:nvPr/>
        </p:nvGrpSpPr>
        <p:grpSpPr>
          <a:xfrm>
            <a:off x="8899855" y="4663440"/>
            <a:ext cx="3291840" cy="2194560"/>
            <a:chOff x="8899855" y="4663440"/>
            <a:chExt cx="3291840" cy="2194560"/>
          </a:xfrm>
        </p:grpSpPr>
        <p:sp>
          <p:nvSpPr>
            <p:cNvPr id="10" name="rc3"/>
            <p:cNvSpPr/>
            <p:nvPr/>
          </p:nvSpPr>
          <p:spPr>
            <a:xfrm>
              <a:off x="8899855" y="4663440"/>
              <a:ext cx="3291839" cy="21945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1" name="pg4"/>
            <p:cNvSpPr/>
            <p:nvPr/>
          </p:nvSpPr>
          <p:spPr>
            <a:xfrm>
              <a:off x="9887407" y="4773168"/>
              <a:ext cx="2304287" cy="2084832"/>
            </a:xfrm>
            <a:custGeom>
              <a:avLst/>
              <a:pathLst>
                <a:path w="2304287" h="2084832">
                  <a:moveTo>
                    <a:pt x="0" y="2084832"/>
                  </a:moveTo>
                  <a:lnTo>
                    <a:pt x="855878" y="2084832"/>
                  </a:lnTo>
                  <a:lnTo>
                    <a:pt x="2304287" y="768096"/>
                  </a:lnTo>
                  <a:lnTo>
                    <a:pt x="2304287" y="0"/>
                  </a:lnTo>
                  <a:close/>
                </a:path>
              </a:pathLst>
            </a:custGeom>
            <a:solidFill>
              <a:srgbClr val="CA565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g5"/>
            <p:cNvSpPr/>
            <p:nvPr/>
          </p:nvSpPr>
          <p:spPr>
            <a:xfrm>
              <a:off x="11006632" y="5760720"/>
              <a:ext cx="1185062" cy="1097280"/>
            </a:xfrm>
            <a:custGeom>
              <a:avLst/>
              <a:pathLst>
                <a:path w="1185062" h="1097280">
                  <a:moveTo>
                    <a:pt x="0" y="1097280"/>
                  </a:moveTo>
                  <a:lnTo>
                    <a:pt x="263347" y="1097280"/>
                  </a:lnTo>
                  <a:lnTo>
                    <a:pt x="1185062" y="241401"/>
                  </a:lnTo>
                  <a:lnTo>
                    <a:pt x="1185062" y="0"/>
                  </a:lnTo>
                  <a:close/>
                </a:path>
              </a:pathLst>
            </a:custGeom>
            <a:solidFill>
              <a:srgbClr val="4F6A9A">
                <a:alpha val="100000"/>
              </a:srgbClr>
            </a:solidFill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859536" y="2002536"/>
            <a:ext cx="3125216" cy="5120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822960" y="1965960"/>
            <a:ext cx="336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021328" y="1965960"/>
            <a:ext cx="64008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EL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22960" y="2514600"/>
            <a:ext cx="694944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EDUCATIVO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22960" y="3063240"/>
            <a:ext cx="694944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CARRERA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680960" y="1600200"/>
            <a:ext cx="3840480" cy="17373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grpSp xmlns:pic="http://schemas.openxmlformats.org/drawingml/2006/picture">
        <p:nvGrpSpPr>
          <p:cNvPr id="9" name=""/>
          <p:cNvGrpSpPr/>
          <p:nvPr/>
        </p:nvGrpSpPr>
        <p:grpSpPr>
          <a:xfrm>
            <a:off x="8899855" y="4663440"/>
            <a:ext cx="3291840" cy="2194560"/>
            <a:chOff x="8899855" y="4663440"/>
            <a:chExt cx="3291840" cy="2194560"/>
          </a:xfrm>
        </p:grpSpPr>
        <p:sp>
          <p:nvSpPr>
            <p:cNvPr id="10" name="rc3"/>
            <p:cNvSpPr/>
            <p:nvPr/>
          </p:nvSpPr>
          <p:spPr>
            <a:xfrm>
              <a:off x="8899855" y="4663440"/>
              <a:ext cx="3291839" cy="21945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1" name="pg4"/>
            <p:cNvSpPr/>
            <p:nvPr/>
          </p:nvSpPr>
          <p:spPr>
            <a:xfrm>
              <a:off x="9887407" y="4773168"/>
              <a:ext cx="2304287" cy="2084832"/>
            </a:xfrm>
            <a:custGeom>
              <a:avLst/>
              <a:pathLst>
                <a:path w="2304287" h="2084832">
                  <a:moveTo>
                    <a:pt x="0" y="2084832"/>
                  </a:moveTo>
                  <a:lnTo>
                    <a:pt x="855878" y="2084832"/>
                  </a:lnTo>
                  <a:lnTo>
                    <a:pt x="2304287" y="768096"/>
                  </a:lnTo>
                  <a:lnTo>
                    <a:pt x="2304287" y="0"/>
                  </a:lnTo>
                  <a:close/>
                </a:path>
              </a:pathLst>
            </a:custGeom>
            <a:solidFill>
              <a:srgbClr val="CA565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g5"/>
            <p:cNvSpPr/>
            <p:nvPr/>
          </p:nvSpPr>
          <p:spPr>
            <a:xfrm>
              <a:off x="11006632" y="5760720"/>
              <a:ext cx="1185062" cy="1097280"/>
            </a:xfrm>
            <a:custGeom>
              <a:avLst/>
              <a:pathLst>
                <a:path w="1185062" h="1097280">
                  <a:moveTo>
                    <a:pt x="0" y="1097280"/>
                  </a:moveTo>
                  <a:lnTo>
                    <a:pt x="263347" y="1097280"/>
                  </a:lnTo>
                  <a:lnTo>
                    <a:pt x="1185062" y="241401"/>
                  </a:lnTo>
                  <a:lnTo>
                    <a:pt x="1185062" y="0"/>
                  </a:lnTo>
                  <a:close/>
                </a:path>
              </a:pathLst>
            </a:custGeom>
            <a:solidFill>
              <a:srgbClr val="C9D3E6">
                <a:alpha val="100000"/>
              </a:srgbClr>
            </a:solidFill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1: 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compara con la portadilla actual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27048"/>
            <a:ext cx="292608" cy="29260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545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1508760"/>
            <a:ext cx="110395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azul oscuro a sangre, o la variante clara sobre el fondo de la plantilla.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93976"/>
            <a:ext cx="292608" cy="29260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226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64108" y="2075688"/>
            <a:ext cx="110395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palabra clave del capítulo va sobre un recuadro coral. El resto del título, en mayúsculas.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60904"/>
            <a:ext cx="292608" cy="29260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7919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4108" y="2642616"/>
            <a:ext cx="110395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del capítulo o subcapítulo (02, 2.1) a la derecha, en grande: la jerarquía se lee sin texto extra.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227832"/>
            <a:ext cx="292608" cy="29260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4612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108" y="3209544"/>
            <a:ext cx="110395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cuña diagonal coral en la esquina cierra la composición. Reemplaza a las siluetas de público.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794760"/>
            <a:ext cx="292608" cy="29260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13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108" y="3776472"/>
            <a:ext cx="110395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portadilla actual (círculo coral con ícono y siluetas) puede convivir: una para capítulos y otra para partes.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viviría: un layout «Separador» en la plantilla y p_slide_seccion con número y palabra clave como argumentos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50292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Resumen ejecutivo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61188" y="1417320"/>
            <a:ext cx="1097280" cy="9144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377440"/>
            <a:ext cx="2588438" cy="548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56032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misión se conoce entre los 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3200400"/>
            <a:ext cx="2679878" cy="2011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98 % de los docentes conoce la misión y los propósitos de la PUCP, frente al 77 % de los estudiantes y el 78 % de los egresados.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23946" y="1508760"/>
            <a:ext cx="7315" cy="420624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1417320"/>
            <a:ext cx="1097280" cy="9144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826" y="2377440"/>
            <a:ext cx="2588438" cy="5486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256032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tutoría académica divide a los públicos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15386" y="3200400"/>
            <a:ext cx="2679878" cy="2011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83 % de los docentes está de acuerdo con que la Unidad cuenta con tutoría académica. Entre los estudiantes baja a 53 %.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78144" y="1508760"/>
            <a:ext cx="7315" cy="420624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69584" y="1417320"/>
            <a:ext cx="1097280" cy="9144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F4B183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61024" y="2377440"/>
            <a:ext cx="2588438" cy="5486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69584" y="256032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competencias del perfil se valoran alto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69584" y="3200400"/>
            <a:ext cx="2679878" cy="2011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tres dimensiones del perfil de egreso llegan a 95 % o más de Top Two Box entre los estudiantes.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132341" y="1508760"/>
            <a:ext cx="7315" cy="420624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23781" y="1417320"/>
            <a:ext cx="1097280" cy="9144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ADD493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15221" y="2377440"/>
            <a:ext cx="2588438" cy="5486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23781" y="256032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Pocos egresados tienen el título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223781" y="3200400"/>
            <a:ext cx="2679878" cy="2011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31 % de los egresados cuenta con título universitario, aunque el 98 % trabaja.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RESUMEN EN COLUMNAS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Resumen ejecutivo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097280" cy="9144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77440"/>
            <a:ext cx="258843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6032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misión se conoce entre los 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2679878" cy="2011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98 % de los docentes conoce la misión y los propósitos de la PUCP, frente al 77 % de los estudiantes y el 78 % de los egresados.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23946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1417320"/>
            <a:ext cx="1097280" cy="9144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406826" y="2377440"/>
            <a:ext cx="2588438" cy="548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15386" y="256032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tutoría académica divide a los públicos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3200400"/>
            <a:ext cx="2679878" cy="2011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83 % de los docentes está de acuerdo con que la Unidad cuenta con tutoría académica. Entre los estudiantes baja a 53 %.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69584" y="1417320"/>
            <a:ext cx="1097280" cy="9144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61024" y="2377440"/>
            <a:ext cx="2588438" cy="5486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69584" y="256032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competencias del perfil se valoran alto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69584" y="3200400"/>
            <a:ext cx="2679878" cy="2011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tres dimensiones del perfil de egreso llegan a 95 % o más de Top Two Box entre los estudiantes.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32341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23781" y="1417320"/>
            <a:ext cx="1097280" cy="9144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15221" y="2377440"/>
            <a:ext cx="2588438" cy="54864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223781" y="256032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Pocos egresados tienen el título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23781" y="3200400"/>
            <a:ext cx="2679878" cy="2011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31 % de los egresados cuenta con título universitario, aunque el 98 % trabaja.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viviría: constructor nuevo p_slide_resumen con dos a cuatro hallazgos (titular, texto y color). Cifras del recetario de Contabilidad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3 Y 6: BOTTOM TWO BOX Y LÍNEA BAJO EL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49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C442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57984"/>
            <a:ext cx="371841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89448" y="2148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3579" y="2157984"/>
            <a:ext cx="103457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3579" y="2148840"/>
            <a:ext cx="10309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24492" y="2157984"/>
            <a:ext cx="2433666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4492" y="2148840"/>
            <a:ext cx="24300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54501" y="2157984"/>
            <a:ext cx="199184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54501" y="2148840"/>
            <a:ext cx="19881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842690" y="2157984"/>
            <a:ext cx="154636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842690" y="2148840"/>
            <a:ext cx="15463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26219" y="2139696"/>
            <a:ext cx="1143000" cy="292608"/>
          </a:xfrm>
          <a:prstGeom prst="rect">
            <a:avLst/>
          </a:prstGeom>
          <a:solidFill>
            <a:srgbClr val="E3F0DA">
              <a:alpha val="100000"/>
            </a:srgbClr>
          </a:solidFill>
          <a:ln w="3175" cap="rnd" cmpd="sng">
            <a:solidFill>
              <a:srgbClr val="E3F0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526219" y="214884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E6B22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60659" y="2139696"/>
            <a:ext cx="1143000" cy="292608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60659" y="214884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9C442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0644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8660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676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4692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2708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20724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348740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476756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04772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60804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988820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116836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44852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72868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00884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28900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56916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4932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012948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40964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68980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396996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525012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53028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81044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909060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37076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65092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293108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1124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49140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677156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5172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3188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61204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89220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17236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45252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73268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701284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829300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957316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085332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341364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69380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597396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725412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853428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81444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109460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7476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65492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93508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621524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749540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877556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005572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133588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261604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89620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17636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45652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773668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901684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029700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157716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285732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3748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541764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669780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797796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25812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53828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1844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309860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37876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565892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693908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821924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49940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077956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1205972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33988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462004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1590020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718036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846052" y="2514600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2624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025396" y="2633472"/>
            <a:ext cx="150931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172669" y="2633472"/>
            <a:ext cx="213912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172669" y="2624328"/>
            <a:ext cx="21354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308132" y="2633472"/>
            <a:ext cx="3980036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308132" y="2624328"/>
            <a:ext cx="39763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284510" y="2633472"/>
            <a:ext cx="110454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8284510" y="2624328"/>
            <a:ext cx="11045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093546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806425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526219" y="2615184"/>
            <a:ext cx="1143000" cy="292608"/>
          </a:xfrm>
          <a:prstGeom prst="rect">
            <a:avLst/>
          </a:prstGeom>
          <a:solidFill>
            <a:srgbClr val="E3F0DA">
              <a:alpha val="100000"/>
            </a:srgbClr>
          </a:solidFill>
          <a:ln w="3175" cap="rnd" cmpd="sng">
            <a:solidFill>
              <a:srgbClr val="E3F0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526219" y="2624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E6B22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0760659" y="2615184"/>
            <a:ext cx="1143000" cy="292608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0760659" y="2624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9C442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30449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025396" y="3054096"/>
            <a:ext cx="44547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926266" y="30449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467216" y="3054096"/>
            <a:ext cx="1329117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2467216" y="3044952"/>
            <a:ext cx="1325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3792675" y="3054096"/>
            <a:ext cx="250730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3792675" y="3044952"/>
            <a:ext cx="25036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6296321" y="3054096"/>
            <a:ext cx="140275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6296321" y="3044952"/>
            <a:ext cx="1399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7695417" y="3054096"/>
            <a:ext cx="169364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7695417" y="3044952"/>
            <a:ext cx="1693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9526219" y="3035808"/>
            <a:ext cx="1143000" cy="292608"/>
          </a:xfrm>
          <a:prstGeom prst="rect">
            <a:avLst/>
          </a:prstGeom>
          <a:solidFill>
            <a:srgbClr val="E3F0DA">
              <a:alpha val="100000"/>
            </a:srgbClr>
          </a:solidFill>
          <a:ln w="3175" cap="rnd" cmpd="sng">
            <a:solidFill>
              <a:srgbClr val="E3F0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9526219" y="30449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E6B22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10760659" y="3035808"/>
            <a:ext cx="1143000" cy="292608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10760659" y="30449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9C442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361188" y="3575304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480499" y="3959352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10714939" y="3959352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C442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452628" y="430682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2025396" y="4315968"/>
            <a:ext cx="152418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2174157" y="4315968"/>
            <a:ext cx="3755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2040068" y="43068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2546059" y="4315968"/>
            <a:ext cx="3127636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2546059" y="4306824"/>
            <a:ext cx="3123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5670037" y="4315968"/>
            <a:ext cx="260697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5670037" y="4306824"/>
            <a:ext cx="26033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8273353" y="4315968"/>
            <a:ext cx="1115707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8273353" y="4306824"/>
            <a:ext cx="11157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2094290" y="42519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807168" y="40233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9526219" y="4297680"/>
            <a:ext cx="1143000" cy="292608"/>
          </a:xfrm>
          <a:prstGeom prst="rect">
            <a:avLst/>
          </a:prstGeom>
          <a:solidFill>
            <a:srgbClr val="E3F0DA">
              <a:alpha val="100000"/>
            </a:srgbClr>
          </a:solidFill>
          <a:ln w="3175" cap="rnd" cmpd="sng">
            <a:solidFill>
              <a:srgbClr val="E3F0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9526219" y="430682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E6B22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10760659" y="4297680"/>
            <a:ext cx="1143000" cy="292608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10760659" y="430682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9C442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452628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2" name=""/>
          <p:cNvSpPr>
            <a:spLocks noGrp="1"/>
          </p:cNvSpPr>
          <p:nvPr>
            </p:nvPr>
        </p:nvSpPr>
        <p:spPr>
          <a:xfrm>
            <a:off x="580644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708660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836676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964692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1092708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1220724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1348740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1476756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1604772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1732788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1860804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1988820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2116836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2244852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2372868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2500884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2628900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2756916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2884932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3012948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3140964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3268980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3396996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3525012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3653028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3781044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3909060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4037076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4165092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4293108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2" name=""/>
          <p:cNvSpPr>
            <a:spLocks noGrp="1"/>
          </p:cNvSpPr>
          <p:nvPr>
            </p:nvPr>
        </p:nvSpPr>
        <p:spPr>
          <a:xfrm>
            <a:off x="4421124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3" name=""/>
          <p:cNvSpPr>
            <a:spLocks noGrp="1"/>
          </p:cNvSpPr>
          <p:nvPr>
            </p:nvPr>
        </p:nvSpPr>
        <p:spPr>
          <a:xfrm>
            <a:off x="4549140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4677156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4805172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4933188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5061204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5189220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5317236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5445252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5573268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5701284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3" name=""/>
          <p:cNvSpPr>
            <a:spLocks noGrp="1"/>
          </p:cNvSpPr>
          <p:nvPr>
            </p:nvPr>
        </p:nvSpPr>
        <p:spPr>
          <a:xfrm>
            <a:off x="5829300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4" name=""/>
          <p:cNvSpPr>
            <a:spLocks noGrp="1"/>
          </p:cNvSpPr>
          <p:nvPr>
            </p:nvPr>
        </p:nvSpPr>
        <p:spPr>
          <a:xfrm>
            <a:off x="5957316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085332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6213348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6341364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69380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597396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725412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53428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981444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109460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237476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7365492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7493508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7621524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7749540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7877556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8005572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8133588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8261604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8389620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8517636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8645652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8773668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8901684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9029700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9157716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9285732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9413748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9541764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9669780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9797796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9925812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10053828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10181844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10309860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9" name=""/>
          <p:cNvSpPr>
            <a:spLocks noGrp="1"/>
          </p:cNvSpPr>
          <p:nvPr>
            </p:nvPr>
        </p:nvSpPr>
        <p:spPr>
          <a:xfrm>
            <a:off x="10437876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0" name=""/>
          <p:cNvSpPr>
            <a:spLocks noGrp="1"/>
          </p:cNvSpPr>
          <p:nvPr>
            </p:nvPr>
        </p:nvSpPr>
        <p:spPr>
          <a:xfrm>
            <a:off x="10565892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10693908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10821924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10949940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11077956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11205972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11333988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11462004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11590020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11718036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11846052" y="4672584"/>
            <a:ext cx="73152" cy="10973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452628" y="47823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2025396" y="4791456"/>
            <a:ext cx="150931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2172669" y="4791456"/>
            <a:ext cx="2286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2172669" y="4782312"/>
            <a:ext cx="2282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4455405" y="4791456"/>
            <a:ext cx="3243669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4455405" y="4782312"/>
            <a:ext cx="32400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7695417" y="4791456"/>
            <a:ext cx="169364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8" name=""/>
          <p:cNvSpPr>
            <a:spLocks noGrp="1"/>
          </p:cNvSpPr>
          <p:nvPr>
            </p:nvPr>
        </p:nvSpPr>
        <p:spPr>
          <a:xfrm>
            <a:off x="7695417" y="4782312"/>
            <a:ext cx="1693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59" name=""/>
          <p:cNvSpPr>
            <a:spLocks noGrp="1"/>
          </p:cNvSpPr>
          <p:nvPr>
            </p:nvPr>
        </p:nvSpPr>
        <p:spPr>
          <a:xfrm>
            <a:off x="2093546" y="47274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1806425" y="44988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9526219" y="4773168"/>
            <a:ext cx="1143000" cy="292608"/>
          </a:xfrm>
          <a:prstGeom prst="rect">
            <a:avLst/>
          </a:prstGeom>
          <a:solidFill>
            <a:srgbClr val="E3F0DA">
              <a:alpha val="100000"/>
            </a:srgbClr>
          </a:solidFill>
          <a:ln w="3175" cap="rnd" cmpd="sng">
            <a:solidFill>
              <a:srgbClr val="E3F0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9526219" y="47823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E6B22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10760659" y="4773168"/>
            <a:ext cx="1143000" cy="292608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10760659" y="47823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9C442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452628" y="520293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2025396" y="5212080"/>
            <a:ext cx="226799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2248537" y="5212080"/>
            <a:ext cx="44994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2151639" y="5202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2694820" y="5212080"/>
            <a:ext cx="3350777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2694820" y="5202936"/>
            <a:ext cx="3347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6041940" y="5212080"/>
            <a:ext cx="238383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2" name=""/>
          <p:cNvSpPr>
            <a:spLocks noGrp="1"/>
          </p:cNvSpPr>
          <p:nvPr>
            </p:nvPr>
        </p:nvSpPr>
        <p:spPr>
          <a:xfrm>
            <a:off x="6041940" y="5202936"/>
            <a:ext cx="23801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73" name=""/>
          <p:cNvSpPr>
            <a:spLocks noGrp="1"/>
          </p:cNvSpPr>
          <p:nvPr>
            </p:nvPr>
        </p:nvSpPr>
        <p:spPr>
          <a:xfrm>
            <a:off x="8422114" y="5212080"/>
            <a:ext cx="966946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8422114" y="5202936"/>
            <a:ext cx="966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131480" y="5148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1844359" y="4919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9526219" y="5193792"/>
            <a:ext cx="1143000" cy="292608"/>
          </a:xfrm>
          <a:prstGeom prst="rect">
            <a:avLst/>
          </a:prstGeom>
          <a:solidFill>
            <a:srgbClr val="E3F0DA">
              <a:alpha val="100000"/>
            </a:srgbClr>
          </a:solidFill>
          <a:ln w="3175" cap="rnd" cmpd="sng">
            <a:solidFill>
              <a:srgbClr val="E3F0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9526219" y="520293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E6B22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10760659" y="5193792"/>
            <a:ext cx="1143000" cy="292608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10760659" y="520293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9C442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viviría: bloque_likert y likert_panel (columna B2B opcional y línea punteada cuando hay fila Total). Base: 52 docentes y 172 estudiantes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4: IMPACTO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49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C442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0058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Impacto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24028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22402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62756" y="2249424"/>
            <a:ext cx="17244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931545" y="2249424"/>
            <a:ext cx="45376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836557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1649" y="2249424"/>
            <a:ext cx="264802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81649" y="2240280"/>
            <a:ext cx="26443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6012" y="2249424"/>
            <a:ext cx="214165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6012" y="2240280"/>
            <a:ext cx="213799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164007" y="2249424"/>
            <a:ext cx="22505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41664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5454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1047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83925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26219" y="2231136"/>
            <a:ext cx="1143000" cy="292608"/>
          </a:xfrm>
          <a:prstGeom prst="rect">
            <a:avLst/>
          </a:prstGeom>
          <a:solidFill>
            <a:srgbClr val="E3F0DA">
              <a:alpha val="100000"/>
            </a:srgbClr>
          </a:solidFill>
          <a:ln w="3175" cap="rnd" cmpd="sng">
            <a:solidFill>
              <a:srgbClr val="E3F0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52621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E6B22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760659" y="2231136"/>
            <a:ext cx="1143000" cy="292608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6065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9C442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284378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62756" y="2852928"/>
            <a:ext cx="22871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87808" y="2852928"/>
            <a:ext cx="67881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87808" y="2843784"/>
            <a:ext cx="6751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62965" y="2852928"/>
            <a:ext cx="287307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62965" y="2843784"/>
            <a:ext cx="28694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32379" y="2852928"/>
            <a:ext cx="1635286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32379" y="2843784"/>
            <a:ext cx="1631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64007" y="2852928"/>
            <a:ext cx="22505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869796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582674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71047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3925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526219" y="2834640"/>
            <a:ext cx="1143000" cy="292608"/>
          </a:xfrm>
          <a:prstGeom prst="rect">
            <a:avLst/>
          </a:prstGeom>
          <a:solidFill>
            <a:srgbClr val="E3F0DA">
              <a:alpha val="100000"/>
            </a:srgbClr>
          </a:solidFill>
          <a:ln w="3175" cap="rnd" cmpd="sng">
            <a:solidFill>
              <a:srgbClr val="E3F0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2621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E6B22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60659" y="2834640"/>
            <a:ext cx="1143000" cy="292608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6065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9C442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3447288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367028" y="34472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62756" y="3456432"/>
            <a:ext cx="510025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5900" y="34472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69123" y="3456432"/>
            <a:ext cx="1072655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69123" y="3447288"/>
            <a:ext cx="1068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38121" y="3456432"/>
            <a:ext cx="2535494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8121" y="3447288"/>
            <a:ext cx="25318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69957" y="3456432"/>
            <a:ext cx="124144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69957" y="3447288"/>
            <a:ext cx="12377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07744" y="3456432"/>
            <a:ext cx="28131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242915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955794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526219" y="3438144"/>
            <a:ext cx="1143000" cy="292608"/>
          </a:xfrm>
          <a:prstGeom prst="rect">
            <a:avLst/>
          </a:prstGeom>
          <a:solidFill>
            <a:srgbClr val="E3F0DA">
              <a:alpha val="100000"/>
            </a:srgbClr>
          </a:solidFill>
          <a:ln w="3175" cap="rnd" cmpd="sng">
            <a:solidFill>
              <a:srgbClr val="E3F0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52621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E6B22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438144"/>
            <a:ext cx="1143000" cy="292608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6065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9C442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0792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367028" y="405079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62756" y="4059936"/>
            <a:ext cx="11618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75282" y="4059936"/>
            <a:ext cx="510025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808426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81649" y="4059936"/>
            <a:ext cx="2929335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381649" y="4050792"/>
            <a:ext cx="29256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07327" y="4059936"/>
            <a:ext cx="186033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07327" y="4050792"/>
            <a:ext cx="18566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164007" y="4059936"/>
            <a:ext cx="22505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81353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526411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71047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983925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26219" y="4041648"/>
            <a:ext cx="1143000" cy="292608"/>
          </a:xfrm>
          <a:prstGeom prst="rect">
            <a:avLst/>
          </a:prstGeom>
          <a:solidFill>
            <a:srgbClr val="E3F0DA">
              <a:alpha val="100000"/>
            </a:srgbClr>
          </a:solidFill>
          <a:ln w="3175" cap="rnd" cmpd="sng">
            <a:solidFill>
              <a:srgbClr val="E3F0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2621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E6B22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4041648"/>
            <a:ext cx="1143000" cy="292608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76065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9C442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572000"/>
            <a:ext cx="114510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Impacto: peso de cada aspecto en la satisfacción general, según una regresión lineal. El guion indica un aspecto sin efecto significativo.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Requiere un análisis nuevo en Analítica: regresión de la satisfacción general sobre los aspectos evaluados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4: IMPACTO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pesa más en la satisfacción general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766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de cada aspecto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7665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Aspectos con efecto significativo, suman 100 %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93620"/>
            <a:ext cx="2377440" cy="3048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253996"/>
            <a:ext cx="299923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75604" y="23088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79420"/>
            <a:ext cx="2377440" cy="3048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2939796"/>
            <a:ext cx="241401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29946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558540"/>
            <a:ext cx="2377440" cy="5181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3625596"/>
            <a:ext cx="1901952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78324" y="3680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863840" y="210312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65008" y="2057400"/>
            <a:ext cx="3838651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explica la mayor parte de la satisfacción general. La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se evalúa bien, pero no cambia la satisfacción general.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En lugar del diagrama de flecha del informe de referencia: barras, que dicen lo mismo y se leen mejor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TABLA CON SIGNIFICANCIA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 por público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508760"/>
          <a:ext cx="7772400" cy="3474720"/>
        </p:xfrm>
        <a:graphic>
          <a:graphicData uri="http://schemas.openxmlformats.org/drawingml/2006/table">
            <a:tbl>
              <a:tblPr/>
              <a:tblGrid>
                <a:gridCol w="3108960"/>
                <a:gridCol w="155448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2E6B22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3F0DA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2E6B22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3F0D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2E6B22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3F0DA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2E6B22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3F0D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8595360" y="1920240"/>
            <a:ext cx="45720" cy="21031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796528" y="1874520"/>
            <a:ext cx="3107131" cy="2194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celda en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verde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 significativamente mayor que el público más bajo de su fila. El motor ya calcula estas pruebas para las barras: falta llevarlas a la tabla.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Box. Marcas de significancia ilustrativas (p &lt; 0.05). Base: 51 docentes, 109 estudiantes y 161 egresados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7: BLOQUES NUMERADOS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Limitaciones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85800" cy="10515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1760220"/>
            <a:ext cx="86868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9868" y="1508760"/>
            <a:ext cx="10673791" cy="105156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160020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 no probabilística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892808"/>
            <a:ext cx="10353751" cy="6126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encuesta se aplicó por conveniencia, con intención censal. Los resultados describen a quienes respondieron y no se proyectan a toda la población de cada público.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685800" cy="10515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94660"/>
            <a:ext cx="86868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29868" y="2743200"/>
            <a:ext cx="10673791" cy="105156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83464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chicas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67028" y="3127248"/>
            <a:ext cx="10353751" cy="6126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personal administrativo (15 casos) y los grupos de menos de 30 casos se reportan con frecuencias y sin pruebas de diferencia.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977640"/>
            <a:ext cx="685800" cy="10515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4229100"/>
            <a:ext cx="86868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229868" y="3977640"/>
            <a:ext cx="10673791" cy="105156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67028" y="406908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 con 2021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4361688"/>
            <a:ext cx="10353751" cy="6126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anterior se usa como referencia. Algunas preguntas cambiaron de redacción, por lo que la comparación se limita a las que se mantienen.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7: BLOQUES NUMERADOS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Consideraciones para replicar 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85800" cy="8686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1668780"/>
            <a:ext cx="86868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9868" y="1508760"/>
            <a:ext cx="10673791" cy="86868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160020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cuestionario y escala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892808"/>
            <a:ext cx="1035375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Cualquier cambio en una pregunta clave rompe la comparación. Si se cambia, se documenta.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96312"/>
            <a:ext cx="685800" cy="8686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656332"/>
            <a:ext cx="86868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29868" y="2496312"/>
            <a:ext cx="10673791" cy="86868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587752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momento del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67028" y="2880360"/>
            <a:ext cx="1035375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Aplicar en el mismo periodo académico evita comparar públicos en momentos distintos del año.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483864"/>
            <a:ext cx="685800" cy="8686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3643884"/>
            <a:ext cx="86868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229868" y="3483864"/>
            <a:ext cx="10673791" cy="86868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67028" y="3575304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Mismos públicos y marco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867912"/>
            <a:ext cx="1035375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administrativos, con el marco actualizado de cada uno.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471416"/>
            <a:ext cx="685800" cy="8686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4631436"/>
            <a:ext cx="86868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229868" y="4471416"/>
            <a:ext cx="10673791" cy="86868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67028" y="4562856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procesamiento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367028" y="4855464"/>
            <a:ext cx="1035375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redondeo del resto mayor y las mismas reglas para «Sin información».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viviría: constructor nuevo p_slide_bloques (dos a cuatro bloques, con título y texto). Las recomendaciones quedaron fuera del motor cuantitativo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8: PREGUNTA EXACTA EN EL PIE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Hoy el pie dice sólo la base. La propuesta agrega la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redacción exacta de la pregunta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tal como se leyó en la encuesta.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035040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Pregunta: «¿Conoce usted la misión y los propósitos de la PUCP?»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2026-10-08T07:40:15Z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