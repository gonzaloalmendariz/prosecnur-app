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feb657ef01a9ce117ddb336cc0cc9a66c4db272.png"/>
<Relationship Id="rId3" Type="http://schemas.openxmlformats.org/officeDocument/2006/relationships/image" Target="../media/978277cd0329c4af9360c13c8e3d11bf2db52476.png"/>
<Relationship Id="rId4" Type="http://schemas.openxmlformats.org/officeDocument/2006/relationships/image" Target="../media/017e2d6738d566b93d2e53b9d9c981e21e63c427.png"/>
<Relationship Id="rId5" Type="http://schemas.openxmlformats.org/officeDocument/2006/relationships/image" Target="../media/99c88974cef60a1c6ad6997439c0fba8722dd6c2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PARA EL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400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Ideas de referencia, en la línea de PULSO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idea dibujada con los recursos de la identidad y con contenido que calcula el motor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se propone, de dónde sale y dónde viviría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417320"/>
          <a:ext cx="11292840" cy="4114800"/>
        </p:xfrm>
        <a:graphic>
          <a:graphicData uri="http://schemas.openxmlformats.org/drawingml/2006/table">
            <a:tbl>
              <a:tblPr/>
              <a:tblGrid>
                <a:gridCol w="365760"/>
                <a:gridCol w="2926080"/>
                <a:gridCol w="3017520"/>
                <a:gridCol w="2194560"/>
                <a:gridCol w="1554480"/>
                <a:gridCol w="1188720"/>
              </a:tblGrid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#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Propuesta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idea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 calcula el motor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la app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Separadores sin cero y con más alternativas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Jerarquía de capítulos sin texto extra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Número y título del plan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destacadas de 1 a 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cifra destacada de III.2, en cualquier cantidad y posición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y detalle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rótulo corto por cifra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Bottom Two Box junto al Top Two Box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Cuántos están insatisfechos, sin sumar a ojo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columna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Peso de cada aspecto en la satisfacción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Qué importa, además de qué se evalúa bien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Todo, con un análisis nuevo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Letras de significancia en la tabla resumen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Diferencias entre públicos en la misma tabla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Las letras (ya existen en barras)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Fila Total separada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referencia se distingue de los grupos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fila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 según los comentarios del 2026-10-08. La pregunta exacta en el pie se retiró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10896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61188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52044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06908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383280"/>
            <a:ext cx="1280160" cy="1280160"/>
          </a:xfrm>
          <a:prstGeom prst="ellipse">
            <a:avLst/>
          </a:prstGeom>
          <a:ln w="3175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639312"/>
            <a:ext cx="1463040" cy="7772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977640" y="3611880"/>
            <a:ext cx="79260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977640" y="4160520"/>
            <a:ext cx="79260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ANILLO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RÓTULO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7589520" y="2514600"/>
            <a:ext cx="4206240" cy="36576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94944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53712"/>
            <a:ext cx="694944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D: NÚMERO DE FONDO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14884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514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2834640"/>
            <a:ext cx="2011680" cy="9144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52828" y="2971800"/>
            <a:ext cx="36576" cy="868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35708" y="288036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35708" y="3456432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SUBCAPÍTULO: SIN PERSONAS NI PÚBLICO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1: 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separadores de capítulo y uno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A. Número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921508" y="1508760"/>
            <a:ext cx="898215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122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21992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B. Anillo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21508" y="2221992"/>
            <a:ext cx="898215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dentro de un anillo coral fino: recuerda al círculo del ícono, sin llenarlo.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8254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93522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C. Rótulo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21508" y="2935224"/>
            <a:ext cx="898215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538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648456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D. Número de fondo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1508" y="3648456"/>
            <a:ext cx="898215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 detrás de la composición, como marca de agua.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251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36168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921508" y="4361688"/>
            <a:ext cx="898215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personas ni público: una ruta con el capítulo arriba, el número 2.1 en azul oscuro y el título. No se confunde con un capítulo.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viven en p_slide_seccion (un estilo por variante) sobre la plantilla. El número y el título salen del plan: no se escribe nada nuevo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cifra: mitad y mitad con un gráfico. Es la misma cifra destacada de «Dónde va la cifra destacada» (III.2)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cifras: banda a todo el ancho. Cifras del recetario de Contabilidad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y el detalle los calcula el motor. El rótulo corto se escribe en la app, como el texto de una lámina narrativa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3 Y 6: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157984"/>
            <a:ext cx="376413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91734" y="2148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8151" y="2157984"/>
            <a:ext cx="104737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98151" y="2148840"/>
            <a:ext cx="10437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1866" y="2157984"/>
            <a:ext cx="2463842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1866" y="2148840"/>
            <a:ext cx="2460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02050" y="2157984"/>
            <a:ext cx="2016535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02050" y="2148840"/>
            <a:ext cx="2012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14928" y="2157984"/>
            <a:ext cx="1565572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14928" y="2148840"/>
            <a:ext cx="15655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14884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14884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53288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66090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2670048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74498" y="2670048"/>
            <a:ext cx="2165638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74498" y="2660904"/>
            <a:ext cx="21619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6478" y="2670048"/>
            <a:ext cx="402941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36478" y="2660904"/>
            <a:ext cx="40257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62234" y="2670048"/>
            <a:ext cx="1118265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2234" y="2660904"/>
            <a:ext cx="11182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94461" y="2606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07339" y="2377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266090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266090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08152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3090672"/>
            <a:ext cx="450964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29009" y="308152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72702" y="3090672"/>
            <a:ext cx="134557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72702" y="3081528"/>
            <a:ext cx="13419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4621" y="3090672"/>
            <a:ext cx="2538393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4621" y="3081528"/>
            <a:ext cx="2534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49356" y="3090672"/>
            <a:ext cx="1420127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49356" y="3081528"/>
            <a:ext cx="1416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65825" y="3090672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5825" y="3081528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30815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30815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38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1188" y="3685032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526219" y="4069080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23499" y="4069080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1655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425696"/>
            <a:ext cx="15426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76004" y="4425696"/>
            <a:ext cx="380178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044224" y="441655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552525" y="4425696"/>
            <a:ext cx="316642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52525" y="4416552"/>
            <a:ext cx="31627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15296" y="4425696"/>
            <a:ext cx="2639300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15296" y="4416552"/>
            <a:ext cx="2635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50938" y="4425696"/>
            <a:ext cx="1129561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50938" y="4416552"/>
            <a:ext cx="11295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095214" y="43616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08092" y="41330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71939" y="4416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14939" y="4416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937760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74498" y="4937760"/>
            <a:ext cx="231474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74498" y="4928616"/>
            <a:ext cx="23110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5580" y="4937760"/>
            <a:ext cx="328390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485580" y="4928616"/>
            <a:ext cx="3280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65825" y="4937760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5825" y="4928616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94461" y="4873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7339" y="4645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9286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9286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53492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5358384"/>
            <a:ext cx="229570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51308" y="5358384"/>
            <a:ext cx="45548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57180" y="5349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703133" y="5358384"/>
            <a:ext cx="3392341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703133" y="5349240"/>
            <a:ext cx="3388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1816" y="5358384"/>
            <a:ext cx="2413388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091816" y="5349240"/>
            <a:ext cx="24097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01546" y="5358384"/>
            <a:ext cx="978953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501546" y="5349240"/>
            <a:ext cx="9789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32866" y="52943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45744" y="50657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71939" y="534924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14939" y="534924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bloque_likert y likert_panel: columna Bottom Two Box opcional, con el mismo trato que el Top Two Box. Base: 52 docentes y 172 estudiantes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4: 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9424"/>
            <a:ext cx="16421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9424"/>
            <a:ext cx="43181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9424"/>
            <a:ext cx="251909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9424"/>
            <a:ext cx="2037411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9424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52928"/>
            <a:ext cx="48533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52928"/>
            <a:ext cx="1020534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52928"/>
            <a:ext cx="241205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52928"/>
            <a:ext cx="1181094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52928"/>
            <a:ext cx="26759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889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603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56432"/>
            <a:ext cx="21773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56432"/>
            <a:ext cx="64589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56432"/>
            <a:ext cx="273316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56432"/>
            <a:ext cx="155573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56432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9936"/>
            <a:ext cx="11069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9936"/>
            <a:ext cx="48533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9936"/>
            <a:ext cx="278668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9936"/>
            <a:ext cx="1769812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9936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sube la satisfacción con un aspecto, ¿cuánto sube la satisfacción general? El peso reparte 100 % entre los aspectos que sí la mueven.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239512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Aquí, el trato del personal pesa más que la infraestructura, aunque las dos se evalúan bien.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El peso sale de una regresión de la satisfacción general sobre los aspectos: análisis nuevo en Analítica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LETRAS DE SIGNIFICANCIA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 por público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508760"/>
          <a:ext cx="7863840" cy="3657600"/>
        </p:xfrm>
        <a:graphic>
          <a:graphicData uri="http://schemas.openxmlformats.org/drawingml/2006/table">
            <a:tbl>
              <a:tblPr/>
              <a:tblGrid>
                <a:gridCol w="3017520"/>
                <a:gridCol w="1600200"/>
                <a:gridCol w="1600200"/>
                <a:gridCol w="16002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508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508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508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508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400"/>
                        </a:spcAft>
                        <a:buNone/>
                      </a:pPr>
                      <a:endParaRPr cap="none" sz="1100" i="0" b="1" u="none" strike="noStrike">
                        <a:solidFill>
                          <a:srgbClr val="4F7FAF">
                            <a:alpha val="100000"/>
                          </a:srgbClr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  <a:r>
                        <a:rPr cap="none" sz="11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508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</a:p>
                  </a:txBody>
                  <a:tcPr anchor="ctr" marB="508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</a:p>
                  </a:txBody>
                  <a:tcPr anchor="ctr" marB="508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</a:p>
                  </a:txBody>
                  <a:tcPr anchor="ctr" marB="508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 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 b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 b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 c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5166360"/>
            <a:ext cx="78638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público tiene una letra. La letra junto a una cifra dice de qué público es significativamente mayor: «98 %  b» es mayor que estudiantes.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86800" y="19202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7968" y="1874520"/>
            <a:ext cx="3015691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va a tamaño legible, en azul, separada de la cifra. Es la misma marca que el motor ya pone en las barras, ahora en la tabla resumen.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Box. Letras ilustrativas (p &lt; 0.05). Base: 51 docentes, 109 estudiantes y 161 egresados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no se trae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62946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138428" y="149047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oscuro a sangre y cuña diagonal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38428" y="178308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la firma visual del informe de referencia. PULSO ya tiene la suya: fondo claro, personas y público.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31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6888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73329" y="2589581"/>
            <a:ext cx="261518" cy="26151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138428" y="245059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bloques de texto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38428" y="274320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Limitaciones o recomendaciones en párrafos no salen de los datos. Si hacen falta, van en la ficha técnica o en el Word.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2918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4290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73329" y="3549701"/>
            <a:ext cx="261518" cy="26151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138428" y="341071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flecha de los factores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370332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decorativo. El peso de cada aspecto se lee mejor con puntos, como en la propuesta 4.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51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38912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3329" y="4509821"/>
            <a:ext cx="261518" cy="26151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138428" y="437083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Colores por factor y celdas de color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8428" y="466344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Rompen la paleta: en PULSO el color dice la respuesta, no el tema.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2026-10-08T07:56:57Z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