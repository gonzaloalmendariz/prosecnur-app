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feb657ef01a9ce117ddb336cc0cc9a66c4db272.png"/>
<Relationship Id="rId3" Type="http://schemas.openxmlformats.org/officeDocument/2006/relationships/image" Target="../media/978277cd0329c4af9360c13c8e3d11bf2db52476.png"/>
<Relationship Id="rId4" Type="http://schemas.openxmlformats.org/officeDocument/2006/relationships/image" Target="../media/017e2d6738d566b93d2e53b9d9c981e21e63c427.png"/>
<Relationship Id="rId5" Type="http://schemas.openxmlformats.org/officeDocument/2006/relationships/image" Target="../media/99c88974cef60a1c6ad6997439c0fba8722dd6c2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PARA EL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400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Ideas de referencia, en la línea de PULSO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idea dibujada con los recursos de la identidad y con contenido que calcula el motor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se propone, de dónde sale y dónde viviría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417320"/>
          <a:ext cx="11292840" cy="41148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  <a:gridCol w="3017520"/>
                <a:gridCol w="2194560"/>
                <a:gridCol w="1554480"/>
                <a:gridCol w="1188720"/>
              </a:tblGrid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#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Propuesta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idea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 calcula el motor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la app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Separadores sin cero y con más alternativas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Jerarquía de capítulos sin texto extra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Número y título del plan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destacadas de 1 a 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cifra destacada de III.2, en cualquier cantidad y posición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y detalle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rótulo corto por cifra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Bottom Two Box junto al Top Two Box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Cuántos están insatisfechos, sin sumar a ojo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columna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Peso de cada aspecto en la satisfacción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importa, además de qué se evalúa bien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Todo, con un análisis nuevo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Letras de significancia en la tabla resumen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Diferencias entre públicos en la misma tabla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Las letras (ya existen en barras)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Fila Total separada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referencia se distingue de los grupos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fila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 según los comentarios del 2026-10-08. La pregunta exacta en el pie se retiró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1: 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3 Y 6: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39696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30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39696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30552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39696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30552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39696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30552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39696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30552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715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72491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724912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715768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724912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715768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724912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715768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609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4323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998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108960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108960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99816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108960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99816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108960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99816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1089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998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021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1188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399592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399592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3251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33425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33425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3251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33425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32511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33425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32511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33425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32511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2702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0416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6634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103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1947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19472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10328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19472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10328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194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103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55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26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2943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03520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03520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2943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03520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294376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03520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294376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03520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294376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395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109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4: 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52928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52928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52928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52928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56432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56432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56432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56432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56432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LETRAS DE SIGNIFICANCIA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 por público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508760"/>
          <a:ext cx="7863840" cy="3657600"/>
        </p:xfrm>
        <a:graphic>
          <a:graphicData uri="http://schemas.openxmlformats.org/drawingml/2006/table">
            <a:tbl>
              <a:tblPr/>
              <a:tblGrid>
                <a:gridCol w="3017520"/>
                <a:gridCol w="1600200"/>
                <a:gridCol w="1600200"/>
                <a:gridCol w="16002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508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508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508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508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400"/>
                        </a:spcAft>
                        <a:buNone/>
                      </a:pPr>
                      <a:endParaRPr cap="none" sz="1100" i="0" b="1" u="none" strike="noStrike">
                        <a:solidFill>
                          <a:srgbClr val="4F7FAF">
                            <a:alpha val="100000"/>
                          </a:srgbClr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  <a:r>
                        <a:rPr cap="none" sz="11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508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</a:p>
                  </a:txBody>
                  <a:tcPr anchor="ctr" marB="508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</a:p>
                  </a:txBody>
                  <a:tcPr anchor="ctr" marB="508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</a:p>
                  </a:txBody>
                  <a:tcPr anchor="ctr" marB="508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 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 b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 b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 c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5166360"/>
            <a:ext cx="78638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público tiene una letra. La letra junto a una cifra indica de qué público es significativamente mayor: «98 %  b» supera a los estudiantes.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86800" y="1920240"/>
            <a:ext cx="45720" cy="26517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7968" y="1874520"/>
            <a:ext cx="3015691" cy="2743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Prueba: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 de diferencia de proporciones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cada par de públicos, con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corrección de Bonferroni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por comparaciones múltiples y α = 0.05. Es la misma prueba que el motor ya aplica en las tablas de cruces y en las barras.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Box. Letras ilustrativas. Base: 51 docentes, 109 estudiantes y 161 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SIGNIFICANCIA EN UN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competencias por público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7680960" cy="3931920"/>
            <a:chOff x="452628" y="1508760"/>
            <a:chExt cx="7680960" cy="3931920"/>
          </a:xfrm>
        </p:grpSpPr>
        <p:sp>
          <p:nvSpPr>
            <p:cNvPr id="6" name="rc3"/>
            <p:cNvSpPr/>
            <p:nvPr/>
          </p:nvSpPr>
          <p:spPr>
            <a:xfrm>
              <a:off x="1048570" y="2184651"/>
              <a:ext cx="549921" cy="2970882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661340" y="2245281"/>
              <a:ext cx="549921" cy="2910251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274110" y="2184651"/>
              <a:ext cx="549921" cy="2970882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3405377" y="2305912"/>
              <a:ext cx="549921" cy="2849621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4018147" y="2245281"/>
              <a:ext cx="549921" cy="2910251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630916" y="2184651"/>
              <a:ext cx="549921" cy="2970882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762184" y="2245281"/>
              <a:ext cx="549921" cy="2910251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6374954" y="2396857"/>
              <a:ext cx="549921" cy="275867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987723" y="2184651"/>
              <a:ext cx="549921" cy="2970882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2"/>
            <p:cNvSpPr/>
            <p:nvPr/>
          </p:nvSpPr>
          <p:spPr>
            <a:xfrm>
              <a:off x="1171019" y="226934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783789" y="232997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96%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396559" y="226934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3527826" y="239060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94%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140596" y="232997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96%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4753366" y="226934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5884633" y="232997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96%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6497403" y="24815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91%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7110173" y="226934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4856435" y="2042812"/>
              <a:ext cx="98883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4F7FAF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5982841" y="2070452"/>
              <a:ext cx="108607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4F7FAF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208380" y="2009822"/>
              <a:ext cx="108607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4F7FAF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151834" y="5214213"/>
              <a:ext cx="1568933" cy="1221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3843678" y="5214213"/>
              <a:ext cx="898859" cy="1221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6287629" y="5214213"/>
              <a:ext cx="724569" cy="1221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</p:grpSp>
      <p:sp>
        <p:nvSpPr>
          <p:cNvPr id="30" name=""/>
          <p:cNvSpPr>
            <a:spLocks noGrp="1"/>
          </p:cNvSpPr>
          <p:nvPr>
            </p:nvPr>
        </p:nvSpPr>
        <p:spPr>
          <a:xfrm>
            <a:off x="2269236" y="559612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378964" y="5532120"/>
            <a:ext cx="1163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33724" y="559612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43452" y="5532120"/>
            <a:ext cx="1315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(b)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50612" y="5596128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60340" y="5532120"/>
            <a:ext cx="1239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(c)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03920" y="19202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5088" y="1874520"/>
            <a:ext cx="3198571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agrupadas ya llevan letras en el motor. La letra azul sobre una barra indica de qué público es mayor esa cifra.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Box. Prueba z de diferencia de proporciones con corrección de Bonferroni, α = 0.05. Letras ilustrativas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SIGNIFICANCIA EN UN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se separan los públicos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7863840" cy="3931920"/>
            <a:chOff x="452628" y="1508760"/>
            <a:chExt cx="7863840" cy="3931920"/>
          </a:xfrm>
        </p:grpSpPr>
        <p:sp>
          <p:nvSpPr>
            <p:cNvPr id="6" name="pl3"/>
            <p:cNvSpPr/>
            <p:nvPr/>
          </p:nvSpPr>
          <p:spPr>
            <a:xfrm>
              <a:off x="2675828" y="1578349"/>
              <a:ext cx="0" cy="3612475"/>
            </a:xfrm>
            <a:custGeom>
              <a:avLst/>
              <a:pathLst>
                <a:path w="0" h="3612475">
                  <a:moveTo>
                    <a:pt x="0" y="36124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2E5E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4444415" y="1578349"/>
              <a:ext cx="0" cy="3612475"/>
            </a:xfrm>
            <a:custGeom>
              <a:avLst/>
              <a:pathLst>
                <a:path w="0" h="3612475">
                  <a:moveTo>
                    <a:pt x="0" y="36124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2E5E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6213003" y="1578349"/>
              <a:ext cx="0" cy="3612475"/>
            </a:xfrm>
            <a:custGeom>
              <a:avLst/>
              <a:pathLst>
                <a:path w="0" h="3612475">
                  <a:moveTo>
                    <a:pt x="0" y="36124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2E5E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7981590" y="1578349"/>
              <a:ext cx="0" cy="3612475"/>
            </a:xfrm>
            <a:custGeom>
              <a:avLst/>
              <a:pathLst>
                <a:path w="0" h="3612475">
                  <a:moveTo>
                    <a:pt x="0" y="36124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2E5E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4444415" y="4841230"/>
              <a:ext cx="884293" cy="0"/>
            </a:xfrm>
            <a:custGeom>
              <a:avLst/>
              <a:pathLst>
                <a:path w="884293" h="0">
                  <a:moveTo>
                    <a:pt x="0" y="0"/>
                  </a:moveTo>
                  <a:lnTo>
                    <a:pt x="884293" y="0"/>
                  </a:lnTo>
                </a:path>
              </a:pathLst>
            </a:custGeom>
            <a:ln w="59622" cap="rnd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4444415" y="4258572"/>
              <a:ext cx="1326440" cy="0"/>
            </a:xfrm>
            <a:custGeom>
              <a:avLst/>
              <a:pathLst>
                <a:path w="1326440" h="0">
                  <a:moveTo>
                    <a:pt x="0" y="0"/>
                  </a:moveTo>
                  <a:lnTo>
                    <a:pt x="1326440" y="0"/>
                  </a:lnTo>
                </a:path>
              </a:pathLst>
            </a:custGeom>
            <a:ln w="59622" cap="rnd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4886562" y="3675915"/>
              <a:ext cx="1326440" cy="0"/>
            </a:xfrm>
            <a:custGeom>
              <a:avLst/>
              <a:pathLst>
                <a:path w="1326440" h="0">
                  <a:moveTo>
                    <a:pt x="0" y="0"/>
                  </a:moveTo>
                  <a:lnTo>
                    <a:pt x="1326440" y="0"/>
                  </a:lnTo>
                </a:path>
              </a:pathLst>
            </a:custGeom>
            <a:ln w="59622" cap="rnd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0"/>
            <p:cNvSpPr/>
            <p:nvPr/>
          </p:nvSpPr>
          <p:spPr>
            <a:xfrm>
              <a:off x="4002269" y="3093258"/>
              <a:ext cx="3095028" cy="0"/>
            </a:xfrm>
            <a:custGeom>
              <a:avLst/>
              <a:pathLst>
                <a:path w="3095028" h="0">
                  <a:moveTo>
                    <a:pt x="0" y="0"/>
                  </a:moveTo>
                  <a:lnTo>
                    <a:pt x="3095028" y="0"/>
                  </a:lnTo>
                </a:path>
              </a:pathLst>
            </a:custGeom>
            <a:ln w="59622" cap="rnd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1"/>
            <p:cNvSpPr/>
            <p:nvPr/>
          </p:nvSpPr>
          <p:spPr>
            <a:xfrm>
              <a:off x="5328709" y="2510600"/>
              <a:ext cx="1768587" cy="0"/>
            </a:xfrm>
            <a:custGeom>
              <a:avLst/>
              <a:pathLst>
                <a:path w="1768587" h="0">
                  <a:moveTo>
                    <a:pt x="0" y="0"/>
                  </a:moveTo>
                  <a:lnTo>
                    <a:pt x="1768587" y="0"/>
                  </a:lnTo>
                </a:path>
              </a:pathLst>
            </a:custGeom>
            <a:ln w="59622" cap="rnd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2"/>
            <p:cNvSpPr/>
            <p:nvPr/>
          </p:nvSpPr>
          <p:spPr>
            <a:xfrm>
              <a:off x="6213003" y="1927943"/>
              <a:ext cx="884293" cy="0"/>
            </a:xfrm>
            <a:custGeom>
              <a:avLst/>
              <a:pathLst>
                <a:path w="884293" h="0">
                  <a:moveTo>
                    <a:pt x="0" y="0"/>
                  </a:moveTo>
                  <a:lnTo>
                    <a:pt x="884293" y="0"/>
                  </a:lnTo>
                </a:path>
              </a:pathLst>
            </a:custGeom>
            <a:ln w="59622" cap="rnd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3"/>
            <p:cNvSpPr/>
            <p:nvPr/>
          </p:nvSpPr>
          <p:spPr>
            <a:xfrm>
              <a:off x="4002269" y="3093258"/>
              <a:ext cx="2210734" cy="0"/>
            </a:xfrm>
            <a:custGeom>
              <a:avLst/>
              <a:pathLst>
                <a:path w="2210734" h="0">
                  <a:moveTo>
                    <a:pt x="0" y="0"/>
                  </a:moveTo>
                  <a:lnTo>
                    <a:pt x="2210734" y="0"/>
                  </a:lnTo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4"/>
            <p:cNvSpPr/>
            <p:nvPr/>
          </p:nvSpPr>
          <p:spPr>
            <a:xfrm>
              <a:off x="4002269" y="3093258"/>
              <a:ext cx="3095028" cy="0"/>
            </a:xfrm>
            <a:custGeom>
              <a:avLst/>
              <a:pathLst>
                <a:path w="3095028" h="0">
                  <a:moveTo>
                    <a:pt x="0" y="0"/>
                  </a:moveTo>
                  <a:lnTo>
                    <a:pt x="3095028" y="0"/>
                  </a:lnTo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5"/>
            <p:cNvSpPr/>
            <p:nvPr/>
          </p:nvSpPr>
          <p:spPr>
            <a:xfrm>
              <a:off x="5328709" y="2510600"/>
              <a:ext cx="1768587" cy="0"/>
            </a:xfrm>
            <a:custGeom>
              <a:avLst/>
              <a:pathLst>
                <a:path w="1768587" h="0">
                  <a:moveTo>
                    <a:pt x="0" y="0"/>
                  </a:moveTo>
                  <a:lnTo>
                    <a:pt x="1768587" y="0"/>
                  </a:lnTo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4886562" y="3675915"/>
              <a:ext cx="1326440" cy="0"/>
            </a:xfrm>
            <a:custGeom>
              <a:avLst/>
              <a:pathLst>
                <a:path w="1326440" h="0">
                  <a:moveTo>
                    <a:pt x="0" y="0"/>
                  </a:moveTo>
                  <a:lnTo>
                    <a:pt x="1326440" y="0"/>
                  </a:lnTo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7022343" y="1852990"/>
              <a:ext cx="149906" cy="149906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1440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6138050" y="1852990"/>
              <a:ext cx="149906" cy="149906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1440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7022343" y="1852990"/>
              <a:ext cx="149906" cy="149906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1440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5253756" y="2435647"/>
              <a:ext cx="149906" cy="149906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1440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6138050" y="2435647"/>
              <a:ext cx="149906" cy="149906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1440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7022343" y="2435647"/>
              <a:ext cx="149906" cy="149906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1440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138050" y="3018305"/>
              <a:ext cx="149906" cy="149906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1440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3927315" y="3018305"/>
              <a:ext cx="149906" cy="149906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1440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2343" y="3018305"/>
              <a:ext cx="149906" cy="149906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1440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6138050" y="3600962"/>
              <a:ext cx="149906" cy="149906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1440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5695903" y="3600962"/>
              <a:ext cx="149906" cy="149906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1440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4811609" y="3600962"/>
              <a:ext cx="149906" cy="149906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1440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4369462" y="4183619"/>
              <a:ext cx="149906" cy="149906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1440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5253756" y="4183619"/>
              <a:ext cx="149906" cy="149906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1440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5695903" y="4183619"/>
              <a:ext cx="149906" cy="149906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1440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2"/>
            <p:cNvSpPr/>
            <p:nvPr/>
          </p:nvSpPr>
          <p:spPr>
            <a:xfrm>
              <a:off x="4369462" y="4766277"/>
              <a:ext cx="149906" cy="149906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1440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3"/>
            <p:cNvSpPr/>
            <p:nvPr/>
          </p:nvSpPr>
          <p:spPr>
            <a:xfrm>
              <a:off x="5253756" y="4766277"/>
              <a:ext cx="149906" cy="149906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1440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4"/>
            <p:cNvSpPr/>
            <p:nvPr/>
          </p:nvSpPr>
          <p:spPr>
            <a:xfrm>
              <a:off x="5253756" y="4766277"/>
              <a:ext cx="149906" cy="149906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1440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tx35"/>
            <p:cNvSpPr/>
            <p:nvPr/>
          </p:nvSpPr>
          <p:spPr>
            <a:xfrm>
              <a:off x="522217" y="4745378"/>
              <a:ext cx="1825693" cy="1549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879664" y="4164897"/>
              <a:ext cx="1468245" cy="1527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1641478" y="3614889"/>
              <a:ext cx="70643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1623340" y="3030217"/>
              <a:ext cx="724569" cy="1221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49050" y="2447559"/>
              <a:ext cx="898859" cy="1221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778976" y="1864902"/>
              <a:ext cx="1568933" cy="1221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2548735" y="52485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4317322" y="52485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92%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6085910" y="52485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96%</a:t>
              </a:r>
            </a:p>
          </p:txBody>
        </p:sp>
        <p:sp>
          <p:nvSpPr>
            <p:cNvPr id="47" name="tx44"/>
            <p:cNvSpPr/>
            <p:nvPr/>
          </p:nvSpPr>
          <p:spPr>
            <a:xfrm>
              <a:off x="7819182" y="524855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8" name=""/>
          <p:cNvSpPr>
            <a:spLocks noGrp="1"/>
          </p:cNvSpPr>
          <p:nvPr>
            </p:nvPr>
        </p:nvSpPr>
        <p:spPr>
          <a:xfrm>
            <a:off x="2697226" y="559612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06954" y="553212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833114" y="559612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942842" y="5532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121402" y="5596128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31130" y="5532120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86800" y="1920240"/>
            <a:ext cx="45720" cy="25603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87968" y="1874520"/>
            <a:ext cx="3015691" cy="2651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franja gris va de la cifra menor a la mayor. Una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azul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une a dos públicos solo cuando su diferencia es significativa. Sin línea, la distancia puede ser azar.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Box. Prueba z de diferencia de proporciones con corrección de Bonferroni, α = 0.05. Marcas ilustrativas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no se trae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62946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138428" y="149047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oscuro a sangre y cuña diagonal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38428" y="178308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la firma visual del informe de referencia. PULSO ya tiene la suya: fondo claro, personas y público.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31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6888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73329" y="2589581"/>
            <a:ext cx="261518" cy="26151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138428" y="245059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bloques de texto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38428" y="274320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Limitaciones o recomendaciones en párrafos no salen de los datos. Si hacen falta, van en la ficha técnica o en el Word.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2918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4290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73329" y="3549701"/>
            <a:ext cx="261518" cy="26151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138428" y="341071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flecha de los factores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370332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decorativo. El peso de cada aspecto se lee mejor con puntos, como en la propuesta 4.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51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38912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3329" y="4509821"/>
            <a:ext cx="261518" cy="26151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138428" y="437083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Colores por factor y celdas de color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8428" y="466344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Rompen la paleta: en PULSO el color dice la respuesta, no el tema.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2026-10-08T08:11:14Z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