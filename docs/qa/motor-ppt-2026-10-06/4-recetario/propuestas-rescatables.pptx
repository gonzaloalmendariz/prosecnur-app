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Relationship Id="rId5" Type="http://schemas.openxmlformats.org/package/2006/relationships/metadata/extended-properties" Target="docProps/app0.xml"/>
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Relationship Id="rId25" Type="http://schemas.openxmlformats.org/officeDocument/2006/relationships/slide" Target="slides/slide18.xml"/>
<Relationship Id="rId26" Type="http://schemas.openxmlformats.org/officeDocument/2006/relationships/slide" Target="slides/slide19.xml"/>
<Relationship Id="rId27" Type="http://schemas.openxmlformats.org/officeDocument/2006/relationships/slide" Target="slides/slide20.xml"/>
<Relationship Id="rId28" Type="http://schemas.openxmlformats.org/officeDocument/2006/relationships/slide" Target="slides/slide21.xml"/>
<Relationship Id="rId29" Type="http://schemas.openxmlformats.org/officeDocument/2006/relationships/slide" Target="slides/slide22.xml"/>
<Relationship Id="rId30" Type="http://schemas.openxmlformats.org/officeDocument/2006/relationships/slide" Target="slides/slide23.xml"/>
<Relationship Id="rId31" Type="http://schemas.openxmlformats.org/officeDocument/2006/relationships/slide" Target="slides/slide24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4000"/>
              <a:buFont typeface="Arial"/>
              <a:buNone/>
              <a:defRPr sz="2400" b="1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2000"/>
              <a:buNone/>
              <a:defRPr sz="1600" b="1">
                <a:solidFill>
                  <a:srgbClr val="85BB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00" b="1">
                <a:latin typeface="Arial"/>
                <a:solidFill>
                  <a:srgbClr val="85BB85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600" b="1">
                <a:latin typeface="Arial"/>
                <a:solidFill>
                  <a:srgbClr val="85BB85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9pPr>
          </a:lstStyle>
          <a:p>
            <a:r>
              <a:rPr lang="es-MX" dirty="0" sz="1600" b="1">
                <a:latin typeface="Arial"/>
                <a:solidFill>
                  <a:srgbClr val="85BB85"/>
                </a:solidFill>
              </a:rPr>
              <a:t>Haz clic para editar el estilo de subtítulo del patrón</a:t>
            </a:r>
            <a:endParaRPr lang="es-ES" dirty="0" sz="1600" b="1">
              <a:latin typeface="Arial"/>
              <a:solidFill>
                <a:srgbClr val="85BB85"/>
              </a:solidFill>
            </a:endParaRPr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185629166"/>
      </p:ext>
    </p:extLst>
  </p:cSld>
  <p:clrMapOvr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ns3:creationId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ns2:creationId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338328"/>
            <a:ext cx="9799981" cy="397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320734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924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ns2:creationId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ns2:creationId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735362092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2mas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mas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13118" y="1212494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3754526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fil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02252" y="1212494"/>
            <a:ext cx="3611880" cy="4887468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4273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arrib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11377879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557784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68212" y="3754526"/>
            <a:ext cx="557784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vertical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59052" y="1212494"/>
            <a:ext cx="918972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59052" y="3754526"/>
            <a:ext cx="918972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asimetrico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694944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731252" y="1920240"/>
            <a:ext cx="4114800" cy="34747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tir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011680" y="1212494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11680" y="2926080"/>
            <a:ext cx="9802368" cy="14173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011680" y="4663440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02920" y="2834640"/>
            <a:ext cx="1234440" cy="1234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oron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206240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07808" y="1212494"/>
            <a:ext cx="4206240" cy="201168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26080" y="4617720"/>
            <a:ext cx="6400800" cy="14630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5232" y="2889504"/>
            <a:ext cx="1737360" cy="1737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ifra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502920" y="3017520"/>
            <a:ext cx="1417320" cy="7772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02920" y="3977640"/>
            <a:ext cx="1417320" cy="77724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2240280" y="1212494"/>
            <a:ext cx="4160520" cy="2286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240280" y="3749040"/>
            <a:ext cx="4160520" cy="2286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812280" y="1212494"/>
            <a:ext cx="5001768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02920" y="1280160"/>
            <a:ext cx="1417320" cy="1417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cifras_y_grafico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772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343400" y="1212494"/>
            <a:ext cx="3611880" cy="105156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183880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1772" y="2606040"/>
            <a:ext cx="5577840" cy="347472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263640" y="2606040"/>
            <a:ext cx="5577840" cy="34747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6"/>
    <p:sldLayoutId id="2147483736" r:id="rId27"/>
    <p:sldLayoutId id="214748373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CA5651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506e20b9a51521ad4a3ccbae304a6da3da744055.png"/>
<Relationship Id="rId3" Type="http://schemas.openxmlformats.org/officeDocument/2006/relationships/image" Target="../media/934d73068fa4b38f2df0a4440b336764716bed4a.png"/>
<Relationship Id="rId4" Type="http://schemas.openxmlformats.org/officeDocument/2006/relationships/image" Target="../media/ec4a2ee55e3f740b404461fc364283575bbc0ec4.png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506e20b9a51521ad4a3ccbae304a6da3da744055.png"/>
<Relationship Id="rId3" Type="http://schemas.openxmlformats.org/officeDocument/2006/relationships/image" Target="../media/934d73068fa4b38f2df0a4440b336764716bed4a.png"/>
<Relationship Id="rId4" Type="http://schemas.openxmlformats.org/officeDocument/2006/relationships/image" Target="../media/ec4a2ee55e3f740b404461fc364283575bbc0ec4.png"/>
<Relationship Id="rId5" Type="http://schemas.openxmlformats.org/officeDocument/2006/relationships/image" Target="../media/b0624f93f0901ddded26fc8da982b3bbf66f4aa7.png"/>
<Relationship Id="rId6" Type="http://schemas.openxmlformats.org/officeDocument/2006/relationships/image" Target="../media/d3d99fd3adf75ab4de86bcd84ee9b158c322781d.png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feb657ef01a9ce117ddb336cc0cc9a66c4db272.png"/>
<Relationship Id="rId3" Type="http://schemas.openxmlformats.org/officeDocument/2006/relationships/image" Target="../media/978277cd0329c4af9360c13c8e3d11bf2db52476.png"/>
<Relationship Id="rId4" Type="http://schemas.openxmlformats.org/officeDocument/2006/relationships/image" Target="../media/017e2d6738d566b93d2e53b9d9c981e21e63c427.png"/>
<Relationship Id="rId5" Type="http://schemas.openxmlformats.org/officeDocument/2006/relationships/image" Target="../media/99c88974cef60a1c6ad6997439c0fba8722dd6c2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1938528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PROPUESTAS PARA EL RECETARIO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31520" y="2286000"/>
            <a:ext cx="10698480" cy="6400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Ideas de referencia, en la línea de PULSO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301752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idea dibujada con los recursos de la identidad y con contenido que calcula el motor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342900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Octubre 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EVALUAR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se propone, de dónde sale y dónde viviría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452628" y="1417320"/>
          <a:ext cx="11292840" cy="4114800"/>
        </p:xfrm>
        <a:graphic>
          <a:graphicData uri="http://schemas.openxmlformats.org/drawingml/2006/table">
            <a:tbl>
              <a:tblPr/>
              <a:tblGrid>
                <a:gridCol w="365760"/>
                <a:gridCol w="2926080"/>
                <a:gridCol w="3017520"/>
                <a:gridCol w="2194560"/>
                <a:gridCol w="1554480"/>
                <a:gridCol w="1188720"/>
              </a:tblGrid>
              <a:tr h="22860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0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#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0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Propuesta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0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 idea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0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 calcula el motor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0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 escribe en la app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0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Separadores sin cero y con más alternativas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Jerarquía de capítulos sin texto extra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Número y título del plan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Nada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En evaluación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Cifras destacadas de 1 a 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 cifra destacada de III.2, en cualquier cantidad y posición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Cifras y detalle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 rótulo corto por cifra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En evaluación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Bottom Two Box junto al Top Two Box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Cuántos están insatisfechos, sin sumar a ojo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 la columna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Nada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Aceptada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Peso de cada aspecto en la satisfacción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Qué importa, además de qué se evalúa bien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Todo, con un análisis nuevo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Nada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En evaluación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Tabla de significancia con su gráfico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 diferencia y su intervalo, o la matriz de pares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Prueba y letras (ya existen)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Nada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En evaluación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Fila Total separada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 referencia se distingue de los grupos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 la fila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Nada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Aceptada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 según los comentarios del 2026-10-08. La pregunta exacta en el pie se retiró</a:t>
            </a:r>
          </a:p>
        </p:txBody>
      </p:sp>
      <p:sp>
        <p:nvSpPr>
          <p:cNvPr id="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474720"/>
            <a:ext cx="1280160" cy="1554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520440" y="3931920"/>
            <a:ext cx="36576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749040" y="3840480"/>
            <a:ext cx="8154619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49040" y="4389120"/>
            <a:ext cx="8154619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Misión, propósitos, gestión y planificación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CAPÍTULO, VARIANTE A: NÚMERO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377440" y="3904488"/>
            <a:ext cx="1005840" cy="365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70916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Misión, propósitos, gestión y planificación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CAPÍTULO, VARIANTE B: RÓTULO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144000" y="3383280"/>
            <a:ext cx="2377440" cy="23774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0" i="0" b="1" u="none" strike="noStrike">
                <a:solidFill>
                  <a:srgbClr val="DCE2E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3886200"/>
            <a:ext cx="676656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526280"/>
            <a:ext cx="6766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Misión, propósitos, gestión y planificación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CAPÍTULO, VARIANTE C: NÚMERO DE FONDO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CARACTERÍSTICAS INSTITUCIONALES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822960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82296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entre los cuatro públicos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ALTERNATIVA 1: SOBRIA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606040"/>
            <a:ext cx="54864" cy="1234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35508" y="2578608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CARACTERÍSTICAS INSTITUCIONALES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2852928"/>
            <a:ext cx="914400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  Misión y propósitos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35508" y="3429000"/>
            <a:ext cx="82296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entre los cuatro públicos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ALTERNATIVA 2: BARRA LATERAL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2331720"/>
            <a:ext cx="12191695" cy="1600200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697480"/>
            <a:ext cx="146304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778508" y="2743200"/>
            <a:ext cx="27432" cy="8229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961388" y="2697480"/>
            <a:ext cx="822960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61388" y="3246120"/>
            <a:ext cx="82296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Características institucionales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ALTERNATIVA 3: BANDA CLARA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y los propósitos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  MISIÓN Y PROPÓSITOS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203704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16836" y="2176272"/>
            <a:ext cx="5900075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16836" y="2203704"/>
            <a:ext cx="589641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013253" y="2176272"/>
            <a:ext cx="120335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67934" y="2112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23860" y="2103120"/>
            <a:ext cx="495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31252" y="1883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862072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116836" y="2834640"/>
            <a:ext cx="463655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116836" y="2862072"/>
            <a:ext cx="46328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749735" y="2834640"/>
            <a:ext cx="1383853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749735" y="2862072"/>
            <a:ext cx="13838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520440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116836" y="3493008"/>
            <a:ext cx="469672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116836" y="3520440"/>
            <a:ext cx="46930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09903" y="3493008"/>
            <a:ext cx="1323685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09903" y="3520440"/>
            <a:ext cx="13236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178808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116836" y="4151376"/>
            <a:ext cx="559923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116836" y="4178808"/>
            <a:ext cx="5595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12415" y="4151376"/>
            <a:ext cx="421173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602962" y="417880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783330" y="48188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893058" y="475488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398518" y="481888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08246" y="475488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503920" y="1920240"/>
            <a:ext cx="45720" cy="1737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05088" y="1874520"/>
            <a:ext cx="3198571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lámina separadora: el antetítulo en coral, con el número del subcapítulo, marca dónde empieza.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3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1: SEPARADORES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separadores de capítulo y cuatro de subcapítulo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04388" y="1508760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número sin cero, grande y en coral, con un filete que lo separa del título.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208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30552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B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04388" y="2130552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«Capítulo 2» pequeño en coral sobre un filete corto. El título manda.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642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752344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C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04388" y="2752344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número grande en azul muy claro, detrás y a la derecha, como marca de agua.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26440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3374136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 1 y 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04388" y="3374136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general sin personas ni público: el número y el título en una línea, o junto a una barra coral.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8862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995928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 3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104388" y="3995928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banda clara a lo ancho con el número y el título. Se lee como un corte menor.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50799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617720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 4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104388" y="4617720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lámina propia: la primera lámina del subcapítulo lo anuncia en su antetítulo.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número y el título salen del plan del informe: ninguna variante pide escribir texto nuevo</a:t>
            </a:r>
          </a:p>
        </p:txBody>
      </p:sp>
      <p:sp>
        <p:nvSpPr>
          <p:cNvPr id="2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2: CIFRAS, DE 1 A 5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frente a su gráfico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05740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3329" y="2178101"/>
            <a:ext cx="261518" cy="26151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743200"/>
            <a:ext cx="4297680" cy="8572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5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31 %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3600450"/>
            <a:ext cx="4297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egresados tiene el título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920490"/>
            <a:ext cx="4297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Aunque el 98 % trabaja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4628" y="1508760"/>
            <a:ext cx="7315" cy="44531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390388" y="1508760"/>
            <a:ext cx="65132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390388" y="1746504"/>
            <a:ext cx="651327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90388" y="224028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40619" y="224028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90388" y="2589530"/>
            <a:ext cx="32566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647024" y="2589530"/>
            <a:ext cx="325663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09502" y="2882138"/>
            <a:ext cx="4494157" cy="38404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90388" y="2882138"/>
            <a:ext cx="2022772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junto a su gráfico, en mitades. Base: 178 egresados</a:t>
            </a:r>
          </a:p>
        </p:txBody>
      </p:sp>
      <p:sp>
        <p:nvSpPr>
          <p:cNvPr id="2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2: CIFRAS, DE 1 A 5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cifras con rótulos de largo distinto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3329" y="1812341"/>
            <a:ext cx="261518" cy="26151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377440"/>
            <a:ext cx="3634130" cy="698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98 %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307594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docentes conoce la misión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578860"/>
            <a:ext cx="363413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77 %, egresados 78 %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01058" y="1691640"/>
            <a:ext cx="7315" cy="22529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0679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527499" y="1812341"/>
            <a:ext cx="261518" cy="26151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4315358" y="2377440"/>
            <a:ext cx="3634130" cy="698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15358" y="307594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estudiantes reconoce la tutoría académica que ofrece la Unidad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15358" y="3578860"/>
            <a:ext cx="363413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los docentes, 83 %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155229" y="1691640"/>
            <a:ext cx="7315" cy="22529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360969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481670" y="1812341"/>
            <a:ext cx="261518" cy="261518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8269529" y="2377440"/>
            <a:ext cx="3634130" cy="698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69529" y="307594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 las competencias técnicas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69529" y="3578860"/>
            <a:ext cx="363413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de los 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800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98348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queda arriba, el rótulo ocupa hasta dos líneas y el detalle siempre cae a la misma altura, aunque un rótulo sea más largo.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2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2: CIFRAS, DE 1 A 5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Cinco cifras, el máximo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3329" y="1812341"/>
            <a:ext cx="261518" cy="26151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98 %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docentes conoce la misión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77 %, egresados 78 %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60538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9769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2918399" y="1812341"/>
            <a:ext cx="261518" cy="26151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2706258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06258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estudiantes reconoce la tutoría académica que ofrece la Unidad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706258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los docentes, 83 %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05608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4276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263469" y="1812341"/>
            <a:ext cx="261518" cy="261518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5051328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051328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 las competencias técnicas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51328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de los 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350679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487839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7608540" y="1812341"/>
            <a:ext cx="261518" cy="261518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396399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31 %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396399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egresados tiene el título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396399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Aunque el 98 % trabaja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95749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32909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9953610" y="1812341"/>
            <a:ext cx="261518" cy="26151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9741469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41469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741469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cuatro públicos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526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70916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cinco, la cifra baja a 34 pt. Si un rótulo pide una línea más, todos los detalles bajan con él. Con seis o más, la información va a una tabla.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417 personas encuestadas en cuatro públicos</a:t>
            </a:r>
          </a:p>
        </p:txBody>
      </p:sp>
      <p:sp>
        <p:nvSpPr>
          <p:cNvPr id="3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PROPUESTAS 3 Y 6: BOTTOM TWO BOX Y FILA TOTAL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17320"/>
            <a:ext cx="1145103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526219" y="1801368"/>
            <a:ext cx="12344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623499" y="1801368"/>
            <a:ext cx="13258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Bottom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3055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025396" y="2139696"/>
            <a:ext cx="376413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891734" y="213055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98151" y="2139696"/>
            <a:ext cx="1047372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98151" y="2130552"/>
            <a:ext cx="104371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41866" y="2139696"/>
            <a:ext cx="2463842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41866" y="2130552"/>
            <a:ext cx="24601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902050" y="2139696"/>
            <a:ext cx="2016535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02050" y="2130552"/>
            <a:ext cx="2012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914928" y="2139696"/>
            <a:ext cx="1565572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914928" y="2130552"/>
            <a:ext cx="15655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571939" y="213055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14939" y="213055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4688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7157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025396" y="2724912"/>
            <a:ext cx="152760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174498" y="2724912"/>
            <a:ext cx="2165638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174498" y="2715768"/>
            <a:ext cx="21619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36478" y="2724912"/>
            <a:ext cx="4029413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36478" y="2715768"/>
            <a:ext cx="40257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362234" y="2724912"/>
            <a:ext cx="1118265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62234" y="2715768"/>
            <a:ext cx="11182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094461" y="26609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807339" y="24323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71939" y="271576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714939" y="271576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30998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025396" y="3108960"/>
            <a:ext cx="450964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929009" y="30998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72702" y="3108960"/>
            <a:ext cx="1345576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472702" y="3099816"/>
            <a:ext cx="13419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814621" y="3108960"/>
            <a:ext cx="2538393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814621" y="3099816"/>
            <a:ext cx="25347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49356" y="3108960"/>
            <a:ext cx="1420127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49356" y="3099816"/>
            <a:ext cx="14164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65825" y="3108960"/>
            <a:ext cx="1714674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65825" y="3099816"/>
            <a:ext cx="17146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571939" y="309981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4939" y="309981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50215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61188" y="3611880"/>
            <a:ext cx="1145103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526219" y="3995928"/>
            <a:ext cx="12344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623499" y="3995928"/>
            <a:ext cx="13258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Bottom Two Box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3251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025396" y="4334256"/>
            <a:ext cx="154266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76004" y="4334256"/>
            <a:ext cx="380178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044224" y="43251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552525" y="4334256"/>
            <a:ext cx="3166429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552525" y="4325112"/>
            <a:ext cx="31627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715296" y="4334256"/>
            <a:ext cx="2639300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715296" y="4325112"/>
            <a:ext cx="26356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50938" y="4334256"/>
            <a:ext cx="1129561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350938" y="4325112"/>
            <a:ext cx="11295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095214" y="42702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808092" y="40416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571939" y="432511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714939" y="432511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46634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491032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025396" y="4919472"/>
            <a:ext cx="152760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174498" y="4919472"/>
            <a:ext cx="2314740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174498" y="4910328"/>
            <a:ext cx="23110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485580" y="4919472"/>
            <a:ext cx="3283903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485580" y="4910328"/>
            <a:ext cx="32802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765825" y="4919472"/>
            <a:ext cx="1714674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765825" y="4910328"/>
            <a:ext cx="17146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094461" y="4855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807339" y="4626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571939" y="491032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714939" y="491032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529437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025396" y="5303520"/>
            <a:ext cx="229570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251308" y="5303520"/>
            <a:ext cx="455482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157180" y="52943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703133" y="5303520"/>
            <a:ext cx="3392341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703133" y="5294376"/>
            <a:ext cx="33886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091816" y="5303520"/>
            <a:ext cx="2413388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6091816" y="5294376"/>
            <a:ext cx="24097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501546" y="5303520"/>
            <a:ext cx="978953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501546" y="5294376"/>
            <a:ext cx="9789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132866" y="52395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845744" y="50109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571939" y="529437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714939" y="529437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129638" y="588873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239366" y="582472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446626" y="588873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56354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976214" y="588873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6085942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264502" y="588873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374230" y="582472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327490" y="588873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437218" y="582472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«De acuerdo» más «Totalmente de acuerdo». Bottom Two Box: las dos respuestas en desacuerdo. Base: 52 docentes y 172 estudiantes</a:t>
            </a:r>
          </a:p>
        </p:txBody>
      </p:sp>
      <p:sp>
        <p:nvSpPr>
          <p:cNvPr id="10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4: PESO EN LA SATISFACCIÓN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atención en la Unidad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17320"/>
            <a:ext cx="1145103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tan satisfecho está con cada aspecto de la atención?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526219" y="1801368"/>
            <a:ext cx="12344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623499" y="1801368"/>
            <a:ext cx="13258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Bottom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1801368"/>
            <a:ext cx="16459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Cuánto pesa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71954"/>
            <a:ext cx="67482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63447" y="2313432"/>
            <a:ext cx="128016" cy="12801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73175" y="2240280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824228" y="224028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Trato del personal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28516" y="2249424"/>
            <a:ext cx="164217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9075" y="2249424"/>
            <a:ext cx="431816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83115" y="22402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17234" y="2249424"/>
            <a:ext cx="2519090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17234" y="2240280"/>
            <a:ext cx="25154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666" y="2249424"/>
            <a:ext cx="2037411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32666" y="2240280"/>
            <a:ext cx="20337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266420" y="2249424"/>
            <a:ext cx="214079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203309" y="21854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916188" y="19568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367973" y="21854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078163" y="19568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571939" y="2240280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714939" y="2240280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2975458"/>
            <a:ext cx="54315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1774" y="2916936"/>
            <a:ext cx="128016" cy="12801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1502" y="2843784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2422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Tiempo de atención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128516" y="2852928"/>
            <a:ext cx="485336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049315" y="28437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610194" y="2852928"/>
            <a:ext cx="1020534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610194" y="2843784"/>
            <a:ext cx="101687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27071" y="2852928"/>
            <a:ext cx="2412050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627071" y="2843784"/>
            <a:ext cx="24083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035464" y="2852928"/>
            <a:ext cx="1181094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035464" y="2843784"/>
            <a:ext cx="1177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212900" y="2852928"/>
            <a:ext cx="267599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341213" y="278892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4092" y="256032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571939" y="2843784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714939" y="2843784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578962"/>
            <a:ext cx="42793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16559" y="3520440"/>
            <a:ext cx="128016" cy="12801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6287" y="3447288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824228" y="3355848"/>
            <a:ext cx="219456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Claridad de la información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128516" y="3456432"/>
            <a:ext cx="217737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342595" y="3456432"/>
            <a:ext cx="645896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342595" y="3447288"/>
            <a:ext cx="6422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84833" y="3456432"/>
            <a:ext cx="2733169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84833" y="3447288"/>
            <a:ext cx="27295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14345" y="3456432"/>
            <a:ext cx="1555733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14345" y="3447288"/>
            <a:ext cx="155207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266420" y="3456432"/>
            <a:ext cx="214079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30069" y="3392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942948" y="3163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367973" y="3392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78163" y="3163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571939" y="344728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714939" y="344728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61188" y="4059936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efecto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824228" y="405079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128516" y="4059936"/>
            <a:ext cx="110697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235556" y="4059936"/>
            <a:ext cx="485336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156355" y="4050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17234" y="4059936"/>
            <a:ext cx="2786689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717234" y="4050792"/>
            <a:ext cx="27830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500265" y="4059936"/>
            <a:ext cx="1769812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500265" y="4050792"/>
            <a:ext cx="17661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266420" y="4059936"/>
            <a:ext cx="214079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176549" y="399592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889428" y="376732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367973" y="399592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078163" y="376732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571939" y="405079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714939" y="405079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4526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4636008"/>
            <a:ext cx="3657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el peso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4910328"/>
            <a:ext cx="1145103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peso indica qué parte de la satisfacción general explica cada aspecto, según una regresión lineal. Se reparte entre los aspectos con efecto significativo y suma 100 %.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5394960"/>
            <a:ext cx="11451031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trato del personal es el aspecto de mayor peso. La infraestructura, aunque bien evaluada, no tiene efecto significativo.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129638" y="588873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239366" y="582472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446626" y="588873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56354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976214" y="588873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085942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264502" y="588873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374230" y="582472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327490" y="588873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437218" y="582472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Peso estimado con una regresión lineal de la satisfacción general sobre los aspectos evaluados</a:t>
            </a:r>
          </a:p>
        </p:txBody>
      </p:sp>
      <p:sp>
        <p:nvSpPr>
          <p:cNvPr id="9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5: SIGNIFICANCIA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qué se grafica la diferencia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30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 Cada grupo con su intervalo de 95 %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3035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misión?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89988" y="2286000"/>
            <a:ext cx="3566160" cy="132588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871158" y="2286000"/>
            <a:ext cx="423518" cy="1325880"/>
          </a:xfrm>
          <a:prstGeom prst="rect">
            <a:avLst/>
          </a:prstGeom>
          <a:solidFill>
            <a:srgbClr val="FBE3D3">
              <a:alpha val="100000"/>
            </a:srgbClr>
          </a:solidFill>
          <a:ln w="3175" cap="rnd" cmpd="sng">
            <a:solidFill>
              <a:srgbClr val="FBE3D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695782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379399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14685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398302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33588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17205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52490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436108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188" y="2450592"/>
            <a:ext cx="1691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871158" y="2532888"/>
            <a:ext cx="1569928" cy="54864"/>
          </a:xfrm>
          <a:prstGeom prst="round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74713" y="24780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19050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514238" y="24323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1188" y="3044952"/>
            <a:ext cx="1691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10819" y="3127248"/>
            <a:ext cx="1383857" cy="54864"/>
          </a:xfrm>
          <a:prstGeom prst="round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05403" y="307238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19050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67827" y="302666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1188" y="4023360"/>
            <a:ext cx="5394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intervalos se solapan (zona naranja). A simple vista parece que no hay diferencia.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121908" y="1508760"/>
            <a:ext cx="7315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87668" y="1508760"/>
            <a:ext cx="54159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 La diferencia con su intervalo de 95 %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87668" y="1746504"/>
            <a:ext cx="541599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menos estudiantes, en puntos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87668" y="2286000"/>
            <a:ext cx="5141671" cy="132588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84010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167628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-10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764856" y="2286000"/>
            <a:ext cx="16459" cy="132588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53046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054846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38464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+10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340264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023881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625682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309299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+30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805072" y="2834640"/>
            <a:ext cx="272410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292114" y="2779776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5610" y="2359152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puntos  [0.2 a 21.4]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96228" y="4023360"/>
            <a:ext cx="550743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intervalo de la diferencia no cruza el cero: es significativa (p = 0.043).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50292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5148072"/>
            <a:ext cx="1145103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eso el gráfico de significancia muestra la diferencia y su intervalo, no sólo los grupos. Con tres o más grupos, se comparan los pares y se corrige por comparaciones múltiples.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Fuentes: Schenker y Gentleman (2001), Cumming y Finch (2005), Gardner y Altman (1986), Newcombe (1998) y Wright, Klein y Wieczorek (2019). Intervalos de Wilson y Newcombe</a:t>
            </a:r>
          </a:p>
        </p:txBody>
      </p:sp>
      <p:sp>
        <p:nvSpPr>
          <p:cNvPr id="4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5: TABLA DE LETRAS Y GRÁFICO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perfil de egreso en tres públicos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04388" y="1417320"/>
            <a:ext cx="114300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95828" y="1655064"/>
            <a:ext cx="9601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10228" y="1417320"/>
            <a:ext cx="114300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01668" y="1655064"/>
            <a:ext cx="9601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16068" y="1417320"/>
            <a:ext cx="114300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207508" y="1655064"/>
            <a:ext cx="9601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96228" y="1417320"/>
            <a:ext cx="183581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menos B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396228" y="1655064"/>
            <a:ext cx="18358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y 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277758" y="1417320"/>
            <a:ext cx="183581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menos C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277758" y="1655064"/>
            <a:ext cx="18358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y 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59289" y="1417320"/>
            <a:ext cx="183581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 menos C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9289" y="1655064"/>
            <a:ext cx="18358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1947672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1188" y="2066544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INSTITUCIONAL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188" y="2395728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81172" y="2395728"/>
            <a:ext cx="558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84524" y="2414016"/>
            <a:ext cx="431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BC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201668" y="239572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207508" y="239572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2715768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1188" y="2779776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95828" y="277977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201668" y="277977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207508" y="277977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099816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61188" y="3145536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61188" y="3474720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95828" y="347472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201668" y="347472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207508" y="347472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3794760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61188" y="3858768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95828" y="385876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01668" y="385876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07508" y="385876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178808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61188" y="4242816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95828" y="424281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201668" y="424281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43652" y="4242816"/>
            <a:ext cx="558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747004" y="4261104"/>
            <a:ext cx="330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4562856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61188" y="4626864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195828" y="4626864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01668" y="4626864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207508" y="4626864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946904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61188" y="5010912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195828" y="5010912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201668" y="5010912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207508" y="5010912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330952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61188" y="5394960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195828" y="539496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201668" y="539496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207508" y="539496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5715000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87668" y="2020824"/>
            <a:ext cx="1652930" cy="3694176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658003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341621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233407" y="2020824"/>
            <a:ext cx="16459" cy="3694176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21596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817954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501572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369198" y="2020824"/>
            <a:ext cx="1652930" cy="3694176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539533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223151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114937" y="2020824"/>
            <a:ext cx="16459" cy="3694176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803127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699485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383102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250729" y="2020824"/>
            <a:ext cx="1652930" cy="3694176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1064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104681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96467" y="2020824"/>
            <a:ext cx="16459" cy="3694176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684657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581015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264633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464718" y="2496312"/>
            <a:ext cx="628508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761104" y="244144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342241" y="2496312"/>
            <a:ext cx="621771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636762" y="244144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688517" y="2496312"/>
            <a:ext cx="61899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916529" y="2441448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153475" y="2880360"/>
            <a:ext cx="76456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520596" y="282549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997510" y="2880360"/>
            <a:ext cx="751020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359783" y="282549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625984" y="2880360"/>
            <a:ext cx="671139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880058" y="282549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952619" y="3575304"/>
            <a:ext cx="550630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208897" y="352044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787207" y="3575304"/>
            <a:ext cx="476963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038045" y="352044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742405" y="3575304"/>
            <a:ext cx="362993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870019" y="352044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789035" y="3959352"/>
            <a:ext cx="62867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095177" y="3904488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622914" y="3959352"/>
            <a:ext cx="566551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8924325" y="3904488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0742405" y="3959352"/>
            <a:ext cx="362993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0870019" y="3904488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7009577" y="4343400"/>
            <a:ext cx="65484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7311663" y="428853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8702246" y="4343400"/>
            <a:ext cx="523082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8981185" y="428853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10534355" y="4343400"/>
            <a:ext cx="450790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10710392" y="4288536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6891923" y="4727448"/>
            <a:ext cx="60313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7178641" y="4672584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8834994" y="4727448"/>
            <a:ext cx="578236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9125278" y="4672584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10831634" y="4727448"/>
            <a:ext cx="442036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10987507" y="4672584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6785788" y="5111496"/>
            <a:ext cx="694496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7118130" y="505663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8631482" y="5111496"/>
            <a:ext cx="63732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8957523" y="505663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10715088" y="5111496"/>
            <a:ext cx="44882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10880264" y="505663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6785788" y="5495544"/>
            <a:ext cx="694496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7118130" y="544068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8664755" y="5495544"/>
            <a:ext cx="647989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8993546" y="544068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10746599" y="5495544"/>
            <a:ext cx="46229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10916287" y="544068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1" name=""/>
          <p:cNvSpPr>
            <a:spLocks noGrp="1"/>
          </p:cNvSpPr>
          <p:nvPr>
            </p:nvPr>
        </p:nvSpPr>
        <p:spPr>
          <a:xfrm>
            <a:off x="452628" y="598932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letra indica de qué público es mayor. Cada panel muestra la diferencia de un par con su intervalo. Punto lleno: diferencia significativa.</a:t>
            </a:r>
          </a:p>
        </p:txBody>
      </p:sp>
      <p:sp>
        <p:nvSpPr>
          <p:cNvPr id="1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o «Sí». Prueba z entre cada par de públicos, con corrección de Bonferroni (α = 0.05). Base: 51 docentes, 109 estudiantes y 161 egresados (misión: 52, 172 y 178)</a:t>
            </a:r>
          </a:p>
        </p:txBody>
      </p:sp>
      <p:sp>
        <p:nvSpPr>
          <p:cNvPr id="13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5: VERSIÓN TÉCNICA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y estudiantes en seis preguntas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630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87268" y="1554480"/>
            <a:ext cx="109728" cy="109728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351276" y="1463040"/>
            <a:ext cx="868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55948" y="1554480"/>
            <a:ext cx="109728" cy="109728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19956" y="146304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70348" y="1463040"/>
            <a:ext cx="40233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Diferencia, docentes menos 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93708" y="1463040"/>
            <a:ext cx="15544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[IC 95 %]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739628" y="1463040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7922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61188" y="1920240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INSTITUCIONAL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61188" y="229514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41548" y="22951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110228" y="22951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093708" y="2295144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+21  [10.8 a 27.7]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739628" y="2295144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&lt; 0.001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2660904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093708" y="2660904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1188" y="275234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41548" y="27523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10228" y="27523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93708" y="2752344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 [0.2 a 21.4]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739628" y="2752344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0.043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118104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93708" y="3118104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1188" y="3163824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61188" y="35387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41548" y="35387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110228" y="35387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093708" y="3538728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+30  [15.4 a 40.7]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739628" y="3538728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&lt; 0.001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3904488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093708" y="3904488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61188" y="39959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41548" y="39959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10228" y="39959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93708" y="3995928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 [-16.1 a 10.2]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739628" y="3995928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0.795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361688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093708" y="4361688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61188" y="4407408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61188" y="478231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41548" y="47823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110228" y="47823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093708" y="4782312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 [-4.9 a 12.7]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739628" y="4782312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0.240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5148072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93708" y="5148072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61188" y="523951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241548" y="52395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110228" y="52395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093708" y="5239512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 [-12.5 a 4.4]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39628" y="5239512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0.524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5605272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093708" y="5605272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161788" y="1874520"/>
            <a:ext cx="3840480" cy="3730752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3245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11606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525158" y="1874520"/>
            <a:ext cx="16459" cy="3730752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21334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62701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31062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72429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40790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+40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126578" y="2404872"/>
            <a:ext cx="92914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589594" y="235000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547040" y="2862072"/>
            <a:ext cx="1162697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134567" y="280720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376581" y="3648456"/>
            <a:ext cx="138739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085234" y="3593592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648807" y="4105656"/>
            <a:ext cx="1443570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355399" y="405079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263897" y="4892040"/>
            <a:ext cx="96674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739279" y="483717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847572" y="5349240"/>
            <a:ext cx="92811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329698" y="529437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04588" y="586130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en estudiantes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624828" y="5861304"/>
            <a:ext cx="17373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en docentes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o «Sí». Base: 52 docentes y 172 estudiantes (Auditoría y Tributación: 51 y 109). Intervalo de Newcombe. Punto lleno: el intervalo no cruza el cero (prueba z, α = 0.05)</a:t>
            </a:r>
          </a:p>
        </p:txBody>
      </p:sp>
      <p:sp>
        <p:nvSpPr>
          <p:cNvPr id="8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5: VERSIÓN ESTÁNDAR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y estudiantes en seis preguntas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630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87268" y="1554480"/>
            <a:ext cx="109728" cy="109728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351276" y="1463040"/>
            <a:ext cx="868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55948" y="1554480"/>
            <a:ext cx="109728" cy="109728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19956" y="146304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70348" y="1463040"/>
            <a:ext cx="40233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Diferencia, docentes menos 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93708" y="1463040"/>
            <a:ext cx="15544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17922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61188" y="1920240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INSTITUCIONAL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61188" y="229514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241548" y="22951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10228" y="22951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093708" y="2295144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+21 puntos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511028" y="2295144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660904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093708" y="2660904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1188" y="275234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41548" y="27523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10228" y="27523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093708" y="2752344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puntos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511028" y="2752344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118104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093708" y="3118104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1188" y="3163824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1188" y="35387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241548" y="35387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110228" y="35387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093708" y="3538728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+30 puntos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511028" y="3538728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3904488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93708" y="3904488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61188" y="39959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241548" y="39959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110228" y="39959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93708" y="3995928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puntos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511028" y="3995928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361688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93708" y="4361688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61188" y="4407408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61188" y="478231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41548" y="47823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110228" y="47823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093708" y="4782312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puntos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511028" y="4782312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5148072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093708" y="5148072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61188" y="523951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41548" y="52395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110228" y="52395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093708" y="5239512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puntos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511028" y="5239512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605272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093708" y="5605272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161788" y="1874520"/>
            <a:ext cx="3840480" cy="3730752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43245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11606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525158" y="1874520"/>
            <a:ext cx="16459" cy="3730752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21334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62701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31062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72429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40790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+40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126578" y="2404872"/>
            <a:ext cx="92914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589594" y="235000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547040" y="2862072"/>
            <a:ext cx="1162697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134567" y="280720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376581" y="3648456"/>
            <a:ext cx="138739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085234" y="3593592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648807" y="4105656"/>
            <a:ext cx="1443570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355399" y="405079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263897" y="4892040"/>
            <a:ext cx="96674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739279" y="483717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847572" y="5349240"/>
            <a:ext cx="92811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329698" y="529437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04588" y="586130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en estudiantes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624828" y="5861304"/>
            <a:ext cx="17373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en docentes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o «Sí». Base: 52 docentes y 172 estudiantes (Auditoría y Tributación: 51 y 109). La barra es el intervalo de 95 %: si no cruza el cero, la diferencia es significativa (α = 0.05)</a:t>
            </a:r>
          </a:p>
        </p:txBody>
      </p:sp>
      <p:sp>
        <p:nvSpPr>
          <p:cNvPr id="8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5: VERSIÓN TÉCNICA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 los cuatro públicos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1828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64308" y="155448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0308" y="1554480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883664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2140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 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64308" y="2167128"/>
            <a:ext cx="1434905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944933" y="212140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47853" y="2130552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BC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0308" y="2121408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60320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68833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 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464308" y="2734056"/>
            <a:ext cx="1131304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41332" y="26883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0308" y="2688336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127248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25526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  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464308" y="3300984"/>
            <a:ext cx="1134267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44295" y="325526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0308" y="3255264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694176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82219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  Administrativos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464308" y="3867912"/>
            <a:ext cx="1365504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875532" y="382219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0308" y="3822192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389120"/>
            <a:ext cx="512064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letra indica de qué público es significativamente mayor: docentes supera a estudiantes (B) y a egresados (C).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39028" y="1508760"/>
            <a:ext cx="7315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33388" y="146304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Fila menos columna, en puntos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036308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243316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50324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657332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33388" y="2212848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72884" y="2002536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36308" y="2075688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36308" y="2368296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52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533388" y="2980944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72884" y="2770632"/>
            <a:ext cx="1133856" cy="694944"/>
          </a:xfrm>
          <a:prstGeom prst="roundRect">
            <a:avLst/>
          </a:prstGeom>
          <a:solidFill>
            <a:srgbClr val="19316B">
              <a:alpha val="100000"/>
            </a:srgbClr>
          </a:solidFill>
          <a:ln w="3175" cap="rnd" cmpd="sng">
            <a:solidFill>
              <a:srgbClr val="19316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36308" y="2825496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36308" y="3154680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0.004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79892" y="2770632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43316" y="2843784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243316" y="313639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172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533388" y="3749040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72884" y="3538728"/>
            <a:ext cx="1133856" cy="694944"/>
          </a:xfrm>
          <a:prstGeom prst="roundRect">
            <a:avLst/>
          </a:prstGeom>
          <a:solidFill>
            <a:srgbClr val="19316B">
              <a:alpha val="100000"/>
            </a:srgbClr>
          </a:solidFill>
          <a:ln w="3175" cap="rnd" cmpd="sng">
            <a:solidFill>
              <a:srgbClr val="19316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36308" y="3593592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-21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36308" y="3922776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0.004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279892" y="3538728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243316" y="3593592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243316" y="3922776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1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486900" y="3538728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450324" y="3611880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450324" y="3904488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178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533388" y="4517136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72884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036308" y="436168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-5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036308" y="469087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279892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43316" y="436168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+16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43316" y="469087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0.882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486900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450324" y="436168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+16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450324" y="469087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0.904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693908" y="4306824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657332" y="4379976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657332" y="4672584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422896" y="5239512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532624" y="5175504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 (más intensa, mayor)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222484" y="5239512"/>
            <a:ext cx="137160" cy="13716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332212" y="517550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533388" y="5541264"/>
            <a:ext cx="537027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 supera en 16 puntos a estudiantes y egresados, pero con 15 casos esa distancia no es significativa.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5998464"/>
            <a:ext cx="9601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Estas pruebas suponen muestreo aleatorio. En estudios censales o por conveniencia, como los de acreditación, se leen como indicativas.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z de diferencia de proporciones en los seis pares, p ajustada por Bonferroni, α = 0.05 (la misma prueba del motor)</a:t>
            </a:r>
          </a:p>
        </p:txBody>
      </p:sp>
      <p:sp>
        <p:nvSpPr>
          <p:cNvPr id="7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5: VERSIÓN ESTÁNDAR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 los cuatro públicos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1828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64308" y="155448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0308" y="1554480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883664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2140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 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64308" y="2167128"/>
            <a:ext cx="1434905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944933" y="212140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47853" y="2130552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BC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0308" y="2121408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60320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68833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 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464308" y="2734056"/>
            <a:ext cx="1131304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41332" y="26883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0308" y="2688336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127248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25526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  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464308" y="3300984"/>
            <a:ext cx="1134267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44295" y="325526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0308" y="3255264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694176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82219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  Administrativos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464308" y="3867912"/>
            <a:ext cx="1365504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875532" y="382219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0308" y="3822192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389120"/>
            <a:ext cx="512064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letra indica de qué público es significativamente mayor: docentes supera a estudiantes (B) y a egresados (C).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39028" y="1508760"/>
            <a:ext cx="7315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33388" y="146304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Fila menos columna, en puntos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036308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243316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50324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657332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33388" y="2212848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72884" y="2002536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36308" y="2075688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36308" y="2368296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52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533388" y="2980944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72884" y="2770632"/>
            <a:ext cx="1133856" cy="694944"/>
          </a:xfrm>
          <a:prstGeom prst="roundRect">
            <a:avLst/>
          </a:prstGeom>
          <a:solidFill>
            <a:srgbClr val="19316B">
              <a:alpha val="100000"/>
            </a:srgbClr>
          </a:solidFill>
          <a:ln w="3175" cap="rnd" cmpd="sng">
            <a:solidFill>
              <a:srgbClr val="19316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36308" y="2953512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279892" y="2770632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43316" y="2843784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43316" y="313639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172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33388" y="3749040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72884" y="3538728"/>
            <a:ext cx="1133856" cy="694944"/>
          </a:xfrm>
          <a:prstGeom prst="roundRect">
            <a:avLst/>
          </a:prstGeom>
          <a:solidFill>
            <a:srgbClr val="19316B">
              <a:alpha val="100000"/>
            </a:srgbClr>
          </a:solidFill>
          <a:ln w="3175" cap="rnd" cmpd="sng">
            <a:solidFill>
              <a:srgbClr val="19316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36308" y="372160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279892" y="3538728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243316" y="372160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486900" y="3538728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450324" y="3611880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450324" y="3904488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178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533388" y="4517136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72884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036308" y="4489704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279892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243316" y="4489704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+16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486900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450324" y="4489704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+16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693908" y="4306824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657332" y="4379976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657332" y="4672584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15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422896" y="5239512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532624" y="5175504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 (más intensa, mayor)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222484" y="5239512"/>
            <a:ext cx="137160" cy="13716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332212" y="517550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533388" y="5541264"/>
            <a:ext cx="537027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 supera en 16 puntos a estudiantes y egresados, pero con 15 casos esa distancia no es significativa.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5998464"/>
            <a:ext cx="9601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Estas pruebas suponen muestreo aleatorio. En estudios censales o por conveniencia, como los de acreditación, se leen como indicativas.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 según la prueba z entre cada par de públicos, con corrección por comparaciones múltiples (α = 0.05)</a:t>
            </a:r>
          </a:p>
        </p:txBody>
      </p:sp>
      <p:sp>
        <p:nvSpPr>
          <p:cNvPr id="7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5: VERSIÓN PARA PÚBLICO GENERAL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 entre docentes y 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001260" y="1527048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110988" y="1463040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37148" y="1527048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246876" y="146304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561588" y="1965960"/>
            <a:ext cx="5029200" cy="3401568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55793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4154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6377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24738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56961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5322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7545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5906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58129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6490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58713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7074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1188" y="2103120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277356" y="2212848"/>
            <a:ext cx="2112264" cy="73152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89036" y="2148840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499348" y="211226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176772" y="2148840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27548" y="211226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68028" y="2112264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2532888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368028" y="2532888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61188" y="2670048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79108" y="2779776"/>
            <a:ext cx="1207008" cy="73152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685532" y="2715768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895844" y="267919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78524" y="2715768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829300" y="267919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368028" y="2679192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099816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368028" y="3099816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61188" y="3236976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863340" y="3346704"/>
            <a:ext cx="3017520" cy="73152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780276" y="3282696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90588" y="32461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762756" y="3282696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113532" y="32461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368028" y="3246120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666744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368028" y="3666744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61188" y="3803904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76188" y="3936492"/>
            <a:ext cx="201168" cy="27432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975604" y="3849624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326380" y="381304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76772" y="3849624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387084" y="381304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368028" y="3813048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4233672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368028" y="4233672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61188" y="4370832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685532" y="4503420"/>
            <a:ext cx="502920" cy="27432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087868" y="4416552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298180" y="437997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584948" y="4416552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35724" y="437997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368028" y="4379976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4800600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368028" y="4800600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61188" y="4937760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987284" y="5070348"/>
            <a:ext cx="201168" cy="27432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886700" y="4983480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237476" y="494690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087868" y="4983480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298180" y="494690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368028" y="4946904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5669280"/>
            <a:ext cx="11451031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«Significativa»: la prueba estadística indica que es poco probable que la distancia se deba al azar de quiénes respondieron. No dice si la diferencia es grande o importante.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o «Sí». Base: 52 docentes y 172 estudiantes (Auditoría y Tributación: 51 y 109). La versión técnica muestra el intervalo y la prueba</a:t>
            </a:r>
          </a:p>
        </p:txBody>
      </p:sp>
      <p:sp>
        <p:nvSpPr>
          <p:cNvPr id="7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5: VERSIÓN PARA PÚBLICO GENERAL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son quienes más conocen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892808"/>
            <a:ext cx="233172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30068" y="1828800"/>
            <a:ext cx="394598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867496" y="1883664"/>
            <a:ext cx="8229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670048"/>
            <a:ext cx="233172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30068" y="2606040"/>
            <a:ext cx="3755136" cy="420624"/>
          </a:xfrm>
          <a:prstGeom prst="rect">
            <a:avLst/>
          </a:prstGeom>
          <a:ln w="15875" cap="rnd" cmpd="sng">
            <a:solidFill>
              <a:srgbClr val="8E9DBD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76644" y="2660904"/>
            <a:ext cx="8229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3447288"/>
            <a:ext cx="233172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30068" y="3383280"/>
            <a:ext cx="3119234" cy="42062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40742" y="3438144"/>
            <a:ext cx="8229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61188" y="4224528"/>
            <a:ext cx="233172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30068" y="4160520"/>
            <a:ext cx="3111087" cy="42062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32595" y="4215384"/>
            <a:ext cx="8229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25996" y="338328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825996" y="4561027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897319" y="3383280"/>
            <a:ext cx="20117" cy="119786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97319" y="3972154"/>
            <a:ext cx="202997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46036" y="3707892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diferencia significativa entre ellos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910828" y="1508760"/>
            <a:ext cx="7315" cy="33832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39428" y="1737360"/>
            <a:ext cx="45720" cy="20116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340596" y="1691640"/>
            <a:ext cx="2563063" cy="21031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</a:t>
            </a: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más que estudiantes y egresados, y la diferencia es significativa. Los </a:t>
            </a: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también marcan alto, pero con 15 casos su diferencia no resulta significativa.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299970" y="50474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409698" y="4983480"/>
            <a:ext cx="2877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 significativa con los demás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78958" y="5047488"/>
            <a:ext cx="137160" cy="13716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88686" y="4983480"/>
            <a:ext cx="207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diferencia significativa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738628" y="5321808"/>
            <a:ext cx="402336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 punteada: base de menos de 30 casos.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La versión técnica muestra la matriz de pares con la prueba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EVALUAR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no se trae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3329" y="1629461"/>
            <a:ext cx="261518" cy="26151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1138428" y="1490472"/>
            <a:ext cx="107652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 oscuro a sangre y cuña diagonal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38428" y="1783080"/>
            <a:ext cx="1076523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la firma visual del informe de referencia. PULSO ya tiene la suya: fondo claro, personas y público.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317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6888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573329" y="2589581"/>
            <a:ext cx="261518" cy="26151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1138428" y="2450592"/>
            <a:ext cx="107652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Láminas de bloques de texto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38428" y="2743200"/>
            <a:ext cx="1076523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Limitaciones o recomendaciones en párrafos no salen de los datos. Si hacen falta, van en la ficha técnica o en el Word.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32918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42900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73329" y="3549701"/>
            <a:ext cx="261518" cy="261518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1138428" y="3410712"/>
            <a:ext cx="107652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flecha de los factores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38428" y="3703320"/>
            <a:ext cx="1076523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decorativo. El peso de cada aspecto se lee mejor con puntos, como en la propuesta 4.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2519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38912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3329" y="4509821"/>
            <a:ext cx="261518" cy="26151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138428" y="4370832"/>
            <a:ext cx="107652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Colores por factor y celdas de color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38428" y="4663440"/>
            <a:ext cx="1076523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Rompen la paleta: en PULSO el color dice la respuesta, no el tema.</a:t>
            </a:r>
          </a:p>
        </p:txBody>
      </p:sp>
      <p:sp>
        <p:nvSpPr>
          <p:cNvPr id="2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081F5C"/>
      </a:dk1>
      <a:lt1>
        <a:srgbClr val="FFFFFF"/>
      </a:lt1>
      <a:dk2>
        <a:srgbClr val="081F5C"/>
      </a:dk2>
      <a:lt2>
        <a:srgbClr val="F2F2F2"/>
      </a:lt2>
      <a:accent1>
        <a:srgbClr val="081F5C"/>
      </a:accent1>
      <a:accent2>
        <a:srgbClr val="CA5651"/>
      </a:accent2>
      <a:accent3>
        <a:srgbClr val="85BB85"/>
      </a:accent3>
      <a:accent4>
        <a:srgbClr val="EFD25E"/>
      </a:accent4>
      <a:accent5>
        <a:srgbClr val="BFBFBF"/>
      </a:accent5>
      <a:accent6>
        <a:srgbClr val="E4A34C"/>
      </a:accent6>
      <a:hlink>
        <a:srgbClr val="7594CC"/>
      </a:hlink>
      <a:folHlink>
        <a:srgbClr val="9688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gonzaloalmendariz</cp:lastModifiedBy>
  <cp:revision>73</cp:revision>
  <dcterms:created xsi:type="dcterms:W3CDTF">2025-07-16T05:29:30Z</dcterms:created>
  <dcterms:modified xsi:type="dcterms:W3CDTF">2026-10-08T11:19:10Z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