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488" r:id="rId240"/>
    <p:sldId id="489" r:id="rId241"/>
    <p:sldId id="261" r:id="rId13"/>
    <p:sldId id="433" r:id="rId185"/>
    <p:sldId id="434" r:id="rId186"/>
    <p:sldId id="260" r:id="rId12"/>
    <p:sldId id="259" r:id="rId11"/>
    <p:sldId id="262" r:id="rId14"/>
    <p:sldId id="263" r:id="rId15"/>
    <p:sldId id="264" r:id="rId16"/>
    <p:sldId id="265" r:id="rId17"/>
    <p:sldId id="266" r:id="rId18"/>
    <p:sldId id="305" r:id="rId57"/>
    <p:sldId id="306" r:id="rId58"/>
    <p:sldId id="270" r:id="rId22"/>
    <p:sldId id="271" r:id="rId23"/>
    <p:sldId id="272" r:id="rId24"/>
    <p:sldId id="490" r:id="rId242"/>
    <p:sldId id="267" r:id="rId19"/>
    <p:sldId id="435" r:id="rId187"/>
    <p:sldId id="436" r:id="rId188"/>
    <p:sldId id="268" r:id="rId20"/>
    <p:sldId id="437" r:id="rId189"/>
    <p:sldId id="438" r:id="rId190"/>
    <p:sldId id="269" r:id="rId21"/>
    <p:sldId id="491" r:id="rId243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92" r:id="rId244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93" r:id="rId245"/>
    <p:sldId id="429" r:id="rId181"/>
    <p:sldId id="430" r:id="rId182"/>
    <p:sldId id="431" r:id="rId183"/>
    <p:sldId id="432" r:id="rId184"/>
    <p:sldId id="524" r:id="rId276"/>
    <p:sldId id="494" r:id="rId246"/>
    <p:sldId id="495" r:id="rId247"/>
    <p:sldId id="314" r:id="rId66"/>
    <p:sldId id="315" r:id="rId67"/>
    <p:sldId id="316" r:id="rId68"/>
    <p:sldId id="317" r:id="rId69"/>
    <p:sldId id="318" r:id="rId70"/>
    <p:sldId id="319" r:id="rId71"/>
    <p:sldId id="440" r:id="rId192"/>
    <p:sldId id="496" r:id="rId248"/>
    <p:sldId id="363" r:id="rId115"/>
    <p:sldId id="378" r:id="rId130"/>
    <p:sldId id="497" r:id="rId249"/>
    <p:sldId id="439" r:id="rId191"/>
    <p:sldId id="320" r:id="rId72"/>
    <p:sldId id="321" r:id="rId73"/>
    <p:sldId id="322" r:id="rId74"/>
    <p:sldId id="372" r:id="rId124"/>
    <p:sldId id="498" r:id="rId250"/>
    <p:sldId id="323" r:id="rId75"/>
    <p:sldId id="324" r:id="rId76"/>
    <p:sldId id="325" r:id="rId77"/>
    <p:sldId id="326" r:id="rId78"/>
    <p:sldId id="499" r:id="rId251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500" r:id="rId252"/>
    <p:sldId id="441" r:id="rId193"/>
    <p:sldId id="334" r:id="rId86"/>
    <p:sldId id="335" r:id="rId87"/>
    <p:sldId id="336" r:id="rId88"/>
    <p:sldId id="501" r:id="rId253"/>
    <p:sldId id="337" r:id="rId89"/>
    <p:sldId id="502" r:id="rId254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503" r:id="rId255"/>
    <p:sldId id="504" r:id="rId256"/>
    <p:sldId id="442" r:id="rId194"/>
    <p:sldId id="443" r:id="rId195"/>
    <p:sldId id="505" r:id="rId257"/>
    <p:sldId id="444" r:id="rId196"/>
    <p:sldId id="369" r:id="rId121"/>
    <p:sldId id="445" r:id="rId197"/>
    <p:sldId id="371" r:id="rId123"/>
    <p:sldId id="446" r:id="rId198"/>
    <p:sldId id="292" r:id="rId44"/>
    <p:sldId id="447" r:id="rId199"/>
    <p:sldId id="293" r:id="rId45"/>
    <p:sldId id="448" r:id="rId200"/>
    <p:sldId id="466" r:id="rId218"/>
    <p:sldId id="506" r:id="rId258"/>
    <p:sldId id="449" r:id="rId201"/>
    <p:sldId id="290" r:id="rId42"/>
    <p:sldId id="302" r:id="rId54"/>
    <p:sldId id="450" r:id="rId202"/>
    <p:sldId id="291" r:id="rId43"/>
    <p:sldId id="451" r:id="rId203"/>
    <p:sldId id="294" r:id="rId46"/>
    <p:sldId id="452" r:id="rId204"/>
    <p:sldId id="295" r:id="rId47"/>
    <p:sldId id="453" r:id="rId205"/>
    <p:sldId id="296" r:id="rId48"/>
    <p:sldId id="454" r:id="rId206"/>
    <p:sldId id="297" r:id="rId49"/>
    <p:sldId id="507" r:id="rId259"/>
    <p:sldId id="455" r:id="rId207"/>
    <p:sldId id="298" r:id="rId50"/>
    <p:sldId id="456" r:id="rId208"/>
    <p:sldId id="299" r:id="rId51"/>
    <p:sldId id="368" r:id="rId120"/>
    <p:sldId id="457" r:id="rId209"/>
    <p:sldId id="300" r:id="rId52"/>
    <p:sldId id="458" r:id="rId210"/>
    <p:sldId id="467" r:id="rId219"/>
    <p:sldId id="459" r:id="rId211"/>
    <p:sldId id="303" r:id="rId55"/>
    <p:sldId id="460" r:id="rId212"/>
    <p:sldId id="304" r:id="rId56"/>
    <p:sldId id="461" r:id="rId213"/>
    <p:sldId id="301" r:id="rId53"/>
    <p:sldId id="462" r:id="rId214"/>
    <p:sldId id="311" r:id="rId63"/>
    <p:sldId id="463" r:id="rId215"/>
    <p:sldId id="312" r:id="rId64"/>
    <p:sldId id="508" r:id="rId260"/>
    <p:sldId id="464" r:id="rId216"/>
    <p:sldId id="310" r:id="rId62"/>
    <p:sldId id="465" r:id="rId217"/>
    <p:sldId id="313" r:id="rId65"/>
    <p:sldId id="468" r:id="rId220"/>
    <p:sldId id="307" r:id="rId59"/>
    <p:sldId id="308" r:id="rId60"/>
    <p:sldId id="309" r:id="rId61"/>
    <p:sldId id="509" r:id="rId261"/>
    <p:sldId id="469" r:id="rId221"/>
    <p:sldId id="470" r:id="rId222"/>
    <p:sldId id="471" r:id="rId223"/>
    <p:sldId id="472" r:id="rId224"/>
    <p:sldId id="473" r:id="rId225"/>
    <p:sldId id="474" r:id="rId226"/>
    <p:sldId id="510" r:id="rId262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511" r:id="rId263"/>
    <p:sldId id="364" r:id="rId116"/>
    <p:sldId id="365" r:id="rId117"/>
    <p:sldId id="366" r:id="rId118"/>
    <p:sldId id="367" r:id="rId119"/>
    <p:sldId id="370" r:id="rId122"/>
    <p:sldId id="373" r:id="rId125"/>
    <p:sldId id="374" r:id="rId126"/>
    <p:sldId id="375" r:id="rId127"/>
    <p:sldId id="376" r:id="rId128"/>
    <p:sldId id="377" r:id="rId129"/>
    <p:sldId id="512" r:id="rId264"/>
    <p:sldId id="513" r:id="rId265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475" r:id="rId227"/>
    <p:sldId id="476" r:id="rId228"/>
    <p:sldId id="514" r:id="rId266"/>
    <p:sldId id="477" r:id="rId229"/>
    <p:sldId id="379" r:id="rId131"/>
    <p:sldId id="380" r:id="rId132"/>
    <p:sldId id="384" r:id="rId136"/>
    <p:sldId id="515" r:id="rId267"/>
    <p:sldId id="338" r:id="rId90"/>
    <p:sldId id="339" r:id="rId91"/>
    <p:sldId id="340" r:id="rId92"/>
    <p:sldId id="381" r:id="rId133"/>
    <p:sldId id="516" r:id="rId268"/>
    <p:sldId id="382" r:id="rId134"/>
    <p:sldId id="478" r:id="rId230"/>
    <p:sldId id="479" r:id="rId231"/>
    <p:sldId id="517" r:id="rId269"/>
    <p:sldId id="383" r:id="rId135"/>
    <p:sldId id="480" r:id="rId232"/>
    <p:sldId id="481" r:id="rId233"/>
    <p:sldId id="518" r:id="rId270"/>
    <p:sldId id="482" r:id="rId234"/>
    <p:sldId id="483" r:id="rId235"/>
    <p:sldId id="484" r:id="rId236"/>
    <p:sldId id="519" r:id="rId271"/>
    <p:sldId id="485" r:id="rId237"/>
    <p:sldId id="486" r:id="rId238"/>
    <p:sldId id="487" r:id="rId239"/>
    <p:sldId id="520" r:id="rId272"/>
    <p:sldId id="521" r:id="rId273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522" r:id="rId274"/>
    <p:sldId id="392" r:id="rId144"/>
    <p:sldId id="393" r:id="rId145"/>
    <p:sldId id="394" r:id="rId146"/>
    <p:sldId id="395" r:id="rId147"/>
    <p:sldId id="523" r:id="rId275"/>
    <p:sldId id="396" r:id="rId148"/>
    <p:sldId id="397" r:id="rId149"/>
    <p:sldId id="398" r:id="rId150"/>
    <p:sldId id="399" r:id="rId151"/>
    <p:sldId id="400" r:id="rId15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Relationship Id="rId176" Type="http://schemas.openxmlformats.org/officeDocument/2006/relationships/slide" Target="slides/slide169.xml"/>
<Relationship Id="rId177" Type="http://schemas.openxmlformats.org/officeDocument/2006/relationships/slide" Target="slides/slide170.xml"/>
<Relationship Id="rId178" Type="http://schemas.openxmlformats.org/officeDocument/2006/relationships/slide" Target="slides/slide171.xml"/>
<Relationship Id="rId179" Type="http://schemas.openxmlformats.org/officeDocument/2006/relationships/slide" Target="slides/slide172.xml"/>
<Relationship Id="rId180" Type="http://schemas.openxmlformats.org/officeDocument/2006/relationships/slide" Target="slides/slide173.xml"/>
<Relationship Id="rId181" Type="http://schemas.openxmlformats.org/officeDocument/2006/relationships/slide" Target="slides/slide174.xml"/>
<Relationship Id="rId182" Type="http://schemas.openxmlformats.org/officeDocument/2006/relationships/slide" Target="slides/slide175.xml"/>
<Relationship Id="rId183" Type="http://schemas.openxmlformats.org/officeDocument/2006/relationships/slide" Target="slides/slide176.xml"/>
<Relationship Id="rId184" Type="http://schemas.openxmlformats.org/officeDocument/2006/relationships/slide" Target="slides/slide177.xml"/>
<Relationship Id="rId185" Type="http://schemas.openxmlformats.org/officeDocument/2006/relationships/slide" Target="slides/slide178.xml"/>
<Relationship Id="rId186" Type="http://schemas.openxmlformats.org/officeDocument/2006/relationships/slide" Target="slides/slide179.xml"/>
<Relationship Id="rId187" Type="http://schemas.openxmlformats.org/officeDocument/2006/relationships/slide" Target="slides/slide180.xml"/>
<Relationship Id="rId188" Type="http://schemas.openxmlformats.org/officeDocument/2006/relationships/slide" Target="slides/slide181.xml"/>
<Relationship Id="rId189" Type="http://schemas.openxmlformats.org/officeDocument/2006/relationships/slide" Target="slides/slide182.xml"/>
<Relationship Id="rId190" Type="http://schemas.openxmlformats.org/officeDocument/2006/relationships/slide" Target="slides/slide183.xml"/>
<Relationship Id="rId191" Type="http://schemas.openxmlformats.org/officeDocument/2006/relationships/slide" Target="slides/slide184.xml"/>
<Relationship Id="rId192" Type="http://schemas.openxmlformats.org/officeDocument/2006/relationships/slide" Target="slides/slide185.xml"/>
<Relationship Id="rId193" Type="http://schemas.openxmlformats.org/officeDocument/2006/relationships/slide" Target="slides/slide186.xml"/>
<Relationship Id="rId194" Type="http://schemas.openxmlformats.org/officeDocument/2006/relationships/slide" Target="slides/slide187.xml"/>
<Relationship Id="rId195" Type="http://schemas.openxmlformats.org/officeDocument/2006/relationships/slide" Target="slides/slide188.xml"/>
<Relationship Id="rId196" Type="http://schemas.openxmlformats.org/officeDocument/2006/relationships/slide" Target="slides/slide189.xml"/>
<Relationship Id="rId197" Type="http://schemas.openxmlformats.org/officeDocument/2006/relationships/slide" Target="slides/slide190.xml"/>
<Relationship Id="rId198" Type="http://schemas.openxmlformats.org/officeDocument/2006/relationships/slide" Target="slides/slide191.xml"/>
<Relationship Id="rId199" Type="http://schemas.openxmlformats.org/officeDocument/2006/relationships/slide" Target="slides/slide192.xml"/>
<Relationship Id="rId200" Type="http://schemas.openxmlformats.org/officeDocument/2006/relationships/slide" Target="slides/slide193.xml"/>
<Relationship Id="rId201" Type="http://schemas.openxmlformats.org/officeDocument/2006/relationships/slide" Target="slides/slide194.xml"/>
<Relationship Id="rId202" Type="http://schemas.openxmlformats.org/officeDocument/2006/relationships/slide" Target="slides/slide195.xml"/>
<Relationship Id="rId203" Type="http://schemas.openxmlformats.org/officeDocument/2006/relationships/slide" Target="slides/slide196.xml"/>
<Relationship Id="rId204" Type="http://schemas.openxmlformats.org/officeDocument/2006/relationships/slide" Target="slides/slide197.xml"/>
<Relationship Id="rId205" Type="http://schemas.openxmlformats.org/officeDocument/2006/relationships/slide" Target="slides/slide198.xml"/>
<Relationship Id="rId206" Type="http://schemas.openxmlformats.org/officeDocument/2006/relationships/slide" Target="slides/slide199.xml"/>
<Relationship Id="rId207" Type="http://schemas.openxmlformats.org/officeDocument/2006/relationships/slide" Target="slides/slide200.xml"/>
<Relationship Id="rId208" Type="http://schemas.openxmlformats.org/officeDocument/2006/relationships/slide" Target="slides/slide201.xml"/>
<Relationship Id="rId209" Type="http://schemas.openxmlformats.org/officeDocument/2006/relationships/slide" Target="slides/slide202.xml"/>
<Relationship Id="rId210" Type="http://schemas.openxmlformats.org/officeDocument/2006/relationships/slide" Target="slides/slide203.xml"/>
<Relationship Id="rId211" Type="http://schemas.openxmlformats.org/officeDocument/2006/relationships/slide" Target="slides/slide204.xml"/>
<Relationship Id="rId212" Type="http://schemas.openxmlformats.org/officeDocument/2006/relationships/slide" Target="slides/slide205.xml"/>
<Relationship Id="rId213" Type="http://schemas.openxmlformats.org/officeDocument/2006/relationships/slide" Target="slides/slide206.xml"/>
<Relationship Id="rId214" Type="http://schemas.openxmlformats.org/officeDocument/2006/relationships/slide" Target="slides/slide207.xml"/>
<Relationship Id="rId215" Type="http://schemas.openxmlformats.org/officeDocument/2006/relationships/slide" Target="slides/slide208.xml"/>
<Relationship Id="rId216" Type="http://schemas.openxmlformats.org/officeDocument/2006/relationships/slide" Target="slides/slide209.xml"/>
<Relationship Id="rId217" Type="http://schemas.openxmlformats.org/officeDocument/2006/relationships/slide" Target="slides/slide210.xml"/>
<Relationship Id="rId218" Type="http://schemas.openxmlformats.org/officeDocument/2006/relationships/slide" Target="slides/slide211.xml"/>
<Relationship Id="rId219" Type="http://schemas.openxmlformats.org/officeDocument/2006/relationships/slide" Target="slides/slide212.xml"/>
<Relationship Id="rId220" Type="http://schemas.openxmlformats.org/officeDocument/2006/relationships/slide" Target="slides/slide213.xml"/>
<Relationship Id="rId221" Type="http://schemas.openxmlformats.org/officeDocument/2006/relationships/slide" Target="slides/slide214.xml"/>
<Relationship Id="rId222" Type="http://schemas.openxmlformats.org/officeDocument/2006/relationships/slide" Target="slides/slide215.xml"/>
<Relationship Id="rId223" Type="http://schemas.openxmlformats.org/officeDocument/2006/relationships/slide" Target="slides/slide216.xml"/>
<Relationship Id="rId224" Type="http://schemas.openxmlformats.org/officeDocument/2006/relationships/slide" Target="slides/slide217.xml"/>
<Relationship Id="rId225" Type="http://schemas.openxmlformats.org/officeDocument/2006/relationships/slide" Target="slides/slide218.xml"/>
<Relationship Id="rId226" Type="http://schemas.openxmlformats.org/officeDocument/2006/relationships/slide" Target="slides/slide219.xml"/>
<Relationship Id="rId227" Type="http://schemas.openxmlformats.org/officeDocument/2006/relationships/slide" Target="slides/slide220.xml"/>
<Relationship Id="rId228" Type="http://schemas.openxmlformats.org/officeDocument/2006/relationships/slide" Target="slides/slide221.xml"/>
<Relationship Id="rId229" Type="http://schemas.openxmlformats.org/officeDocument/2006/relationships/slide" Target="slides/slide222.xml"/>
<Relationship Id="rId230" Type="http://schemas.openxmlformats.org/officeDocument/2006/relationships/slide" Target="slides/slide223.xml"/>
<Relationship Id="rId231" Type="http://schemas.openxmlformats.org/officeDocument/2006/relationships/slide" Target="slides/slide224.xml"/>
<Relationship Id="rId232" Type="http://schemas.openxmlformats.org/officeDocument/2006/relationships/slide" Target="slides/slide225.xml"/>
<Relationship Id="rId233" Type="http://schemas.openxmlformats.org/officeDocument/2006/relationships/slide" Target="slides/slide226.xml"/>
<Relationship Id="rId234" Type="http://schemas.openxmlformats.org/officeDocument/2006/relationships/slide" Target="slides/slide227.xml"/>
<Relationship Id="rId235" Type="http://schemas.openxmlformats.org/officeDocument/2006/relationships/slide" Target="slides/slide228.xml"/>
<Relationship Id="rId236" Type="http://schemas.openxmlformats.org/officeDocument/2006/relationships/slide" Target="slides/slide229.xml"/>
<Relationship Id="rId237" Type="http://schemas.openxmlformats.org/officeDocument/2006/relationships/slide" Target="slides/slide230.xml"/>
<Relationship Id="rId238" Type="http://schemas.openxmlformats.org/officeDocument/2006/relationships/slide" Target="slides/slide231.xml"/>
<Relationship Id="rId239" Type="http://schemas.openxmlformats.org/officeDocument/2006/relationships/slide" Target="slides/slide232.xml"/>
<Relationship Id="rId240" Type="http://schemas.openxmlformats.org/officeDocument/2006/relationships/slide" Target="slides/slide233.xml"/>
<Relationship Id="rId241" Type="http://schemas.openxmlformats.org/officeDocument/2006/relationships/slide" Target="slides/slide234.xml"/>
<Relationship Id="rId242" Type="http://schemas.openxmlformats.org/officeDocument/2006/relationships/slide" Target="slides/slide235.xml"/>
<Relationship Id="rId243" Type="http://schemas.openxmlformats.org/officeDocument/2006/relationships/slide" Target="slides/slide236.xml"/>
<Relationship Id="rId244" Type="http://schemas.openxmlformats.org/officeDocument/2006/relationships/slide" Target="slides/slide237.xml"/>
<Relationship Id="rId245" Type="http://schemas.openxmlformats.org/officeDocument/2006/relationships/slide" Target="slides/slide238.xml"/>
<Relationship Id="rId246" Type="http://schemas.openxmlformats.org/officeDocument/2006/relationships/slide" Target="slides/slide239.xml"/>
<Relationship Id="rId247" Type="http://schemas.openxmlformats.org/officeDocument/2006/relationships/slide" Target="slides/slide240.xml"/>
<Relationship Id="rId248" Type="http://schemas.openxmlformats.org/officeDocument/2006/relationships/slide" Target="slides/slide241.xml"/>
<Relationship Id="rId249" Type="http://schemas.openxmlformats.org/officeDocument/2006/relationships/slide" Target="slides/slide242.xml"/>
<Relationship Id="rId250" Type="http://schemas.openxmlformats.org/officeDocument/2006/relationships/slide" Target="slides/slide243.xml"/>
<Relationship Id="rId251" Type="http://schemas.openxmlformats.org/officeDocument/2006/relationships/slide" Target="slides/slide244.xml"/>
<Relationship Id="rId252" Type="http://schemas.openxmlformats.org/officeDocument/2006/relationships/slide" Target="slides/slide245.xml"/>
<Relationship Id="rId253" Type="http://schemas.openxmlformats.org/officeDocument/2006/relationships/slide" Target="slides/slide246.xml"/>
<Relationship Id="rId254" Type="http://schemas.openxmlformats.org/officeDocument/2006/relationships/slide" Target="slides/slide247.xml"/>
<Relationship Id="rId255" Type="http://schemas.openxmlformats.org/officeDocument/2006/relationships/slide" Target="slides/slide248.xml"/>
<Relationship Id="rId256" Type="http://schemas.openxmlformats.org/officeDocument/2006/relationships/slide" Target="slides/slide249.xml"/>
<Relationship Id="rId257" Type="http://schemas.openxmlformats.org/officeDocument/2006/relationships/slide" Target="slides/slide250.xml"/>
<Relationship Id="rId258" Type="http://schemas.openxmlformats.org/officeDocument/2006/relationships/slide" Target="slides/slide251.xml"/>
<Relationship Id="rId259" Type="http://schemas.openxmlformats.org/officeDocument/2006/relationships/slide" Target="slides/slide252.xml"/>
<Relationship Id="rId260" Type="http://schemas.openxmlformats.org/officeDocument/2006/relationships/slide" Target="slides/slide253.xml"/>
<Relationship Id="rId261" Type="http://schemas.openxmlformats.org/officeDocument/2006/relationships/slide" Target="slides/slide254.xml"/>
<Relationship Id="rId262" Type="http://schemas.openxmlformats.org/officeDocument/2006/relationships/slide" Target="slides/slide255.xml"/>
<Relationship Id="rId263" Type="http://schemas.openxmlformats.org/officeDocument/2006/relationships/slide" Target="slides/slide256.xml"/>
<Relationship Id="rId264" Type="http://schemas.openxmlformats.org/officeDocument/2006/relationships/slide" Target="slides/slide257.xml"/>
<Relationship Id="rId265" Type="http://schemas.openxmlformats.org/officeDocument/2006/relationships/slide" Target="slides/slide258.xml"/>
<Relationship Id="rId266" Type="http://schemas.openxmlformats.org/officeDocument/2006/relationships/slide" Target="slides/slide259.xml"/>
<Relationship Id="rId267" Type="http://schemas.openxmlformats.org/officeDocument/2006/relationships/slide" Target="slides/slide260.xml"/>
<Relationship Id="rId268" Type="http://schemas.openxmlformats.org/officeDocument/2006/relationships/slide" Target="slides/slide261.xml"/>
<Relationship Id="rId269" Type="http://schemas.openxmlformats.org/officeDocument/2006/relationships/slide" Target="slides/slide262.xml"/>
<Relationship Id="rId270" Type="http://schemas.openxmlformats.org/officeDocument/2006/relationships/slide" Target="slides/slide263.xml"/>
<Relationship Id="rId271" Type="http://schemas.openxmlformats.org/officeDocument/2006/relationships/slide" Target="slides/slide264.xml"/>
<Relationship Id="rId272" Type="http://schemas.openxmlformats.org/officeDocument/2006/relationships/slide" Target="slides/slide265.xml"/>
<Relationship Id="rId273" Type="http://schemas.openxmlformats.org/officeDocument/2006/relationships/slide" Target="slides/slide266.xml"/>
<Relationship Id="rId274" Type="http://schemas.openxmlformats.org/officeDocument/2006/relationships/slide" Target="slides/slide267.xml"/>
<Relationship Id="rId275" Type="http://schemas.openxmlformats.org/officeDocument/2006/relationships/slide" Target="slides/slide268.xml"/>
<Relationship Id="rId276" Type="http://schemas.openxmlformats.org/officeDocument/2006/relationships/slide" Target="slides/slide269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d4cd6ec0008d21f45440c848224b9461fc805e5.png"/>
<Relationship Id="rId3" Type="http://schemas.openxmlformats.org/officeDocument/2006/relationships/image" Target="../media/0fb0cbf01c08bc379a91b81a75da4dcca85ade34.png"/>
<Relationship Id="rId4" Type="http://schemas.openxmlformats.org/officeDocument/2006/relationships/image" Target="../media/2bcfd03062e4bbad079b44c75aa7953030961527.png"/>
<Relationship Id="rId5" Type="http://schemas.openxmlformats.org/officeDocument/2006/relationships/image" Target="../media/d3d99fd3adf75ab4de86bcd84ee9b158c322781d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354c8351b4b76a2c5511adea6a7939f5182d2dc.png"/>
<Relationship Id="rId4" Type="http://schemas.openxmlformats.org/officeDocument/2006/relationships/image" Target="../media/cb27754cf2ac46ace2610ccd74df7c63169492cf.png"/>
<Relationship Id="rId5" Type="http://schemas.openxmlformats.org/officeDocument/2006/relationships/image" Target="../media/95df2fa7a82c69c20fa3ad97f287bf960f48f0fd.png"/>
<Relationship Id="rId6" Type="http://schemas.openxmlformats.org/officeDocument/2006/relationships/image" Target="../media/b0624f93f0901ddded26fc8da982b3bbf66f4aa7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8e0e011357bac708fdcc1dc6fc0f4534ecf7ab14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ef83d74c8c3ae09e48316a488d9f6c339bee9c5e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b0624f93f0901ddded26fc8da982b3bbf66f4aa7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ca8bd58405fd0087bdf0c3f2adee47896839ca3e.png"/>
<Relationship Id="rId10" Type="http://schemas.openxmlformats.org/officeDocument/2006/relationships/image" Target="../media/f6ae817ceb53b2408d151dfb4d5c71efdae8c03f.png"/>
<Relationship Id="rId11" Type="http://schemas.openxmlformats.org/officeDocument/2006/relationships/image" Target="../media/d3d99fd3adf75ab4de86bcd84ee9b158c322781d.png"/>
<Relationship Id="rId12" Type="http://schemas.openxmlformats.org/officeDocument/2006/relationships/image" Target="../media/04d5d77166bbfc6ce9d0f4c047b57a59ad05d21d.png"/>
</Relationships>

</file>

<file path=ppt/slides/_rels/slide1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4409ef59c4c4ed1aa5557d194d87a693dfd9fb2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9d090dd6e4563df2b9028aefcbdcdfd42eebca93.png"/>
<Relationship Id="rId5" Type="http://schemas.openxmlformats.org/officeDocument/2006/relationships/image" Target="../media/7237f6530aa048b5b7bedc19ad77850051f6cbf6.png"/>
</Relationships>

</file>

<file path=ppt/slides/_rels/slide2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efb7c7e439e32e3b26bf2cd201539c4438a286d.png"/>
<Relationship Id="rId3" Type="http://schemas.openxmlformats.org/officeDocument/2006/relationships/image" Target="../media/859c5ab21a3c32d5d7bb7f305acf0a555b78055d.png"/>
<Relationship Id="rId4" Type="http://schemas.openxmlformats.org/officeDocument/2006/relationships/image" Target="../media/d3d99fd3adf75ab4de86bcd84ee9b158c322781d.png"/>
</Relationships>

</file>

<file path=ppt/slides/_rels/slide2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visual, tipos de gráficos y de láminas, y estudios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diseño,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está organizada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3560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67028" y="143560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78308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Portada, objetivo y ficha técnica, Índices, Separadores, Cierres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2307946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109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238109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272857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proporciones, Escalas de acuerdo, Números y distribuciones, Comparaciones y series, Radares y dimensiones, Pregunta abierta, Mapas, Diferencias significativas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325343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2658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67028" y="332658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367405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láminas, Un gráfico, Dos gráficos, Tres a seis gráficos, Cifras y gráficos, Combinaciones que funcionan, Actores, filtros y bases, Escalas, etiquetas y formatos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419892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27207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67028" y="427207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461954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universitaria, Opinión pública y línea base, Estudio territorial, Monitoreo posdistribución, Encuesta en aulas, Encuesta organizacional, Evaluación antes y después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7028" y="5144414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217566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5217566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67028" y="5565038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 y tarjetas, Figuras y diagramas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Principios de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827703"/>
            <a:ext cx="294803" cy="29480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idea por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dice el tema, el gráfico lo muestra y el texto, cuando lo hay, dice lo que hay que retener.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23946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826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42889" y="1827703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315386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dato lo calcula el motor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bases, letras de significancia y rótulos salen de los datos. A mano sólo se escriben frases cortas.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61024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7086" y="1827703"/>
            <a:ext cx="294803" cy="29480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69584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Mismo lugar, mismo tamaño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69584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gráfico, leyenda y base ocupan el mismo sitio y la misma letra en todas las láminas.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32341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15221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51284" y="18277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223781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Legible para todos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23781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se entiende sin ser especialista. La información técnica se agrega cuando el lector la necesita.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944868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Centro marca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Centro marca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Centro marca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Centro marca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84383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41955"/>
            <a:ext cx="91221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41955"/>
            <a:ext cx="1322698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94990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41955"/>
            <a:ext cx="246295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94990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41955"/>
            <a:ext cx="684154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94990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84383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38821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45790"/>
            <a:ext cx="273662" cy="25456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45790"/>
            <a:ext cx="820985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398825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45790"/>
            <a:ext cx="1550749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398825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45790"/>
            <a:ext cx="86659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398825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45790"/>
            <a:ext cx="1049036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398825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38821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72300" y="2629814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55036" y="3966301"/>
            <a:ext cx="9144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09900" y="3934480"/>
            <a:ext cx="1137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01516" y="3966301"/>
            <a:ext cx="9144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56380" y="3934480"/>
            <a:ext cx="75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66996" y="3966301"/>
            <a:ext cx="9144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860" y="3934480"/>
            <a:ext cx="642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018176" y="3966301"/>
            <a:ext cx="9144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3040" y="3934480"/>
            <a:ext cx="1023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50356" y="3966301"/>
            <a:ext cx="9144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005220" y="3934480"/>
            <a:ext cx="769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346088" y="5111862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6988" y="1592793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380" y="1804934"/>
            <a:ext cx="600852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6988" y="3223626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57439" y="3101645"/>
            <a:ext cx="4619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19339" y="298825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Centro marca"/>
          <p:cNvSpPr>
            <a:spLocks noGrp="1"/>
          </p:cNvSpPr>
          <p:nvPr>
            </p:nvPr>
        </p:nvSpPr>
        <p:spPr>
          <a:xfrm>
            <a:off x="8319339" y="298825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6988" y="3992636"/>
            <a:ext cx="1662328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6988" y="5170018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Centro marca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capítulo o tema, sobre el título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Centro marca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87435" y="193509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87435" y="219113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muestra la lámina, en coral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87435" y="244373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87435" y="269976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Fijo en la plantilla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Centro marca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87435" y="295236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y respuestas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87435" y="320840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Tal como se hizo, y cuántos respondieron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Centro marca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087435" y="346100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87435" y="371703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la franja central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87435" y="396963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087435" y="422567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verde, si la escala la lleva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Centro marca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087435" y="447827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087435" y="473430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Debajo del gráfico, centrada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Centro marca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87435" y="498690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folio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87435" y="524294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Cierran la lámina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láminas del informe parten de esta estructura. La lámina siguiente da sus medidas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84383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41955"/>
            <a:ext cx="91221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41955"/>
            <a:ext cx="1322698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94990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41955"/>
            <a:ext cx="246295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94990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41955"/>
            <a:ext cx="684154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94990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84383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38821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45790"/>
            <a:ext cx="273662" cy="25456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45790"/>
            <a:ext cx="820985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398825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45790"/>
            <a:ext cx="1550749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398825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45790"/>
            <a:ext cx="86659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398825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45790"/>
            <a:ext cx="1049036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398825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38821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72300" y="2629814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55036" y="3966301"/>
            <a:ext cx="9144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09900" y="3934480"/>
            <a:ext cx="1137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01516" y="3966301"/>
            <a:ext cx="9144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56380" y="3934480"/>
            <a:ext cx="75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66996" y="3966301"/>
            <a:ext cx="9144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860" y="3934480"/>
            <a:ext cx="642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018176" y="3966301"/>
            <a:ext cx="9144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3040" y="3934480"/>
            <a:ext cx="1023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50356" y="3966301"/>
            <a:ext cx="9144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005220" y="3934480"/>
            <a:ext cx="769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346088" y="5111862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6988" y="1804934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6988" y="3223626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Centro marca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6988" y="3992636"/>
            <a:ext cx="1662328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Marcador de título: va al esquema y a la navegación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087435" y="2240280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87435" y="2496312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 la plantilla: se cambia en el patrón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87435" y="3054096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87435" y="3310128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Cuadros de texto con tamaño y color fijados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87435" y="3867912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87435" y="4123944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Vectorial: cada barra y cifra es una forma editable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Centro marca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087435" y="4681728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87435" y="4937760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agrupadas que se mueven con el gráfico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se pega como imagen: todo se puede editar en PowerPoint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5594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26567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22910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70148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8526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86904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95281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0017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11149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22122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18464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18617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 de 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 de 178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2278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5204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52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496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41422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de 178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310628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6210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40864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40864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40864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36003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71800"/>
            <a:ext cx="1600694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99232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71800"/>
            <a:ext cx="302028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99232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71800"/>
            <a:ext cx="168941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99232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71800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99232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97819" y="3840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370832"/>
            <a:ext cx="2754109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398264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370832"/>
            <a:ext cx="390752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398264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370832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39826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7251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029200"/>
            <a:ext cx="54138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029200"/>
            <a:ext cx="4036577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056632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029200"/>
            <a:ext cx="287151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056632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029200"/>
            <a:ext cx="1165066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056632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26771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26771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3600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871216"/>
            <a:ext cx="160069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87121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871216"/>
            <a:ext cx="302028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87121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871216"/>
            <a:ext cx="168941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87121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GRÁFICOS, CON ÍCONO DEL PÚBLICO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Centro marca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Cada parte lleva su cifra, su rótulo y su conteo junto al gráfico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escalas con un punto medio claro. Base: 15 administrativos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DE DOS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COMPETENCIA, ALTERNATIVA AL RADAR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231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232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179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 de 67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180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de 39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 de 67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181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67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182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183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184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1521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1521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2638" y="2607818"/>
            <a:ext cx="7985181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07818"/>
            <a:ext cx="890900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92522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18053"/>
            <a:ext cx="8872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58959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69017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61625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761625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7819" y="413486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5302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74362"/>
            <a:ext cx="890900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2922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74362"/>
            <a:ext cx="4883490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12638" y="472922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74362"/>
            <a:ext cx="3109006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92471" y="472922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89259" y="472922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185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076956" y="3108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75024" y="3108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076956" y="3458210"/>
            <a:ext cx="123055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07510" y="3458210"/>
            <a:ext cx="1230554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96900" y="3750818"/>
            <a:ext cx="2141164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6956" y="3750818"/>
            <a:ext cx="323602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1216" y="37508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611216" y="4114749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82539" y="3750818"/>
            <a:ext cx="20117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682539" y="3932784"/>
            <a:ext cx="541325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14016"/>
            <a:ext cx="592358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054096"/>
            <a:ext cx="1184717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694176"/>
            <a:ext cx="162898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34256"/>
            <a:ext cx="148089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4974336"/>
            <a:ext cx="229538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14416"/>
            <a:ext cx="222134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186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10524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916936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carrera?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1546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602736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23099" y="3602736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904361"/>
            <a:ext cx="1239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(113)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46441" y="3904361"/>
            <a:ext cx="1239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15054" y="4196969"/>
            <a:ext cx="4710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4196969"/>
            <a:ext cx="2011968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187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 se rotulan frecuencias («5 de 12») y no porcentajes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189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190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191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193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194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 de 201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de 92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83133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12394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 de 201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45312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74573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 de 92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195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196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57800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57800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146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197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013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404872"/>
            <a:ext cx="66956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374011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404872"/>
            <a:ext cx="449850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374011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404872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374011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404872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374011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0308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946654"/>
            <a:ext cx="150193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15793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946654"/>
            <a:ext cx="283374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15793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946654"/>
            <a:ext cx="158517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15793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946654"/>
            <a:ext cx="191447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15793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366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404872"/>
            <a:ext cx="141870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374011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404872"/>
            <a:ext cx="433202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374011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404872"/>
            <a:ext cx="20846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374011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404872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3317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946654"/>
            <a:ext cx="116898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15793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946654"/>
            <a:ext cx="458173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15793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946654"/>
            <a:ext cx="21678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15793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946654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873502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97819" y="4329684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1984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860036"/>
            <a:ext cx="125222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860036"/>
            <a:ext cx="36661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829175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860036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829175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860036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401818"/>
            <a:ext cx="100251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401818"/>
            <a:ext cx="408231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70957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401818"/>
            <a:ext cx="200136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70957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401818"/>
            <a:ext cx="99885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226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227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233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235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239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252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253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254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255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Centro marca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Centro marca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256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257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los 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920240"/>
            <a:ext cx="384048" cy="384048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13842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2422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10028" y="192024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fila se lee como un conjunto: el ojo compara los datos, no los dibujos.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06247" y="3527755"/>
            <a:ext cx="332842" cy="33284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círculo azul oscuro da el contraste que el trazo blanco necesita.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5010912"/>
            <a:ext cx="384048" cy="38404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95554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ícono anuncia el dato y el número lo completa. Juntos se leen de un vistazo.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258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260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261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262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las cajas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borde fino separa la caja del fondo sin competir con el dato que contiene.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853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9907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deja el color para los datos, donde sí significa algo.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9788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Alineado a la izquierda y con aire, el texto se lee igual que el resto de la lámina.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263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265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266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267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Centro marca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Centro marca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268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269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 DE LA LÁMINA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691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037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33956" y="2221992"/>
            <a:ext cx="182935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13233" y="2221992"/>
            <a:ext cx="260317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3233" y="2203704"/>
            <a:ext cx="2599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12754" y="2221992"/>
            <a:ext cx="4844144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12754" y="2203704"/>
            <a:ext cx="48404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53240" y="2221992"/>
            <a:ext cx="1344579" cy="23774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3240" y="2203704"/>
            <a:ext cx="1344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18108" y="21579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30987" y="19293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037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063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33956" y="2788920"/>
            <a:ext cx="54148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2832" y="2770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71788" y="2788920"/>
            <a:ext cx="161715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1788" y="2770632"/>
            <a:ext cx="161349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85283" y="2788920"/>
            <a:ext cx="3051371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5283" y="2770632"/>
            <a:ext cx="30477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32997" y="2788920"/>
            <a:ext cx="1706792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32997" y="2770632"/>
            <a:ext cx="17031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36131" y="2788920"/>
            <a:ext cx="2061689" cy="23774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36131" y="2770632"/>
            <a:ext cx="20616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770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3375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33956" y="3355848"/>
            <a:ext cx="27257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02872" y="3355848"/>
            <a:ext cx="1079321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2872" y="3337560"/>
            <a:ext cx="1075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78535" y="3355848"/>
            <a:ext cx="4485589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78535" y="3337560"/>
            <a:ext cx="44819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760467" y="3355848"/>
            <a:ext cx="2692817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60467" y="3337560"/>
            <a:ext cx="26891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9626" y="3355848"/>
            <a:ext cx="448193" cy="23774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353683" y="33375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62928" y="32918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775806" y="30632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3337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211934" y="3858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21662" y="37947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8922" y="3858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638650" y="37947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058510" y="3858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68238" y="37947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46798" y="3858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56526" y="3794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09786" y="3858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519514" y="37947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160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4142232"/>
            <a:ext cx="357317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443484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687068" y="443484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coral, a 0.36 in del borde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7457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87068" y="474573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gris, sobre el título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505663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687068" y="505663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al inicio de la zona de datos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5367528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de datos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87068" y="5367528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1.65 a 6.42 in de alto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00118" y="443484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25998" y="443484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o 12 pt encima si no cabe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300118" y="47457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25998" y="474573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verde, columna de 1 in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300118" y="505663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25998" y="505663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centrada bajo el gráfico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300118" y="5367528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25998" y="5367528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 6.88 in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47609" y="4206240"/>
            <a:ext cx="7315" cy="18013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39049" y="4142232"/>
            <a:ext cx="36646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 según el número de filas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239049" y="4398264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07729" y="4398264"/>
            <a:ext cx="10972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50729" y="4398264"/>
            <a:ext cx="16459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categorías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239049" y="4636008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o 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153449" y="4663440"/>
            <a:ext cx="411480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10649" y="4636008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 in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296449" y="4702942"/>
            <a:ext cx="411480" cy="8558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753649" y="4636008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239049" y="4882896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153449" y="4913620"/>
            <a:ext cx="411480" cy="1580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10649" y="4882896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0.48 in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296449" y="4949830"/>
            <a:ext cx="411480" cy="8558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753649" y="4882896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39049" y="5129784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a 6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153449" y="5167092"/>
            <a:ext cx="411480" cy="144841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10649" y="5129784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0.44 in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296449" y="5193426"/>
            <a:ext cx="411480" cy="9217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753649" y="5129784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0.28 in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239049" y="5376672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 a 9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153449" y="5423855"/>
            <a:ext cx="411480" cy="12509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10649" y="5376672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0.38 in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96449" y="5433731"/>
            <a:ext cx="411480" cy="10533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753649" y="5376672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0.32 in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239049" y="5623560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o más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153449" y="5680619"/>
            <a:ext cx="411480" cy="10533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610649" y="5623560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0.32 in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296449" y="5680619"/>
            <a:ext cx="411480" cy="10533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753649" y="5623560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0.32 in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egresados. Con más filas la barra adelgaza y la letra no cambia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tipográfica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6141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472184"/>
            <a:ext cx="5852160" cy="6527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773668" y="166141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32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8650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79828"/>
            <a:ext cx="585216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73668" y="228650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negrita, coral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857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77723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30068" y="2744851"/>
            <a:ext cx="5852160" cy="3390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está de acuerdo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73668" y="277723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a 15 pt, con las cifras en negrita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247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1614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30068" y="3192018"/>
            <a:ext cx="5852160" cy="3225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73668" y="321614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negrita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636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655060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o premisa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30068" y="3639185"/>
            <a:ext cx="5852160" cy="3060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73668" y="3655060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025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3972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 y 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30068" y="4086352"/>
            <a:ext cx="5852160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73668" y="4093972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azul oscuro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4414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53288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30068" y="4541774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73668" y="453288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gris, mayúsculas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803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97179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nota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30068" y="4980686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73668" y="497179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azul oscuro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3192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Arial en todo el informe. Ningún texto baja de 10 pt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2057400"/>
            <a:ext cx="73152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987552" y="2395728"/>
            <a:ext cx="877824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987552" y="4069080"/>
            <a:ext cx="8778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87552" y="4434840"/>
            <a:ext cx="8778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057400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280160" y="2395728"/>
            <a:ext cx="9601200" cy="11887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59893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63040" y="6327648"/>
            <a:ext cx="9235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85800" y="1600200"/>
            <a:ext cx="1051560" cy="105156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85800" y="2880360"/>
            <a:ext cx="301752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5800" y="4206240"/>
            <a:ext cx="822960" cy="548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72000" y="1417320"/>
            <a:ext cx="7331659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72000" y="3931920"/>
            <a:ext cx="733165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72000" y="4069080"/>
            <a:ext cx="733165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72000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699284" y="4653564"/>
            <a:ext cx="275783" cy="275783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5193792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15886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7143171" y="4653564"/>
            <a:ext cx="275783" cy="27578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637678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59773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587057" y="4653564"/>
            <a:ext cx="275783" cy="27578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0081565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72000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699284" y="5476524"/>
            <a:ext cx="275783" cy="275783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5193792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5886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143171" y="5476524"/>
            <a:ext cx="275783" cy="275783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637678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59773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87057" y="5476524"/>
            <a:ext cx="275783" cy="275783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081565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566928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702991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640080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1228" y="2176272"/>
            <a:ext cx="384048" cy="384048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2536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2536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601136" y="2176272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601136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egreso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2444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92444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521044" y="2176272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521044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plan de estudios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212351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12351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440951" y="2176272"/>
            <a:ext cx="384048" cy="384048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9440951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de la acreditación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2044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partir de la opinión de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769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235705" y="42270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8620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3144210" y="4227088"/>
            <a:ext cx="342351" cy="342351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361133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9470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5052715" y="4227088"/>
            <a:ext cx="342351" cy="342351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426963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321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961221" y="4227088"/>
            <a:ext cx="342351" cy="342351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71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8869726" y="4227088"/>
            <a:ext cx="342351" cy="342351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086649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620223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10778231" y="4227088"/>
            <a:ext cx="342351" cy="342351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999515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Carrera de Contabilidad. Proceso de acreditación 2026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 los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1036392" y="4712977"/>
              <a:ext cx="856958" cy="90277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893350" y="2606507"/>
              <a:ext cx="856958" cy="300924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750309" y="2104966"/>
              <a:ext cx="856958" cy="3510784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3607267" y="2405891"/>
              <a:ext cx="856958" cy="320985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4464226" y="3108047"/>
              <a:ext cx="856958" cy="250770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5321185" y="4612669"/>
              <a:ext cx="856958" cy="100308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6178143" y="4311745"/>
              <a:ext cx="856958" cy="130400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7035102" y="5114210"/>
              <a:ext cx="856958" cy="5015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7892060" y="5114210"/>
              <a:ext cx="856958" cy="5015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8749019" y="5314826"/>
              <a:ext cx="856958" cy="300924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9605977" y="5515442"/>
              <a:ext cx="856958" cy="1003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4"/>
            <p:cNvSpPr/>
            <p:nvPr/>
          </p:nvSpPr>
          <p:spPr>
            <a:xfrm>
              <a:off x="10462936" y="5415134"/>
              <a:ext cx="856958" cy="20061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l15"/>
            <p:cNvSpPr/>
            <p:nvPr/>
          </p:nvSpPr>
          <p:spPr>
            <a:xfrm>
              <a:off x="4035747" y="1578349"/>
              <a:ext cx="0" cy="4037401"/>
            </a:xfrm>
            <a:custGeom>
              <a:avLst/>
              <a:pathLst>
                <a:path w="0" h="4037401">
                  <a:moveTo>
                    <a:pt x="0" y="403740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260" cap="flat">
              <a:solidFill>
                <a:srgbClr val="5A648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" name="tx16"/>
            <p:cNvSpPr/>
            <p:nvPr/>
          </p:nvSpPr>
          <p:spPr>
            <a:xfrm>
              <a:off x="4292834" y="1641571"/>
              <a:ext cx="1270396" cy="1113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Mediana: 22 años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426024" y="4570863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2244135" y="2464324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3101094" y="1962783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3958052" y="2263708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32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4815011" y="2965933"/>
              <a:ext cx="155388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5671969" y="4470555"/>
              <a:ext cx="155388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6528928" y="4169562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7424734" y="4973869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8281692" y="4973869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9138651" y="5172643"/>
              <a:ext cx="77694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9995609" y="5375033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10852568" y="5274725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23155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380113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237072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094030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21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3950989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22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4807948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23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5664906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24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521865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7378823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26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235782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27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9092740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28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949699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29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10806658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1663616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31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5727631" y="5834557"/>
              <a:ext cx="901024" cy="1197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Edad, en años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que declararon su edad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08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674639" y="3346958"/>
            <a:ext cx="229021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46958"/>
            <a:ext cx="1122566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egresados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 por los egresados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452628" y="1508760"/>
              <a:ext cx="11451031" cy="454456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5220260" y="3612031"/>
              <a:ext cx="1915765" cy="3166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5622961" y="3224974"/>
              <a:ext cx="1510773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5625756" y="3961403"/>
              <a:ext cx="1920696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825717" y="3476628"/>
              <a:ext cx="2381004" cy="3148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0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3302783" y="3710692"/>
              <a:ext cx="1880784" cy="3589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9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9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7306191" y="3668489"/>
              <a:ext cx="961481" cy="273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6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7562730" y="3293848"/>
              <a:ext cx="1385802" cy="2668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8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8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285660" y="3013046"/>
              <a:ext cx="1272768" cy="3213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3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470211" y="4158358"/>
              <a:ext cx="1850875" cy="3070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4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7702510" y="3932022"/>
              <a:ext cx="1155837" cy="3050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5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5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8644045" y="3703827"/>
              <a:ext cx="1444405" cy="227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082254" y="2887740"/>
              <a:ext cx="1861765" cy="285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3255175" y="3117702"/>
              <a:ext cx="765620" cy="2814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131325" y="3828055"/>
              <a:ext cx="1043860" cy="2900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5677711" y="4399870"/>
              <a:ext cx="1951671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8009007" y="4311790"/>
              <a:ext cx="1318070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9160024" y="4018695"/>
              <a:ext cx="1267787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430949" y="3391015"/>
              <a:ext cx="779492" cy="155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90599" y="2799352"/>
              <a:ext cx="1797851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8199843" y="3022997"/>
              <a:ext cx="1002564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636827" y="3367454"/>
              <a:ext cx="1050085" cy="2651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4246488" y="4502449"/>
              <a:ext cx="872749" cy="197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844672" y="3131016"/>
              <a:ext cx="1308926" cy="200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1947097" y="4189039"/>
              <a:ext cx="1399493" cy="250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6031068" y="2716682"/>
              <a:ext cx="1196218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9425777" y="3127059"/>
              <a:ext cx="816025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0214564" y="3753673"/>
              <a:ext cx="520648" cy="1873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3228826" y="2866270"/>
              <a:ext cx="731949" cy="1806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966824" y="3738175"/>
              <a:ext cx="1033249" cy="2152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0259638" y="3394469"/>
              <a:ext cx="903667" cy="215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49776" y="2742330"/>
              <a:ext cx="774766" cy="171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teórico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8781777" y="2873372"/>
              <a:ext cx="536444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áreas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2856715" y="4548151"/>
              <a:ext cx="935396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fortalecer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5175843" y="4716796"/>
              <a:ext cx="1060462" cy="187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importante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6870100" y="4726723"/>
              <a:ext cx="752505" cy="189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podrían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7931642" y="4652817"/>
              <a:ext cx="644475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5029504" y="3408339"/>
              <a:ext cx="396112" cy="75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9525426" y="4329711"/>
              <a:ext cx="98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conocimientos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209594" y="4057632"/>
              <a:ext cx="652388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empresas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8910257" y="3555373"/>
              <a:ext cx="496930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minería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las menciones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(1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194667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8326" y="1776496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8326" y="1900489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8326" y="2024482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8326" y="2148474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8326" y="2272467"/>
            <a:ext cx="5699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Un gráfico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5722" y="1710385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8874" y="1719346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8874" y="1744950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5722" y="1821485"/>
            <a:ext cx="1946675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92298" y="185806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92298" y="194915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04474" y="192218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92298" y="206917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04474" y="2042198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92298" y="21891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104474" y="2162213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92298" y="230920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04474" y="2282228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Un gráfico con narrativa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81870" y="1673809"/>
            <a:ext cx="118140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18446" y="1803471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62262" y="1776496"/>
            <a:ext cx="76163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18446" y="1927464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62262" y="1900489"/>
            <a:ext cx="5795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818446" y="2051456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62262" y="2024482"/>
            <a:ext cx="45532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18446" y="2175449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62262" y="2148474"/>
            <a:ext cx="64573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818446" y="2299442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62262" y="2272467"/>
            <a:ext cx="33114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41776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114928" y="1783651"/>
            <a:ext cx="61361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114928" y="1881949"/>
            <a:ext cx="56452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114928" y="1980247"/>
            <a:ext cx="589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114928" y="2078545"/>
            <a:ext cx="42953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 Gráfico con texto a la derecha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08018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81170" y="1783651"/>
            <a:ext cx="57973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81170" y="1881949"/>
            <a:ext cx="53335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81170" y="1980247"/>
            <a:ext cx="55654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81170" y="2078545"/>
            <a:ext cx="40581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639401" y="1673809"/>
            <a:ext cx="121529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75977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675977" y="1803471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27248" y="1776496"/>
            <a:ext cx="78595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675977" y="1927464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27248" y="1900489"/>
            <a:ext cx="59800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675977" y="2051456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927248" y="2024482"/>
            <a:ext cx="46986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75977" y="2175449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27248" y="2148474"/>
            <a:ext cx="66634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75977" y="2299442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927248" y="2272467"/>
            <a:ext cx="34171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 Gráfico con texto a la izquierda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94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29575" y="3260293"/>
            <a:ext cx="13716" cy="641909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602727" y="3305227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2727" y="3433609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02727" y="3561990"/>
            <a:ext cx="179858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02727" y="3690372"/>
            <a:ext cx="131146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02727" y="3818754"/>
            <a:ext cx="159249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 Texto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07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6557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22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881790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36922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3881790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36922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3881790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6922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881790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36922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3881790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6679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044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893989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7044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93989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7044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893989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7044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893989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7044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893989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 Dos gráficos</a:t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38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6781870" y="3260293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6855022" y="3269254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6855022" y="3294858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67818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68184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68184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70079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68184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70079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68184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70079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68184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70079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77940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78306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78306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80201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78306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80201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78306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2" name=""/>
          <p:cNvSpPr>
            <a:spLocks noGrp="1"/>
          </p:cNvSpPr>
          <p:nvPr>
            </p:nvPr>
        </p:nvSpPr>
        <p:spPr>
          <a:xfrm>
            <a:off x="80201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78306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80201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 Dos gráficos con narrativa</a:t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168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9908018" y="3299155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9981170" y="3333560"/>
            <a:ext cx="47091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9981170" y="3431858"/>
            <a:ext cx="43324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9981170" y="3530156"/>
            <a:ext cx="452079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9981170" y="3628454"/>
            <a:ext cx="329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10515042" y="3223717"/>
            <a:ext cx="65288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1055161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10551618" y="3353379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10679159" y="3326404"/>
            <a:ext cx="38236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10551618" y="3477372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10679159" y="3450397"/>
            <a:ext cx="29092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10551618" y="3601364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10679159" y="3574390"/>
            <a:ext cx="22858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10551618" y="3725357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10679159" y="3698382"/>
            <a:ext cx="32417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10551618" y="3849350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10679159" y="3822375"/>
            <a:ext cx="16624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11206786" y="3223717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11243362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11243362" y="3353379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2" name=""/>
          <p:cNvSpPr>
            <a:spLocks noGrp="1"/>
          </p:cNvSpPr>
          <p:nvPr>
            </p:nvPr>
        </p:nvSpPr>
        <p:spPr>
          <a:xfrm>
            <a:off x="11369808" y="3326404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3" name=""/>
          <p:cNvSpPr>
            <a:spLocks noGrp="1"/>
          </p:cNvSpPr>
          <p:nvPr>
            </p:nvPr>
        </p:nvSpPr>
        <p:spPr>
          <a:xfrm>
            <a:off x="11243362" y="34773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11369808" y="3450397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11243362" y="3601364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11369808" y="3574390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11243362" y="372535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11369808" y="3698382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11243362" y="384935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11369808" y="3822375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 Dos gráficos con texto a la izquierda</a:t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04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529575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5661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566151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90271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566151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90271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566151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0271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566151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0271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66151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90271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206551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1243127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243127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1367247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1243127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1367247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1243127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1367247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243127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367247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243127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367247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1890522" y="4849063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1963674" y="4883468"/>
            <a:ext cx="51257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1963674" y="4981766"/>
            <a:ext cx="4715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1963674" y="5080064"/>
            <a:ext cx="492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1963674" y="5178362"/>
            <a:ext cx="35880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9. Dos gráficos con texto a la derecha</a:t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24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3655722" y="4773625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3692298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3692298" y="490301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4104474" y="4876038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3692298" y="502645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4104474" y="4999482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3655722" y="5146700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3692298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3692298" y="52760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4104474" y="524911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3692298" y="539953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4104474" y="5372557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 Dos gráficos apilados</a:t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6704923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4545117"/>
            <a:ext cx="327995" cy="144567"/>
          </a:xfrm>
          <a:prstGeom prst="rect">
            <a:avLst/>
          </a:prstGeom>
        </p:spPr>
      </p:pic>
      <p:sp>
        <p:nvSpPr>
          <p:cNvPr id="259" name=""/>
          <p:cNvSpPr>
            <a:spLocks noGrp="1"/>
          </p:cNvSpPr>
          <p:nvPr>
            </p:nvPr>
        </p:nvSpPr>
        <p:spPr>
          <a:xfrm>
            <a:off x="6753889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6781870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6781870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6781870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6781870" y="4773625"/>
            <a:ext cx="1228039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6818446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6818446" y="4903287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7072521" y="4876312"/>
            <a:ext cx="795097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6818446" y="5027280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7072521" y="5000305"/>
            <a:ext cx="60496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6818446" y="5151272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7072521" y="5124298"/>
            <a:ext cx="47533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6818446" y="5275265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2" name=""/>
          <p:cNvSpPr>
            <a:spLocks noGrp="1"/>
          </p:cNvSpPr>
          <p:nvPr>
            </p:nvPr>
        </p:nvSpPr>
        <p:spPr>
          <a:xfrm>
            <a:off x="7072521" y="5248290"/>
            <a:ext cx="6741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3" name=""/>
          <p:cNvSpPr>
            <a:spLocks noGrp="1"/>
          </p:cNvSpPr>
          <p:nvPr>
            </p:nvPr>
        </p:nvSpPr>
        <p:spPr>
          <a:xfrm>
            <a:off x="6818446" y="5399258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7072521" y="5372283"/>
            <a:ext cx="34569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8080638" y="4773625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811721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8117214" y="490328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8243660" y="4876312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8117214" y="502728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8243660" y="5000305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8117214" y="51512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8243660" y="5124298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8117214" y="5275265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8243660" y="5248290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8117214" y="5399258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8243660" y="5372283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6613483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 Gráfico principal y de apoyo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31071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4545117"/>
            <a:ext cx="327995" cy="144567"/>
          </a:xfrm>
          <a:prstGeom prst="rect">
            <a:avLst/>
          </a:prstGeom>
        </p:spPr>
      </p:pic>
      <p:sp>
        <p:nvSpPr>
          <p:cNvPr id="290" name=""/>
          <p:cNvSpPr>
            <a:spLocks noGrp="1"/>
          </p:cNvSpPr>
          <p:nvPr>
            </p:nvPr>
        </p:nvSpPr>
        <p:spPr>
          <a:xfrm>
            <a:off x="9880037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9908018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908018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908018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9908018" y="4773625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994459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9944594" y="4903013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0134085" y="4876038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9944594" y="50264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0134085" y="4999482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9908018" y="5146700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9944594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9944594" y="527608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0134085" y="5249113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9944594" y="539953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0134085" y="537255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0920217" y="4773625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10956793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10956793" y="490328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9" name=""/>
          <p:cNvSpPr>
            <a:spLocks noGrp="1"/>
          </p:cNvSpPr>
          <p:nvPr>
            </p:nvPr>
        </p:nvSpPr>
        <p:spPr>
          <a:xfrm>
            <a:off x="11146285" y="487631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0" name=""/>
          <p:cNvSpPr>
            <a:spLocks noGrp="1"/>
          </p:cNvSpPr>
          <p:nvPr>
            </p:nvPr>
        </p:nvSpPr>
        <p:spPr>
          <a:xfrm>
            <a:off x="10956793" y="50272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11146285" y="5000305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10956793" y="5151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11146285" y="5124298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10956793" y="527526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11146285" y="5248290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10956793" y="539925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11146285" y="5372283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9739631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 Tres gráficos, dos apilados y uno alto</a:t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(2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5642" y="1776496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5642" y="190048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5642" y="2024482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5642" y="2148474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642" y="2272467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41774" y="1673809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78350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78350" y="180319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767842" y="177622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78350" y="192664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767842" y="189966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1774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78350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578350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767842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578350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767842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13. Tres gráficos, uno alto y dos apilados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5722" y="1673809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92298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92298" y="180319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4474" y="1776222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92298" y="19266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4474" y="1899666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557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922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922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1790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922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881790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679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044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044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93989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044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93989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14. Tres gráficos, uno ancho arriba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63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7818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8184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337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184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337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8184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337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8184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337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8184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337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566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32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932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85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932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085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32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6085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932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6085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932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6085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1314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1680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1680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2833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680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2833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680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2833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1680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2833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1680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2833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15. Tres gráficos en fila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106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908018" y="1673809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944594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944594" y="177210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0356769" y="1760746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944594" y="183337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0356769" y="1822011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908018" y="1922526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44594" y="1959102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44594" y="202082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0356769" y="2009463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44594" y="208208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0356769" y="2070727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908018" y="2171243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944594" y="220781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944594" y="22695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0356769" y="2258179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9944594" y="233080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0356769" y="2319444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16. Tres gráficos en tira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131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529575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566151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566151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755642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566151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755642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529575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566151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566151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755642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566151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755642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541774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578350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578350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767842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578350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767842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578350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767842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578350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767842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578350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767842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17. Tres gráficos en corona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62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36557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7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8" name=""/>
          <p:cNvSpPr>
            <a:spLocks noGrp="1"/>
          </p:cNvSpPr>
          <p:nvPr>
            </p:nvPr>
        </p:nvSpPr>
        <p:spPr>
          <a:xfrm>
            <a:off x="36922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3881790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36922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3881790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46679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47044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4893989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47044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4893989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36557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36922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36922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3881790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36922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3881790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46679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47044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47044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4893989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47044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4893989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18. Cuatro gráficos</a:t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93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67818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68184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68184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69337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68184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69337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3" name=""/>
          <p:cNvSpPr>
            <a:spLocks noGrp="1"/>
          </p:cNvSpPr>
          <p:nvPr>
            </p:nvPr>
        </p:nvSpPr>
        <p:spPr>
          <a:xfrm>
            <a:off x="74566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4" name=""/>
          <p:cNvSpPr>
            <a:spLocks noGrp="1"/>
          </p:cNvSpPr>
          <p:nvPr>
            </p:nvPr>
        </p:nvSpPr>
        <p:spPr>
          <a:xfrm>
            <a:off x="74932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74932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76085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74932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76085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81314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81680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81680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82833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81680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82833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18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8184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8184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70079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8184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70079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77940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78306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78306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80201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78306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80201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19. Cinco gráficos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230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99080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99445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99445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100598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99445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9" name=""/>
          <p:cNvSpPr>
            <a:spLocks noGrp="1"/>
          </p:cNvSpPr>
          <p:nvPr>
            </p:nvPr>
        </p:nvSpPr>
        <p:spPr>
          <a:xfrm>
            <a:off x="100598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0" name=""/>
          <p:cNvSpPr>
            <a:spLocks noGrp="1"/>
          </p:cNvSpPr>
          <p:nvPr>
            </p:nvPr>
        </p:nvSpPr>
        <p:spPr>
          <a:xfrm>
            <a:off x="105828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106193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106193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107346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106193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107346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11257617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11294193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11294193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114094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11294193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114094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99080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99445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99445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100598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99445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100598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8" name=""/>
          <p:cNvSpPr>
            <a:spLocks noGrp="1"/>
          </p:cNvSpPr>
          <p:nvPr>
            </p:nvPr>
        </p:nvSpPr>
        <p:spPr>
          <a:xfrm>
            <a:off x="105828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9" name=""/>
          <p:cNvSpPr>
            <a:spLocks noGrp="1"/>
          </p:cNvSpPr>
          <p:nvPr>
            </p:nvPr>
        </p:nvSpPr>
        <p:spPr>
          <a:xfrm>
            <a:off x="106193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106193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107346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106193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107346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11257617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11294193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11294193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114094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11294193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114094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 Seis gráficos</a:t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73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66151" y="4810201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566151" y="4921057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566151" y="5048555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66151" y="515941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66151" y="5286908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66151" y="5397764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1058875" y="4773625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0954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095451" y="4903013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1229831" y="4876038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1095451" y="5026457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229831" y="4999482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1058875" y="5146700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1095451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1095451" y="5276088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1229831" y="5249113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1095451" y="5399532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1229831" y="5372557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1812798" y="4773625"/>
            <a:ext cx="66345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184937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849374" y="4903287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1979240" y="4876312"/>
            <a:ext cx="38994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849374" y="5027280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1979240" y="5000305"/>
            <a:ext cx="29670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1849374" y="5151272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1979240" y="5124298"/>
            <a:ext cx="2331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849374" y="5275265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1979240" y="5248290"/>
            <a:ext cx="3306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849374" y="5399258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979240" y="5372283"/>
            <a:ext cx="16954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 Cifras en columna lateral</a:t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31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3692298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3692298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4341190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4341190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4990082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990082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0" name=""/>
          <p:cNvSpPr>
            <a:spLocks noGrp="1"/>
          </p:cNvSpPr>
          <p:nvPr>
            </p:nvPr>
        </p:nvSpPr>
        <p:spPr>
          <a:xfrm>
            <a:off x="36557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1" name=""/>
          <p:cNvSpPr>
            <a:spLocks noGrp="1"/>
          </p:cNvSpPr>
          <p:nvPr>
            </p:nvPr>
        </p:nvSpPr>
        <p:spPr>
          <a:xfrm>
            <a:off x="36922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2" name=""/>
          <p:cNvSpPr>
            <a:spLocks noGrp="1"/>
          </p:cNvSpPr>
          <p:nvPr>
            </p:nvPr>
        </p:nvSpPr>
        <p:spPr>
          <a:xfrm>
            <a:off x="36922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3" name=""/>
          <p:cNvSpPr>
            <a:spLocks noGrp="1"/>
          </p:cNvSpPr>
          <p:nvPr>
            </p:nvPr>
        </p:nvSpPr>
        <p:spPr>
          <a:xfrm>
            <a:off x="3881790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4" name=""/>
          <p:cNvSpPr>
            <a:spLocks noGrp="1"/>
          </p:cNvSpPr>
          <p:nvPr>
            </p:nvPr>
        </p:nvSpPr>
        <p:spPr>
          <a:xfrm>
            <a:off x="36922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5" name=""/>
          <p:cNvSpPr>
            <a:spLocks noGrp="1"/>
          </p:cNvSpPr>
          <p:nvPr>
            </p:nvPr>
        </p:nvSpPr>
        <p:spPr>
          <a:xfrm>
            <a:off x="3881790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6" name=""/>
          <p:cNvSpPr>
            <a:spLocks noGrp="1"/>
          </p:cNvSpPr>
          <p:nvPr>
            </p:nvPr>
        </p:nvSpPr>
        <p:spPr>
          <a:xfrm>
            <a:off x="36922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7" name=""/>
          <p:cNvSpPr>
            <a:spLocks noGrp="1"/>
          </p:cNvSpPr>
          <p:nvPr>
            </p:nvPr>
        </p:nvSpPr>
        <p:spPr>
          <a:xfrm>
            <a:off x="3881790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8" name=""/>
          <p:cNvSpPr>
            <a:spLocks noGrp="1"/>
          </p:cNvSpPr>
          <p:nvPr>
            </p:nvPr>
        </p:nvSpPr>
        <p:spPr>
          <a:xfrm>
            <a:off x="46679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9" name=""/>
          <p:cNvSpPr>
            <a:spLocks noGrp="1"/>
          </p:cNvSpPr>
          <p:nvPr>
            </p:nvPr>
        </p:nvSpPr>
        <p:spPr>
          <a:xfrm>
            <a:off x="47044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0" name=""/>
          <p:cNvSpPr>
            <a:spLocks noGrp="1"/>
          </p:cNvSpPr>
          <p:nvPr>
            </p:nvPr>
        </p:nvSpPr>
        <p:spPr>
          <a:xfrm>
            <a:off x="47044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1" name=""/>
          <p:cNvSpPr>
            <a:spLocks noGrp="1"/>
          </p:cNvSpPr>
          <p:nvPr>
            </p:nvPr>
        </p:nvSpPr>
        <p:spPr>
          <a:xfrm>
            <a:off x="4893989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2" name=""/>
          <p:cNvSpPr>
            <a:spLocks noGrp="1"/>
          </p:cNvSpPr>
          <p:nvPr>
            </p:nvPr>
        </p:nvSpPr>
        <p:spPr>
          <a:xfrm>
            <a:off x="47044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3" name=""/>
          <p:cNvSpPr>
            <a:spLocks noGrp="1"/>
          </p:cNvSpPr>
          <p:nvPr>
            </p:nvPr>
        </p:nvSpPr>
        <p:spPr>
          <a:xfrm>
            <a:off x="4893989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4" name=""/>
          <p:cNvSpPr>
            <a:spLocks noGrp="1"/>
          </p:cNvSpPr>
          <p:nvPr>
            </p:nvPr>
        </p:nvSpPr>
        <p:spPr>
          <a:xfrm>
            <a:off x="47044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5" name=""/>
          <p:cNvSpPr>
            <a:spLocks noGrp="1"/>
          </p:cNvSpPr>
          <p:nvPr>
            </p:nvPr>
        </p:nvSpPr>
        <p:spPr>
          <a:xfrm>
            <a:off x="4893989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 Cifras en banda superior</a:t>
            </a:r>
          </a:p>
        </p:txBody>
      </p:sp>
      <p:sp>
        <p:nvSpPr>
          <p:cNvPr id="3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507102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894442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32817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669121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74400" y="4056461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gráficos del capítulo 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estándar: una pregunta, un 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panel en pulgadas. La escala compara su ancho con el de la lámina estándar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5725516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74400" y="2900294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4400" y="3205338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5103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815425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4120469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p_slide_1_grafico_narrativo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rankings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una frase arriba dice lo que hay que retener del gráfico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«1_Grafico_narrativo» de la plantilla. Medidas del panel en pulgadas. La escala compara su ancho con el de la lámina estándar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4747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9225" y="2507102"/>
            <a:ext cx="2342707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79225" y="2894442"/>
            <a:ext cx="178249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9225" y="3281782"/>
            <a:ext cx="140053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9225" y="3669121"/>
            <a:ext cx="198620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9225" y="4056461"/>
            <a:ext cx="101856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4838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7.6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8454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5132" y="2528499"/>
            <a:ext cx="189189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5132" y="2777216"/>
            <a:ext cx="1740542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5132" y="3025932"/>
            <a:ext cx="1816218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5132" y="3274649"/>
            <a:ext cx="132432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5132" y="3523366"/>
            <a:ext cx="160811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p_slide_grafico_texto_derecha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 en un informe: el gráfico y su lectura al costado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79222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64884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72053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25455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52339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0068" y="2263140"/>
            <a:ext cx="357439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9407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94076" y="2579340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52278" y="2507102"/>
            <a:ext cx="2414230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94076" y="296667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2278" y="2894442"/>
            <a:ext cx="183691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94076" y="335401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2278" y="3281782"/>
            <a:ext cx="144329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94076" y="374135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52278" y="3669121"/>
            <a:ext cx="20468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94076" y="412869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2278" y="4056461"/>
            <a:ext cx="10496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30068" y="2263140"/>
            <a:ext cx="358353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7.8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p_slide_grafico_texto_izquierda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alternar con la lámina vecina que lleva el texto a la derecha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197510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465405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860426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255447"/>
            <a:ext cx="53736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650468"/>
            <a:ext cx="391825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4045488"/>
            <a:ext cx="475787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p_slide_texto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o notas metodológicas breves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«Title and Content» de la plantilla. Medidas del panel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del mismo tipo o de la misma pregunta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que se leen juntas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«Graficos_2columnas»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19447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9447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19447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19447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6000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20008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96505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6505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0008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96505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6000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p_slide_2_graficos_narrativo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dicotómicas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una idea común arriba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«1_Graficos_2columnas_narrativo» de la plantilla. Medidas del panel en pulgadas. La escala compara su ancho con el de la lámina estándar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47218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35440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41329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03052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25135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64308" y="2263140"/>
            <a:ext cx="192024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5283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28316" y="2579340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2605" y="2507102"/>
            <a:ext cx="122721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28316" y="296667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2605" y="2894442"/>
            <a:ext cx="93374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28316" y="335401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2605" y="3281782"/>
            <a:ext cx="73366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28316" y="374135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2605" y="3669121"/>
            <a:ext cx="104046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8316" y="412869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2605" y="4056461"/>
            <a:ext cx="5335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64308" y="2263140"/>
            <a:ext cx="192938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p_slide_2_graficos_texto_izquierda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Perfiles breves con su lectura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7181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7181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7181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7181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7181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70048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40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34056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18287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34056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18287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4056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18287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4056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18287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34056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18287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70048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8172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82312" y="2528499"/>
            <a:ext cx="159471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82312" y="2777216"/>
            <a:ext cx="146713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82312" y="3025932"/>
            <a:ext cx="153092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82312" y="3274649"/>
            <a:ext cx="11163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82312" y="3523366"/>
            <a:ext cx="135550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p_slide_2_graficos_texto_derecha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 que la anterior, para alternar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353565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4400" y="374550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974400" y="395536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4400" y="416521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p_slide_2_graficos_vertical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media altura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pocas filas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de escala que comparten leyenda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«graficos_2_vertical» de la plantilla. Medidas del panel en pulgadas. La escala compara su ancho con el de la lámina estándar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61188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09400" y="2507102"/>
            <a:ext cx="244113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9400" y="2894442"/>
            <a:ext cx="185738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09400" y="3281782"/>
            <a:ext cx="145937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509400" y="3669121"/>
            <a:ext cx="206965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09400" y="4056461"/>
            <a:ext cx="10613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6210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7.9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p_slide_2_graficos_asimetrico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65 % y 35 %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y 12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y 11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con un ranking o un resumen al lado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 gráfico manda y el otro lo resume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«graficos_2_asimetrico»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dos apilados y uno alto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p_slide_3_graficos_2mas1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 la izquierda y barras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breves y una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«graficos_3_2mas1»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alto y dos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p_slide_3_graficos_1mas2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 la izquierda y dicotómicas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larga primero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«graficos_3_1mas2»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144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ancho arriba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p_slide_3_graficos_1arriba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arriba y dos dicotómicas abajo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pregunta general y dos de detalle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«graficos_3_1arriba» de la plantilla. Medidas del panel en pulgadas. La escala compara su ancho con el de la lámina estándar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147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113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63647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27655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085835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27655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085835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4835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1236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7054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1236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07054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1236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7054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p_slide_3_graficos_fila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del mismo tipo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variables de perfil, o una comparación entre años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«graficos_3_fila» de la plantilla. Medidas del panel en pulgadas. La escala compara su ancho con el de la lámina estándar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149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0408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4444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4091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8127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8942" y="299466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0586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23560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17596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47243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41279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78942" y="299466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8942" y="372618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01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396712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974400" y="390748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2950" y="420395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974400" y="414431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8942" y="37261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p_slide_3_graficos_poblacion_tira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un tercio de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preguntas de sí o no del mismo público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«poblacion_3_tira» de la plantilla. Medidas del panel en pulgadas. La escala compara su ancho con el de la lámina estándar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151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p_slide_3_graficos_poblacion_corona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Dicotómica, barras y rango de edad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con una variable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«poblacion_3_corona»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153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p_slide_4_graficos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y dicotómicas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variables de perfil del mismo público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«4_paneles» de la plantilla. Medidas del panel en pulgadas. La escala compara su ancho con el de la lámina estándar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p_slide_5_graficos_poblacion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arriba, barras abajo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o del docente en una lámina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«poblacion_5» de la plantilla. Medidas del panel en pulgadas. La escala compara su ancho con el de la lámina estándar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157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0113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113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0113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0113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63647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727655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727655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085835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27655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085835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727655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085835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727655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085835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663647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4835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236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236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7054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1236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07054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1236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7054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1236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7054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64835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p_slide_6_graficos_poblacion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de pocas categorías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máximo de gráficos en una lámina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«poblacion_6» de la plantilla. Medidas del panel en pulgadas. La escala compara su ancho con el de la lámina estándar</a:t>
            </a:r>
          </a:p>
        </p:txBody>
      </p:sp>
      <p:sp>
        <p:nvSpPr>
          <p:cNvPr id="9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159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8318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302818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2950" y="328422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372922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398526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35708" y="226314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997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99716" y="249059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714122" y="243837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299716" y="270045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714122" y="264822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291030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14122" y="285808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716" y="312016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14122" y="306793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235708" y="226314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235708" y="336042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99716" y="358787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14122" y="353565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99716" y="379773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14122" y="374550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99716" y="400758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14122" y="395536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21744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14122" y="416521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35708" y="336042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53128" y="2263140"/>
            <a:ext cx="195133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2579340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18265" y="2507102"/>
            <a:ext cx="124952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96667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8265" y="2894442"/>
            <a:ext cx="95072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17136" y="335401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8265" y="3281782"/>
            <a:ext cx="74699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17136" y="374135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8265" y="3669121"/>
            <a:ext cx="105937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412869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918265" y="4056461"/>
            <a:ext cx="5432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53128" y="2263140"/>
            <a:ext cx="196047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 × 4.6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p_slide_3_graficos_poblacion_cifras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dicotómicas y barras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tamaño de la muestra y la edad se dicen en cifras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«poblacion_3_cifras» de la plantilla. Medidas del panel en pulgadas. La escala compara su ancho con el de la lámina estándar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162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51455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51455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996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996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319447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2950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319447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19447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8942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6000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96505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20008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96505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296505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6000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p_slide_cifras_y_graficos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escalas y barras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Abrir un capítulo o resumir el estudio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«cifras_y_graficos»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164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sobre la lectura de los resultados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78708" y="150876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encuesta se aplicó con intención censal. Los resultados describen a quienes respondieron en cada público.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9748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chicas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269748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públicos con menos de 30 casos se leen en frecuencias («12 de 15») y no se comparan con pruebas de significancia.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88620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 con 2021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78708" y="388620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se comparan las preguntas que mantienen su redacción y su escala entre ambos procesos.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texto: título y hasta tres bloques breves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488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32278" y="21488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18715"/>
            <a:ext cx="177134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23973" y="2418715"/>
            <a:ext cx="177134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84523" y="2711323"/>
            <a:ext cx="131079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1323"/>
            <a:ext cx="22355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679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0679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06798" y="21564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613806" y="2167128"/>
            <a:ext cx="39828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48669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06798" y="26136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13806" y="2624328"/>
            <a:ext cx="153025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80642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06798" y="30708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613806" y="3081528"/>
            <a:ext cx="1677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18082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60969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60969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0969" y="2072640"/>
            <a:ext cx="137160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42297" y="2167128"/>
            <a:ext cx="12853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64204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0969" y="2613660"/>
            <a:ext cx="137160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42297" y="2624328"/>
            <a:ext cx="584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937297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3070860"/>
            <a:ext cx="137160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42297" y="3081528"/>
            <a:ext cx="584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937297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60969" y="3444240"/>
            <a:ext cx="137160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42297" y="3538728"/>
            <a:ext cx="584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937297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05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55229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LUGAR DE UN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650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01086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1271" y="2665603"/>
            <a:ext cx="30782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65603"/>
            <a:ext cx="242230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674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40619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155201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110787" y="2665603"/>
            <a:ext cx="379287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665603"/>
            <a:ext cx="170770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74904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98678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6504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01086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39605" y="4905883"/>
            <a:ext cx="10993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05883"/>
            <a:ext cx="539063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931920"/>
            <a:ext cx="549691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498848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obtuvo su título en 2025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7548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566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178144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Un panel se resume en un número cuando la pregunta tiene una respuesta que domina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166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1448592"/>
            <a:ext cx="366583" cy="16157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7355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8627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8627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8627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8627" y="1703984"/>
            <a:ext cx="2175696" cy="20848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5203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5203" y="1799996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7763" y="1789892"/>
            <a:ext cx="1475136" cy="311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03" y="1856689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37763" y="1846585"/>
            <a:ext cx="1122386" cy="3118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8627" y="2042770"/>
            <a:ext cx="2175696" cy="41696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5203" y="2079346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5203" y="2190902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7763" y="2161184"/>
            <a:ext cx="14751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203" y="2351837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7763" y="2322119"/>
            <a:ext cx="112238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y su subpregunta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1188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respuesta que habilita la subpregunta la abre con una llave.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19933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1448592"/>
            <a:ext cx="366583" cy="16157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074659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05932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5932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5932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05932" y="1703984"/>
            <a:ext cx="1372514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42508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42508" y="184205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28368" y="1812341"/>
            <a:ext cx="89877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42508" y="1982876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428368" y="1953158"/>
            <a:ext cx="68384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42508" y="2123694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28368" y="2093976"/>
            <a:ext cx="537310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42508" y="2264512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28368" y="2234794"/>
            <a:ext cx="76200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42508" y="240532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28368" y="2375611"/>
            <a:ext cx="39077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57496" y="1703984"/>
            <a:ext cx="724132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594072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4072" y="184205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7288" y="1812341"/>
            <a:ext cx="43349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94072" y="1982876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7288" y="1953158"/>
            <a:ext cx="32983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4072" y="2123694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37288" y="2093976"/>
            <a:ext cx="25915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4072" y="2264512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37288" y="2234794"/>
            <a:ext cx="367527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072" y="240532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37288" y="2375611"/>
            <a:ext cx="18847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8493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y ranking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8493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escala dice cómo se evalúa y el ranking qué cambiarían.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587237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1448592"/>
            <a:ext cx="366583" cy="161574"/>
          </a:xfrm>
          <a:prstGeom prst="rect">
            <a:avLst/>
          </a:prstGeom>
        </p:spPr>
      </p:pic>
      <p:sp>
        <p:nvSpPr>
          <p:cNvPr id="59" name=""/>
          <p:cNvSpPr>
            <a:spLocks noGrp="1"/>
          </p:cNvSpPr>
          <p:nvPr>
            </p:nvPr>
        </p:nvSpPr>
        <p:spPr>
          <a:xfrm>
            <a:off x="9641964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73236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73236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73236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09812" y="1740560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09812" y="186123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09812" y="2006956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09812" y="2127626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709812" y="2273351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09812" y="239402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264808" y="1703984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301384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01384" y="1843430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633798" y="1813712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01384" y="1986991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633798" y="1957273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64808" y="2120951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301384" y="2157527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01384" y="2260397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633798" y="2230679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301384" y="2403958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33798" y="2374240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95797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perfil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495797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dicen cuántos y qué edad. Los gráficos, cómo es el público.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3620292"/>
            <a:ext cx="366583" cy="161574"/>
          </a:xfrm>
          <a:prstGeom prst="rect">
            <a:avLst/>
          </a:prstGeom>
        </p:spPr>
      </p:pic>
      <p:sp>
        <p:nvSpPr>
          <p:cNvPr id="85" name=""/>
          <p:cNvSpPr>
            <a:spLocks noGrp="1"/>
          </p:cNvSpPr>
          <p:nvPr>
            </p:nvPr>
        </p:nvSpPr>
        <p:spPr>
          <a:xfrm>
            <a:off x="507355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8627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8627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8627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8627" y="3875684"/>
            <a:ext cx="1494130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5203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203" y="401375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7818" y="3984041"/>
            <a:ext cx="98604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75203" y="4154576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87818" y="4124858"/>
            <a:ext cx="75025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75203" y="4295394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87818" y="4265676"/>
            <a:ext cx="58948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5203" y="4436212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7818" y="4406494"/>
            <a:ext cx="83599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5203" y="457702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87818" y="4547311"/>
            <a:ext cx="42871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157070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157070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355013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55013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552956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552956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1188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y cifra del cambio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1188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serie muestra la evolución y la cifra cuánto cambió.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019933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3620292"/>
            <a:ext cx="366583" cy="161574"/>
          </a:xfrm>
          <a:prstGeom prst="rect">
            <a:avLst/>
          </a:prstGeom>
        </p:spPr>
      </p:pic>
      <p:sp>
        <p:nvSpPr>
          <p:cNvPr id="111" name=""/>
          <p:cNvSpPr>
            <a:spLocks noGrp="1"/>
          </p:cNvSpPr>
          <p:nvPr>
            </p:nvPr>
        </p:nvSpPr>
        <p:spPr>
          <a:xfrm>
            <a:off x="5074659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5105932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105932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105932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105932" y="3875684"/>
            <a:ext cx="1285646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5142508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5142508" y="401375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5409257" y="3984041"/>
            <a:ext cx="8364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142508" y="4154576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409257" y="4124858"/>
            <a:ext cx="63641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142508" y="4295394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409257" y="4265676"/>
            <a:ext cx="50004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142508" y="4436212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5409257" y="4406494"/>
            <a:ext cx="70915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5142508" y="457702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5409257" y="4547311"/>
            <a:ext cx="36366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6470628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6543780" y="3963083"/>
            <a:ext cx="73784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6543780" y="4108289"/>
            <a:ext cx="67882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6543780" y="4253496"/>
            <a:ext cx="70833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6543780" y="4398703"/>
            <a:ext cx="516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6543780" y="4543910"/>
            <a:ext cx="62717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928493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y tabla de cobertura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928493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mapa ubica las zonas y la tabla da cuántas por distrito.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9587237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3620292"/>
            <a:ext cx="366583" cy="161574"/>
          </a:xfrm>
          <a:prstGeom prst="rect">
            <a:avLst/>
          </a:prstGeom>
        </p:spPr>
      </p:pic>
      <p:sp>
        <p:nvSpPr>
          <p:cNvPr id="137" name=""/>
          <p:cNvSpPr>
            <a:spLocks noGrp="1"/>
          </p:cNvSpPr>
          <p:nvPr>
            </p:nvPr>
        </p:nvSpPr>
        <p:spPr>
          <a:xfrm>
            <a:off x="9641964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9673236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9673236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673236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673236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9746388" y="3963083"/>
            <a:ext cx="96926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9746388" y="4108289"/>
            <a:ext cx="8917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9746388" y="4253496"/>
            <a:ext cx="930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9746388" y="4398703"/>
            <a:ext cx="67848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9746388" y="4543910"/>
            <a:ext cx="82387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0786016" y="3875684"/>
            <a:ext cx="1062917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0822592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0822592" y="401375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1040340" y="3984041"/>
            <a:ext cx="676605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0822592" y="4154576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1040340" y="4124858"/>
            <a:ext cx="51480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0822592" y="4295394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1040340" y="4265676"/>
            <a:ext cx="40449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0822592" y="4436212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1040340" y="4406494"/>
            <a:ext cx="573644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0822592" y="457702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1040340" y="4547311"/>
            <a:ext cx="29417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9495797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letras y diferencias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9495797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tabla da cifras y letras. Los paneles dibujan cada diferencia (capítulo 2.8).</a:t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láminas siguientes muestran cada combinación con datos</a:t>
            </a:r>
          </a:p>
        </p:txBody>
      </p:sp>
      <p:sp>
        <p:nvSpPr>
          <p:cNvPr id="1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171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DICOTÓMICA Y SU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Prácticas preprofesionales y su utilidad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¿Realizó prácticas preprofesionales durante la carrera?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1521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(114)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1521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(64)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3747" y="2607818"/>
            <a:ext cx="3194072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07818"/>
            <a:ext cx="5682008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83630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18053"/>
            <a:ext cx="5678351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54513" y="3118053"/>
            <a:ext cx="20117" cy="6510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571" y="375904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57179" y="3631946"/>
            <a:ext cx="6746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me prepararon para el trabajo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57179" y="3878834"/>
            <a:ext cx="6746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114 que hicieron prácticas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7819" y="413486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37786"/>
            <a:ext cx="1463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Hicieron prácticas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74362"/>
            <a:ext cx="358555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82804" y="472922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80293" y="4674362"/>
            <a:ext cx="802176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380293" y="4729226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78811" y="4674362"/>
            <a:ext cx="4351145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78811" y="4729226"/>
            <a:ext cx="43474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26298" y="4674362"/>
            <a:ext cx="3197730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26298" y="4729226"/>
            <a:ext cx="3194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20371" y="4674362"/>
            <a:ext cx="177448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03609" y="461035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460121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438175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472922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114 que hicieron prácticas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ESCALA Y RANKING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y mejoras de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9494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con…?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622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951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42516" y="2267712"/>
            <a:ext cx="9473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33590" y="2267712"/>
            <a:ext cx="3679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95699" y="22951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7887" y="2267712"/>
            <a:ext cx="228051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97887" y="2295144"/>
            <a:ext cx="2276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74743" y="2267712"/>
            <a:ext cx="1779605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4743" y="2295144"/>
            <a:ext cx="17759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0691" y="2267712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2567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595445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67973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6500" y="2194560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9389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87668" y="22951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53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42516" y="2926080"/>
            <a:ext cx="14026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79127" y="2926080"/>
            <a:ext cx="550103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32310" y="2953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5573" y="2926080"/>
            <a:ext cx="264481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5573" y="2953512"/>
            <a:ext cx="2641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66726" y="2926080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66726" y="2953512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0691" y="2926080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05335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18214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67973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6500" y="2852928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93892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87668" y="29535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61188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42516" y="3584448"/>
            <a:ext cx="185806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4664" y="3584448"/>
            <a:ext cx="7322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24664" y="3611880"/>
            <a:ext cx="7285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53258" y="3584448"/>
            <a:ext cx="237158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753258" y="3611880"/>
            <a:ext cx="2367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121189" y="3584448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21189" y="3611880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5154" y="3584448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9281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64098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452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86500" y="3511296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9389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87668" y="36118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27024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42516" y="4242816"/>
            <a:ext cx="41349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27393" y="42702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52350" y="4242816"/>
            <a:ext cx="123316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252350" y="4270248"/>
            <a:ext cx="1229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481852" y="4242816"/>
            <a:ext cx="200729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81852" y="4270248"/>
            <a:ext cx="2003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85486" y="4242816"/>
            <a:ext cx="8233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85486" y="4270248"/>
            <a:ext cx="8196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05154" y="4242816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45204" y="4178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86500" y="4169664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993892" y="3950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87668" y="42702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9138" y="4773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8866" y="470916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00326" y="4773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210054" y="470916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401314" y="4773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511042" y="470916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00702" y="4773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10430" y="470916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04890" y="4773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4618" y="4709160"/>
            <a:ext cx="1353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7678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042148" y="1508760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primero que mejoraría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042148" y="1746504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opción, 1,234 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042148" y="219456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40596" y="2194560"/>
            <a:ext cx="159184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69014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042148" y="274320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340596" y="2743200"/>
            <a:ext cx="104828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5458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42148" y="329184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340596" y="3291840"/>
            <a:ext cx="698858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076030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042148" y="384048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40596" y="3840480"/>
            <a:ext cx="34942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6601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042148" y="438912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40596" y="4389120"/>
            <a:ext cx="19412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57129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estudiantes. Cifras ficticias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173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CIFRAS Y PERFIL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002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671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92 % de respuesta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88036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2160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grado de magíster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9776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8 % con doctorado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1586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835908" y="150876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35908" y="174650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35908" y="2116074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40196" y="2130552"/>
            <a:ext cx="45907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67550" y="2112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35908" y="2500122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40196" y="2514600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85444" y="2496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35908" y="2884170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40196" y="2898648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85444" y="2880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35908" y="3268218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40196" y="3282696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85444" y="3264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35908" y="3749040"/>
            <a:ext cx="80677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35908" y="388620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835908" y="412394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835908" y="4469892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40196" y="4489704"/>
            <a:ext cx="459077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67550" y="44622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35908" y="4799076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0196" y="4818888"/>
            <a:ext cx="23997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6497" y="4791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5908" y="512826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40196" y="5148072"/>
            <a:ext cx="135636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33138" y="5120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35908" y="5457444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40196" y="5477256"/>
            <a:ext cx="198238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59153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174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SERIE Y CIFRA DEL CAMBIO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7680960" cy="4114800"/>
            <a:chOff x="452628" y="1600200"/>
            <a:chExt cx="7680960" cy="4114800"/>
          </a:xfrm>
        </p:grpSpPr>
        <p:sp>
          <p:nvSpPr>
            <p:cNvPr id="6" name="pl3"/>
            <p:cNvSpPr/>
            <p:nvPr/>
          </p:nvSpPr>
          <p:spPr>
            <a:xfrm>
              <a:off x="522217" y="542985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522217" y="480317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522217" y="4176498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522217" y="3549821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522217" y="292314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522217" y="229646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522217" y="1669789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552942" y="537950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552942" y="47528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552942" y="412614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552942" y="349946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552942" y="287279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552942" y="224611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2311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1443990" y="1795124"/>
              <a:ext cx="5027854" cy="940016"/>
            </a:xfrm>
            <a:custGeom>
              <a:avLst/>
              <a:pathLst>
                <a:path w="5027854" h="940016">
                  <a:moveTo>
                    <a:pt x="0" y="626677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94001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1443990" y="2672472"/>
              <a:ext cx="5027854" cy="1942700"/>
            </a:xfrm>
            <a:custGeom>
              <a:avLst/>
              <a:pathLst>
                <a:path w="5027854" h="1942700">
                  <a:moveTo>
                    <a:pt x="0" y="814680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1942700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1381708" y="235951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057659" y="204618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733611" y="1732842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6409562" y="26728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1381708" y="342487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3057659" y="292352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733611" y="26101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6409562" y="45528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1291478" y="21810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2967430" y="186766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4643381" y="155432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6319333" y="249434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291478" y="35899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2967430" y="30886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4643381" y="277531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319333" y="471801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739997" y="2674114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739997" y="4554147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1260348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936300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4612251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6288203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53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73668" y="187452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73668" y="244144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estudiantes desde 2021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73668" y="269748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84 % a 53 %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73668" y="352044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73668" y="408736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docentes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73668" y="434340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98 % a 83 %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175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MAPA Y TABLA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del estudio por distrito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206240" cy="4224528"/>
            <a:chOff x="726948" y="1508760"/>
            <a:chExt cx="4206240" cy="4224528"/>
          </a:xfrm>
        </p:grpSpPr>
        <p:sp>
          <p:nvSpPr>
            <p:cNvPr id="6" name="pg3"/>
            <p:cNvSpPr/>
            <p:nvPr/>
          </p:nvSpPr>
          <p:spPr>
            <a:xfrm>
              <a:off x="180763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69446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6733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81328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63965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182504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56279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51335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42782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28608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4023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9371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16023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23765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92431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08360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6303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1832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13144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52810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25797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01631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19746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01845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55694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69144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06164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16338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81747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31855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04829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84358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13184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24666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17764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37728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36399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14197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7824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48113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7196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183329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191065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46104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41373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56165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33542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9428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52387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9298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1596390" y="588873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06118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2778" y="588873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032506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3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81828" y="14630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865108" y="1463040"/>
            <a:ext cx="10972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53828" y="1463040"/>
            <a:ext cx="12801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73268" y="174650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73268" y="1874520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37860" y="180136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65108" y="180136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53828" y="180136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3268" y="217627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3268" y="2304288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737860" y="223113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65108" y="223113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53828" y="223113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73268" y="260604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73268" y="2734056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37860" y="266090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65108" y="266090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053828" y="266090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3268" y="3035808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3268" y="3163824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737860" y="3090672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65108" y="309067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53828" y="3090672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3268" y="3465576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73268" y="3593592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737860" y="3520440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65108" y="352044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53828" y="3520440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280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73268" y="389534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4023360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37860" y="395020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65108" y="395020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053828" y="395020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3268" y="432511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73268" y="4453128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737860" y="437997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865108" y="437997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53828" y="437997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73268" y="475488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73268" y="4882896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37860" y="480974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865108" y="480974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053828" y="480974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(IMP PlanMet 2040)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 recibida,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 siento satisfecho con la formación recibida en la carrera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8638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programa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3055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05556" y="2130552"/>
            <a:ext cx="39940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36231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5117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05556" y="2551176"/>
            <a:ext cx="386242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455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97180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05556" y="2971800"/>
            <a:ext cx="377464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116775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9242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05556" y="3392424"/>
            <a:ext cx="3686861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8993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813048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05556" y="3813048"/>
            <a:ext cx="355518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7319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05556" y="4233672"/>
            <a:ext cx="346740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809537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5429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05556" y="4654296"/>
            <a:ext cx="337962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21754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07492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05556" y="5074920"/>
            <a:ext cx="324794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0081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9554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05556" y="5495544"/>
            <a:ext cx="31601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02298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82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910828" y="1783080"/>
            <a:ext cx="2992831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10828" y="2377440"/>
            <a:ext cx="29928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satisfacción en los nueve programas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0828" y="2834640"/>
            <a:ext cx="299283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 ponderado por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02268" y="320040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03436" y="3154680"/>
            <a:ext cx="2700223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distancia entre el programa más alto y el más bajo es de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puntos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Cada programa es una base del estudio.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entre 48 y 140 egresados por programa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222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dimensiones de la formación,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22035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 práctica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62009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el medio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9738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0614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870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4779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2035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089441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62009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057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06140" y="2240280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7870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7790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035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89441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62009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68376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06140" y="2633472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7870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47790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035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89441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62009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07695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406140" y="3026664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37870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47790" y="3026664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2035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89441" y="302666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62009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470148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406140" y="3419856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7870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47790" y="3419856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2035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89441" y="3419856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62009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386334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0614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7870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4779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2035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89441" y="3813048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62009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425653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06140" y="420624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7870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7790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2035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89441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62009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64972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06140" y="459943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7870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47790" y="4599432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2035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9441" y="4599432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62009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1188" y="504291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40614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7870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4779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2035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9441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62009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5814" y="542239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83274" y="545896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241642" y="545896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0010" y="545896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558378" y="545896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216746" y="545896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6323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21602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79970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238338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96706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55507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 promedio de los ítems de cada dimensión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223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en el gobierno local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23946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406826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38499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15386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último año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8144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2697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en su barrio de noche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69584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39 %, hombres 55 %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2341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15221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46895" y="1914754"/>
            <a:ext cx="285293" cy="28529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223781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23781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hizo un trámite por internet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23781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últimos seis meses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cifras son el punto de partida. La próxima medición se compara contra ellas con la misma pregunta y la misma escala.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1,200 entrevistas, muestra probabilística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225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principal de la asistencia en efectivo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usó la asistencia que recibió?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640 hogares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203704"/>
            <a:ext cx="355274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4801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 de vivienda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2752344"/>
            <a:ext cx="234939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51450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medicinas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300984"/>
            <a:ext cx="131795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20007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3849624"/>
            <a:ext cx="8595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61588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Pago de deudas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4398264"/>
            <a:ext cx="6876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89681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5476" y="4946904"/>
            <a:ext cx="3438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4586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de cada diez hogares usaron la asistencia en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cuatro de cada diez en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640 hogares. Opción múltiple: los porcentajes suman más de 100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entrega, por modalidad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la forma en que recibió la asistencia?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9202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2984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482596"/>
            <a:ext cx="258857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6356" y="2482596"/>
            <a:ext cx="5991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24049" y="25374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822" y="2482596"/>
            <a:ext cx="40868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41822" y="2537460"/>
            <a:ext cx="40831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25021" y="2482596"/>
            <a:ext cx="34063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25021" y="2537460"/>
            <a:ext cx="3402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27686" y="248259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13270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26148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7266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40944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5374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30708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Retiro en agencia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91156" y="3259836"/>
            <a:ext cx="6841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91156" y="3314700"/>
            <a:ext cx="6805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1689" y="3259836"/>
            <a:ext cx="1279657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71689" y="3314700"/>
            <a:ext cx="12759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47689" y="3259836"/>
            <a:ext cx="43420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47689" y="3314700"/>
            <a:ext cx="43383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86087" y="3259836"/>
            <a:ext cx="2045257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86087" y="3314700"/>
            <a:ext cx="2041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27686" y="325983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07266" y="31958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88091" y="318668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95483" y="29672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989259" y="33147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08432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prepagada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91156" y="4037076"/>
            <a:ext cx="4289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83783" y="40919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16489" y="4037076"/>
            <a:ext cx="939391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16489" y="4091940"/>
            <a:ext cx="9357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52222" y="4037076"/>
            <a:ext cx="4256989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52222" y="4091940"/>
            <a:ext cx="42533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05554" y="4037076"/>
            <a:ext cx="26407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05554" y="4091940"/>
            <a:ext cx="2637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642619" y="4037076"/>
            <a:ext cx="255200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64733" y="3973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77611" y="3744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40919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5288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95016" y="480060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47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26204" y="480060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17464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27192" y="480060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16852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126580" y="480060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521040" y="486460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30768" y="4800600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310, 190 y 140 hogares por modalidad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237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frente a las previstas,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7099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89620" y="17099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de 24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2585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12948" y="2240280"/>
            <a:ext cx="395020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12948" y="2240280"/>
            <a:ext cx="373075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72884" y="22585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de 18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80720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12948" y="2788920"/>
            <a:ext cx="658368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12948" y="2788920"/>
            <a:ext cx="592531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06356" y="280720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30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35584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756148" y="335584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90448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012948" y="3886200"/>
            <a:ext cx="219456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12948" y="3886200"/>
            <a:ext cx="1975104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317236" y="390448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4531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12948" y="4434840"/>
            <a:ext cx="175564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12948" y="4434840"/>
            <a:ext cx="1316736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78324" y="44531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0017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95060" y="50017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93566" y="57332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03294" y="5669280"/>
            <a:ext cx="1671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completa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6054" y="57332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75782" y="5669280"/>
            <a:ext cx="1912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con faltantes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79842" y="5733288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9570" y="566928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Previstas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109 aulas aplicadas de 116 previstas en la muestra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240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año, por sexo y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en azul oscuro, hombres en azul claro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8541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22676" y="2478024"/>
            <a:ext cx="3100493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9745" y="242316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167128"/>
            <a:ext cx="620098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0237" y="2167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576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3008376"/>
            <a:ext cx="2447757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607009" y="29535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22676" y="2697480"/>
            <a:ext cx="53850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44318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461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538728"/>
            <a:ext cx="1958206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17458" y="348386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227832"/>
            <a:ext cx="424277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02031" y="3227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7647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69080"/>
            <a:ext cx="228457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443826" y="401421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22676" y="3758184"/>
            <a:ext cx="47323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1583" y="37581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30682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4599432"/>
            <a:ext cx="1631838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91090" y="454456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288536"/>
            <a:ext cx="39164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75664" y="42885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371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129784"/>
            <a:ext cx="2774125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377" y="507492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22676" y="4818888"/>
            <a:ext cx="50586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1795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6752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22676" y="5660136"/>
            <a:ext cx="146865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627906" y="560527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22676" y="5349240"/>
            <a:ext cx="34268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86112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160620" y="60076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70348" y="5943600"/>
            <a:ext cx="83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94908" y="60076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4636" y="594360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1,855 estudiantes encuestados en aula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241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Igualdad de oportunidades en la organización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 y mujeres tienen las mismas oportunidades de ascenso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6459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939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130552"/>
            <a:ext cx="536003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71529" y="20939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57741" y="2130552"/>
            <a:ext cx="1955591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57741" y="2093976"/>
            <a:ext cx="19519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09674" y="2130552"/>
            <a:ext cx="4173697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09674" y="2093976"/>
            <a:ext cx="4170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79713" y="2130552"/>
            <a:ext cx="1955591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79713" y="2093976"/>
            <a:ext cx="19519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31647" y="2130552"/>
            <a:ext cx="266173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9246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72125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89259" y="209397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53288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25396" y="2569464"/>
            <a:ext cx="92382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114120" y="2569464"/>
            <a:ext cx="536003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60253" y="25328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46466" y="2569464"/>
            <a:ext cx="3996248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646466" y="2532888"/>
            <a:ext cx="399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39056" y="2569464"/>
            <a:ext cx="4173697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9056" y="2532888"/>
            <a:ext cx="4170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809095" y="256946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064272" y="25054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77150" y="22768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47971" y="25054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249631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22768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253288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27889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procesos de selección son transparentes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897819" y="29718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41985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3456432"/>
            <a:ext cx="713451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5396" y="3419856"/>
            <a:ext cx="7097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35190" y="3456432"/>
            <a:ext cx="2221763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35190" y="3419856"/>
            <a:ext cx="2218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53296" y="3456432"/>
            <a:ext cx="3907524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53296" y="3419856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57162" y="3456432"/>
            <a:ext cx="1600694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857162" y="341985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54198" y="3456432"/>
            <a:ext cx="443621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355969" y="341985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341985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858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025396" y="3895344"/>
            <a:ext cx="181106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202844" y="3895344"/>
            <a:ext cx="802176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202844" y="3858768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001363" y="3895344"/>
            <a:ext cx="4439869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1363" y="3858768"/>
            <a:ext cx="4436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37574" y="3895344"/>
            <a:ext cx="3375178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37574" y="3858768"/>
            <a:ext cx="33715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809095" y="389534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108634" y="38313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821512" y="36027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47971" y="38313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382219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36027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38587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411480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puede conciliar el trabajo con la vida familiar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97819" y="42976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74573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782312"/>
            <a:ext cx="447279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927167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469017" y="4782312"/>
            <a:ext cx="1600694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469017" y="474573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066053" y="4782312"/>
            <a:ext cx="4617318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66053" y="4745736"/>
            <a:ext cx="46136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9713" y="4782312"/>
            <a:ext cx="2044315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679713" y="474573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20371" y="4782312"/>
            <a:ext cx="177448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803609" y="47183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88091" y="470916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95483" y="44897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89259" y="474573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518464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5221224"/>
            <a:ext cx="181106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02844" y="5221224"/>
            <a:ext cx="890900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02844" y="5184648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090087" y="5221224"/>
            <a:ext cx="4706042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090087" y="5184648"/>
            <a:ext cx="470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92471" y="5221224"/>
            <a:ext cx="3020281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792471" y="5184648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09095" y="522122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08634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21512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847971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788091" y="514807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95483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989259" y="51846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2963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23936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46626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56354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9762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859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64502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374230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32749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43721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 y 38 directivos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243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trabajadores y directivos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17210" y="152704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726938" y="1463040"/>
            <a:ext cx="1201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979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29526" y="146304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 de ascenso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127748" y="2116836"/>
            <a:ext cx="210312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7164" y="204825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30284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7794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40596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11028" y="201168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64261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transparente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87668" y="2756916"/>
            <a:ext cx="237744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87084" y="268833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452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37860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483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65176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puntos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328269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Conciliación familiar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76388" y="3396996"/>
            <a:ext cx="109728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75804" y="332841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73084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6580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83396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29184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1188" y="39227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respetuoso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25028" y="4037076"/>
            <a:ext cx="82296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124444" y="396849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7404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75220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5771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511028" y="393192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56285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 de denuncias conocido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41748" y="4677156"/>
            <a:ext cx="320040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41164" y="460857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41564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91940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15187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511028" y="457200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Box. Base: 420 trabajadores y 38 directivos. Los directivos tienen menos de 30 casos por cargo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244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Políticas que conocen los trabajadores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¿Cuáles de estas políticas conoce?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420 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Horario flexible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203704"/>
            <a:ext cx="3333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1001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Licencia por paternidad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2752344"/>
            <a:ext cx="264392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20294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3300984"/>
            <a:ext cx="22415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17958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Lactario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3849624"/>
            <a:ext cx="18967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73099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39796" y="4398264"/>
            <a:ext cx="15518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823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39796" y="4946904"/>
            <a:ext cx="68971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6609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1031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194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conoce menos de la mitad del personal, aunque está vigente.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trabajadores. Opción múltiple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245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indicadores antes y después de la intervención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915660" y="1527048"/>
            <a:ext cx="137160" cy="13716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025388" y="1463040"/>
            <a:ext cx="668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484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94576" y="1463040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7426" y="2116836"/>
            <a:ext cx="16596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36842" y="204825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96478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7618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0679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6426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02352" y="275691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268833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421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2544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9452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2826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3922" y="3396996"/>
            <a:ext cx="45262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33338" y="332841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85966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84114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6278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9227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81294" y="403707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80710" y="396849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63156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148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7346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628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04104" y="4677156"/>
            <a:ext cx="15087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03520" y="460857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54396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65429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664708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300 participantes antes y 285 después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cambió cada indicador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4468" y="1783080"/>
            <a:ext cx="5303520" cy="32004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4081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2442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62118" y="1783080"/>
            <a:ext cx="16459" cy="320040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257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7618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1845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0206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4433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2794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302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después menos 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19568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40693" y="2075688"/>
            <a:ext cx="208086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04988" y="202082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22308" y="196596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 puntos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648188" y="196596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5968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92022" y="2715768"/>
            <a:ext cx="1862874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42048" y="266090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22308" y="260604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48188" y="260604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2369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29001" y="3355848"/>
            <a:ext cx="204914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83580" y="33009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22308" y="324612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+6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48188" y="324612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1188" y="38770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80214" y="3995928"/>
            <a:ext cx="2016636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42048" y="394106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322308" y="388620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648188" y="388620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171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15400" y="4636008"/>
            <a:ext cx="18053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53228" y="458114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22308" y="452628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puntos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48188" y="452628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La barra es el intervalo de 95 % del cambio (Newcombe): si no cruza el cero, el cambio es significativo (α = 0.05)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248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de la evaluación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mejoraron de forma significativa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derechos laborales, plan de negocio y servicios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38472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 conocimiento de derechos laborales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mayor cambio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92642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285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participantes en la medición posterior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 de la línea base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ahorro y la participación en redes de apoyo no cambiaron de forma significativa en el periodo evaluado.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Medición antes y después con la misma encuesta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249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portadas, índices, separadores y cierres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 y tipografía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Portada, objetivo y ficha técnica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portada y sus alternativas, el objetivo y la ficha técnica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en cinco situaciones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 y subcapítulos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contraportada y sus alternativas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sobre la lámina estándar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Categorías, dicotómicas, partes de un todo y rankings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apiladas con Top Two Box y Bottom Two Box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Números y distribuciones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Histogramas, promedios, cajas, rangos y conteos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Comparaciones y series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brechas y mediciones en el tiempo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Radares y dimensiones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Índices, mapas de calor y peso de cada aspecto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Palabras, frases y temas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cartografía del estudio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técnica, estándar y para público general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combinan los gráficos en una lámina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del motor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o sin texto al lado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columnas, apilados, con texto o con uno principal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a 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Filas, columnas, tiras, coronas y grillas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 en sus cuatro ubicaciones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se leen bien juntos, con su ejemplo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Actores, filtros y bases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públicos, subpreguntas, cohortes y bases chicas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redacciones, «Otros», ítems largos y láminas mixtas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estudios más frecuentes, de principio a fin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 de un proceso de acreditación, con uno o varios programas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partida, escalas de 1 a 10, cruces y olas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territorial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UMP, zonas y manzanas de intervención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Uso, satisfacción e indicadores frente a su meta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y prevalencias por facultad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 y directivos de una misma organización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Cambio de los indicadores y su significancia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diagramas, con su forma de uso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 temáticas y cómo se usan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notas y franjas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diagramas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Conectores, llaves, formas y procesos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2026-10-08T11:01:51Z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