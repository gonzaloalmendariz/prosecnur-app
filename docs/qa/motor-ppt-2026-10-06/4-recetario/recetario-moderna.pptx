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492" r:id="rId244"/>
    <p:sldId id="493" r:id="rId245"/>
    <p:sldId id="261" r:id="rId13"/>
    <p:sldId id="433" r:id="rId185"/>
    <p:sldId id="434" r:id="rId186"/>
    <p:sldId id="260" r:id="rId12"/>
    <p:sldId id="259" r:id="rId11"/>
    <p:sldId id="262" r:id="rId14"/>
    <p:sldId id="263" r:id="rId15"/>
    <p:sldId id="264" r:id="rId16"/>
    <p:sldId id="265" r:id="rId17"/>
    <p:sldId id="266" r:id="rId18"/>
    <p:sldId id="305" r:id="rId57"/>
    <p:sldId id="306" r:id="rId58"/>
    <p:sldId id="270" r:id="rId22"/>
    <p:sldId id="271" r:id="rId23"/>
    <p:sldId id="272" r:id="rId24"/>
    <p:sldId id="494" r:id="rId246"/>
    <p:sldId id="267" r:id="rId19"/>
    <p:sldId id="435" r:id="rId187"/>
    <p:sldId id="436" r:id="rId188"/>
    <p:sldId id="268" r:id="rId20"/>
    <p:sldId id="437" r:id="rId189"/>
    <p:sldId id="438" r:id="rId190"/>
    <p:sldId id="269" r:id="rId21"/>
    <p:sldId id="495" r:id="rId247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96" r:id="rId248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97" r:id="rId249"/>
    <p:sldId id="429" r:id="rId181"/>
    <p:sldId id="430" r:id="rId182"/>
    <p:sldId id="431" r:id="rId183"/>
    <p:sldId id="432" r:id="rId184"/>
    <p:sldId id="529" r:id="rId281"/>
    <p:sldId id="498" r:id="rId250"/>
    <p:sldId id="499" r:id="rId251"/>
    <p:sldId id="314" r:id="rId66"/>
    <p:sldId id="315" r:id="rId67"/>
    <p:sldId id="316" r:id="rId68"/>
    <p:sldId id="317" r:id="rId69"/>
    <p:sldId id="318" r:id="rId70"/>
    <p:sldId id="319" r:id="rId71"/>
    <p:sldId id="440" r:id="rId192"/>
    <p:sldId id="500" r:id="rId252"/>
    <p:sldId id="363" r:id="rId115"/>
    <p:sldId id="378" r:id="rId130"/>
    <p:sldId id="501" r:id="rId253"/>
    <p:sldId id="439" r:id="rId191"/>
    <p:sldId id="320" r:id="rId72"/>
    <p:sldId id="321" r:id="rId73"/>
    <p:sldId id="322" r:id="rId74"/>
    <p:sldId id="502" r:id="rId254"/>
    <p:sldId id="323" r:id="rId75"/>
    <p:sldId id="324" r:id="rId76"/>
    <p:sldId id="325" r:id="rId77"/>
    <p:sldId id="326" r:id="rId78"/>
    <p:sldId id="503" r:id="rId255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504" r:id="rId256"/>
    <p:sldId id="441" r:id="rId193"/>
    <p:sldId id="334" r:id="rId86"/>
    <p:sldId id="335" r:id="rId87"/>
    <p:sldId id="336" r:id="rId88"/>
    <p:sldId id="505" r:id="rId257"/>
    <p:sldId id="337" r:id="rId89"/>
    <p:sldId id="506" r:id="rId258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507" r:id="rId259"/>
    <p:sldId id="508" r:id="rId260"/>
    <p:sldId id="442" r:id="rId194"/>
    <p:sldId id="443" r:id="rId195"/>
    <p:sldId id="444" r:id="rId196"/>
    <p:sldId id="509" r:id="rId261"/>
    <p:sldId id="445" r:id="rId197"/>
    <p:sldId id="446" r:id="rId198"/>
    <p:sldId id="371" r:id="rId123"/>
    <p:sldId id="447" r:id="rId199"/>
    <p:sldId id="292" r:id="rId44"/>
    <p:sldId id="448" r:id="rId200"/>
    <p:sldId id="293" r:id="rId45"/>
    <p:sldId id="449" r:id="rId201"/>
    <p:sldId id="510" r:id="rId262"/>
    <p:sldId id="450" r:id="rId202"/>
    <p:sldId id="290" r:id="rId42"/>
    <p:sldId id="451" r:id="rId203"/>
    <p:sldId id="291" r:id="rId43"/>
    <p:sldId id="452" r:id="rId204"/>
    <p:sldId id="294" r:id="rId46"/>
    <p:sldId id="453" r:id="rId205"/>
    <p:sldId id="295" r:id="rId47"/>
    <p:sldId id="454" r:id="rId206"/>
    <p:sldId id="296" r:id="rId48"/>
    <p:sldId id="455" r:id="rId207"/>
    <p:sldId id="297" r:id="rId49"/>
    <p:sldId id="511" r:id="rId263"/>
    <p:sldId id="456" r:id="rId208"/>
    <p:sldId id="298" r:id="rId50"/>
    <p:sldId id="457" r:id="rId209"/>
    <p:sldId id="299" r:id="rId51"/>
    <p:sldId id="368" r:id="rId120"/>
    <p:sldId id="458" r:id="rId210"/>
    <p:sldId id="300" r:id="rId52"/>
    <p:sldId id="459" r:id="rId211"/>
    <p:sldId id="460" r:id="rId212"/>
    <p:sldId id="301" r:id="rId53"/>
    <p:sldId id="512" r:id="rId264"/>
    <p:sldId id="461" r:id="rId213"/>
    <p:sldId id="302" r:id="rId54"/>
    <p:sldId id="462" r:id="rId214"/>
    <p:sldId id="463" r:id="rId215"/>
    <p:sldId id="303" r:id="rId55"/>
    <p:sldId id="464" r:id="rId216"/>
    <p:sldId id="304" r:id="rId56"/>
    <p:sldId id="465" r:id="rId217"/>
    <p:sldId id="310" r:id="rId62"/>
    <p:sldId id="466" r:id="rId218"/>
    <p:sldId id="467" r:id="rId219"/>
    <p:sldId id="311" r:id="rId63"/>
    <p:sldId id="468" r:id="rId220"/>
    <p:sldId id="312" r:id="rId64"/>
    <p:sldId id="469" r:id="rId221"/>
    <p:sldId id="313" r:id="rId65"/>
    <p:sldId id="307" r:id="rId59"/>
    <p:sldId id="308" r:id="rId60"/>
    <p:sldId id="309" r:id="rId61"/>
    <p:sldId id="513" r:id="rId265"/>
    <p:sldId id="470" r:id="rId222"/>
    <p:sldId id="471" r:id="rId223"/>
    <p:sldId id="472" r:id="rId224"/>
    <p:sldId id="473" r:id="rId225"/>
    <p:sldId id="474" r:id="rId226"/>
    <p:sldId id="475" r:id="rId227"/>
    <p:sldId id="476" r:id="rId228"/>
    <p:sldId id="514" r:id="rId266"/>
    <p:sldId id="477" r:id="rId229"/>
    <p:sldId id="478" r:id="rId230"/>
    <p:sldId id="515" r:id="rId267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516" r:id="rId268"/>
    <p:sldId id="364" r:id="rId116"/>
    <p:sldId id="365" r:id="rId117"/>
    <p:sldId id="366" r:id="rId118"/>
    <p:sldId id="367" r:id="rId119"/>
    <p:sldId id="369" r:id="rId121"/>
    <p:sldId id="370" r:id="rId122"/>
    <p:sldId id="372" r:id="rId124"/>
    <p:sldId id="373" r:id="rId125"/>
    <p:sldId id="374" r:id="rId126"/>
    <p:sldId id="375" r:id="rId127"/>
    <p:sldId id="376" r:id="rId128"/>
    <p:sldId id="377" r:id="rId129"/>
    <p:sldId id="517" r:id="rId269"/>
    <p:sldId id="518" r:id="rId270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479" r:id="rId231"/>
    <p:sldId id="480" r:id="rId232"/>
    <p:sldId id="519" r:id="rId271"/>
    <p:sldId id="481" r:id="rId233"/>
    <p:sldId id="379" r:id="rId131"/>
    <p:sldId id="380" r:id="rId132"/>
    <p:sldId id="384" r:id="rId136"/>
    <p:sldId id="520" r:id="rId272"/>
    <p:sldId id="338" r:id="rId90"/>
    <p:sldId id="339" r:id="rId91"/>
    <p:sldId id="340" r:id="rId92"/>
    <p:sldId id="381" r:id="rId133"/>
    <p:sldId id="521" r:id="rId273"/>
    <p:sldId id="382" r:id="rId134"/>
    <p:sldId id="482" r:id="rId234"/>
    <p:sldId id="483" r:id="rId235"/>
    <p:sldId id="522" r:id="rId274"/>
    <p:sldId id="383" r:id="rId135"/>
    <p:sldId id="484" r:id="rId236"/>
    <p:sldId id="485" r:id="rId237"/>
    <p:sldId id="523" r:id="rId275"/>
    <p:sldId id="486" r:id="rId238"/>
    <p:sldId id="487" r:id="rId239"/>
    <p:sldId id="488" r:id="rId240"/>
    <p:sldId id="524" r:id="rId276"/>
    <p:sldId id="489" r:id="rId241"/>
    <p:sldId id="490" r:id="rId242"/>
    <p:sldId id="491" r:id="rId243"/>
    <p:sldId id="525" r:id="rId277"/>
    <p:sldId id="526" r:id="rId278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527" r:id="rId279"/>
    <p:sldId id="392" r:id="rId144"/>
    <p:sldId id="393" r:id="rId145"/>
    <p:sldId id="394" r:id="rId146"/>
    <p:sldId id="395" r:id="rId147"/>
    <p:sldId id="528" r:id="rId280"/>
    <p:sldId id="396" r:id="rId148"/>
    <p:sldId id="397" r:id="rId149"/>
    <p:sldId id="398" r:id="rId150"/>
    <p:sldId id="399" r:id="rId151"/>
    <p:sldId id="400" r:id="rId15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Relationship Id="rId176" Type="http://schemas.openxmlformats.org/officeDocument/2006/relationships/slide" Target="slides/slide169.xml"/>
<Relationship Id="rId177" Type="http://schemas.openxmlformats.org/officeDocument/2006/relationships/slide" Target="slides/slide170.xml"/>
<Relationship Id="rId178" Type="http://schemas.openxmlformats.org/officeDocument/2006/relationships/slide" Target="slides/slide171.xml"/>
<Relationship Id="rId179" Type="http://schemas.openxmlformats.org/officeDocument/2006/relationships/slide" Target="slides/slide172.xml"/>
<Relationship Id="rId180" Type="http://schemas.openxmlformats.org/officeDocument/2006/relationships/slide" Target="slides/slide173.xml"/>
<Relationship Id="rId181" Type="http://schemas.openxmlformats.org/officeDocument/2006/relationships/slide" Target="slides/slide174.xml"/>
<Relationship Id="rId182" Type="http://schemas.openxmlformats.org/officeDocument/2006/relationships/slide" Target="slides/slide175.xml"/>
<Relationship Id="rId183" Type="http://schemas.openxmlformats.org/officeDocument/2006/relationships/slide" Target="slides/slide176.xml"/>
<Relationship Id="rId184" Type="http://schemas.openxmlformats.org/officeDocument/2006/relationships/slide" Target="slides/slide177.xml"/>
<Relationship Id="rId185" Type="http://schemas.openxmlformats.org/officeDocument/2006/relationships/slide" Target="slides/slide178.xml"/>
<Relationship Id="rId186" Type="http://schemas.openxmlformats.org/officeDocument/2006/relationships/slide" Target="slides/slide179.xml"/>
<Relationship Id="rId187" Type="http://schemas.openxmlformats.org/officeDocument/2006/relationships/slide" Target="slides/slide180.xml"/>
<Relationship Id="rId188" Type="http://schemas.openxmlformats.org/officeDocument/2006/relationships/slide" Target="slides/slide181.xml"/>
<Relationship Id="rId189" Type="http://schemas.openxmlformats.org/officeDocument/2006/relationships/slide" Target="slides/slide182.xml"/>
<Relationship Id="rId190" Type="http://schemas.openxmlformats.org/officeDocument/2006/relationships/slide" Target="slides/slide183.xml"/>
<Relationship Id="rId191" Type="http://schemas.openxmlformats.org/officeDocument/2006/relationships/slide" Target="slides/slide184.xml"/>
<Relationship Id="rId192" Type="http://schemas.openxmlformats.org/officeDocument/2006/relationships/slide" Target="slides/slide185.xml"/>
<Relationship Id="rId193" Type="http://schemas.openxmlformats.org/officeDocument/2006/relationships/slide" Target="slides/slide186.xml"/>
<Relationship Id="rId194" Type="http://schemas.openxmlformats.org/officeDocument/2006/relationships/slide" Target="slides/slide187.xml"/>
<Relationship Id="rId195" Type="http://schemas.openxmlformats.org/officeDocument/2006/relationships/slide" Target="slides/slide188.xml"/>
<Relationship Id="rId196" Type="http://schemas.openxmlformats.org/officeDocument/2006/relationships/slide" Target="slides/slide189.xml"/>
<Relationship Id="rId197" Type="http://schemas.openxmlformats.org/officeDocument/2006/relationships/slide" Target="slides/slide190.xml"/>
<Relationship Id="rId198" Type="http://schemas.openxmlformats.org/officeDocument/2006/relationships/slide" Target="slides/slide191.xml"/>
<Relationship Id="rId199" Type="http://schemas.openxmlformats.org/officeDocument/2006/relationships/slide" Target="slides/slide192.xml"/>
<Relationship Id="rId200" Type="http://schemas.openxmlformats.org/officeDocument/2006/relationships/slide" Target="slides/slide193.xml"/>
<Relationship Id="rId201" Type="http://schemas.openxmlformats.org/officeDocument/2006/relationships/slide" Target="slides/slide194.xml"/>
<Relationship Id="rId202" Type="http://schemas.openxmlformats.org/officeDocument/2006/relationships/slide" Target="slides/slide195.xml"/>
<Relationship Id="rId203" Type="http://schemas.openxmlformats.org/officeDocument/2006/relationships/slide" Target="slides/slide196.xml"/>
<Relationship Id="rId204" Type="http://schemas.openxmlformats.org/officeDocument/2006/relationships/slide" Target="slides/slide197.xml"/>
<Relationship Id="rId205" Type="http://schemas.openxmlformats.org/officeDocument/2006/relationships/slide" Target="slides/slide198.xml"/>
<Relationship Id="rId206" Type="http://schemas.openxmlformats.org/officeDocument/2006/relationships/slide" Target="slides/slide199.xml"/>
<Relationship Id="rId207" Type="http://schemas.openxmlformats.org/officeDocument/2006/relationships/slide" Target="slides/slide200.xml"/>
<Relationship Id="rId208" Type="http://schemas.openxmlformats.org/officeDocument/2006/relationships/slide" Target="slides/slide201.xml"/>
<Relationship Id="rId209" Type="http://schemas.openxmlformats.org/officeDocument/2006/relationships/slide" Target="slides/slide202.xml"/>
<Relationship Id="rId210" Type="http://schemas.openxmlformats.org/officeDocument/2006/relationships/slide" Target="slides/slide203.xml"/>
<Relationship Id="rId211" Type="http://schemas.openxmlformats.org/officeDocument/2006/relationships/slide" Target="slides/slide204.xml"/>
<Relationship Id="rId212" Type="http://schemas.openxmlformats.org/officeDocument/2006/relationships/slide" Target="slides/slide205.xml"/>
<Relationship Id="rId213" Type="http://schemas.openxmlformats.org/officeDocument/2006/relationships/slide" Target="slides/slide206.xml"/>
<Relationship Id="rId214" Type="http://schemas.openxmlformats.org/officeDocument/2006/relationships/slide" Target="slides/slide207.xml"/>
<Relationship Id="rId215" Type="http://schemas.openxmlformats.org/officeDocument/2006/relationships/slide" Target="slides/slide208.xml"/>
<Relationship Id="rId216" Type="http://schemas.openxmlformats.org/officeDocument/2006/relationships/slide" Target="slides/slide209.xml"/>
<Relationship Id="rId217" Type="http://schemas.openxmlformats.org/officeDocument/2006/relationships/slide" Target="slides/slide210.xml"/>
<Relationship Id="rId218" Type="http://schemas.openxmlformats.org/officeDocument/2006/relationships/slide" Target="slides/slide211.xml"/>
<Relationship Id="rId219" Type="http://schemas.openxmlformats.org/officeDocument/2006/relationships/slide" Target="slides/slide212.xml"/>
<Relationship Id="rId220" Type="http://schemas.openxmlformats.org/officeDocument/2006/relationships/slide" Target="slides/slide213.xml"/>
<Relationship Id="rId221" Type="http://schemas.openxmlformats.org/officeDocument/2006/relationships/slide" Target="slides/slide214.xml"/>
<Relationship Id="rId222" Type="http://schemas.openxmlformats.org/officeDocument/2006/relationships/slide" Target="slides/slide215.xml"/>
<Relationship Id="rId223" Type="http://schemas.openxmlformats.org/officeDocument/2006/relationships/slide" Target="slides/slide216.xml"/>
<Relationship Id="rId224" Type="http://schemas.openxmlformats.org/officeDocument/2006/relationships/slide" Target="slides/slide217.xml"/>
<Relationship Id="rId225" Type="http://schemas.openxmlformats.org/officeDocument/2006/relationships/slide" Target="slides/slide218.xml"/>
<Relationship Id="rId226" Type="http://schemas.openxmlformats.org/officeDocument/2006/relationships/slide" Target="slides/slide219.xml"/>
<Relationship Id="rId227" Type="http://schemas.openxmlformats.org/officeDocument/2006/relationships/slide" Target="slides/slide220.xml"/>
<Relationship Id="rId228" Type="http://schemas.openxmlformats.org/officeDocument/2006/relationships/slide" Target="slides/slide221.xml"/>
<Relationship Id="rId229" Type="http://schemas.openxmlformats.org/officeDocument/2006/relationships/slide" Target="slides/slide222.xml"/>
<Relationship Id="rId230" Type="http://schemas.openxmlformats.org/officeDocument/2006/relationships/slide" Target="slides/slide223.xml"/>
<Relationship Id="rId231" Type="http://schemas.openxmlformats.org/officeDocument/2006/relationships/slide" Target="slides/slide224.xml"/>
<Relationship Id="rId232" Type="http://schemas.openxmlformats.org/officeDocument/2006/relationships/slide" Target="slides/slide225.xml"/>
<Relationship Id="rId233" Type="http://schemas.openxmlformats.org/officeDocument/2006/relationships/slide" Target="slides/slide226.xml"/>
<Relationship Id="rId234" Type="http://schemas.openxmlformats.org/officeDocument/2006/relationships/slide" Target="slides/slide227.xml"/>
<Relationship Id="rId235" Type="http://schemas.openxmlformats.org/officeDocument/2006/relationships/slide" Target="slides/slide228.xml"/>
<Relationship Id="rId236" Type="http://schemas.openxmlformats.org/officeDocument/2006/relationships/slide" Target="slides/slide229.xml"/>
<Relationship Id="rId237" Type="http://schemas.openxmlformats.org/officeDocument/2006/relationships/slide" Target="slides/slide230.xml"/>
<Relationship Id="rId238" Type="http://schemas.openxmlformats.org/officeDocument/2006/relationships/slide" Target="slides/slide231.xml"/>
<Relationship Id="rId239" Type="http://schemas.openxmlformats.org/officeDocument/2006/relationships/slide" Target="slides/slide232.xml"/>
<Relationship Id="rId240" Type="http://schemas.openxmlformats.org/officeDocument/2006/relationships/slide" Target="slides/slide233.xml"/>
<Relationship Id="rId241" Type="http://schemas.openxmlformats.org/officeDocument/2006/relationships/slide" Target="slides/slide234.xml"/>
<Relationship Id="rId242" Type="http://schemas.openxmlformats.org/officeDocument/2006/relationships/slide" Target="slides/slide235.xml"/>
<Relationship Id="rId243" Type="http://schemas.openxmlformats.org/officeDocument/2006/relationships/slide" Target="slides/slide236.xml"/>
<Relationship Id="rId244" Type="http://schemas.openxmlformats.org/officeDocument/2006/relationships/slide" Target="slides/slide237.xml"/>
<Relationship Id="rId245" Type="http://schemas.openxmlformats.org/officeDocument/2006/relationships/slide" Target="slides/slide238.xml"/>
<Relationship Id="rId246" Type="http://schemas.openxmlformats.org/officeDocument/2006/relationships/slide" Target="slides/slide239.xml"/>
<Relationship Id="rId247" Type="http://schemas.openxmlformats.org/officeDocument/2006/relationships/slide" Target="slides/slide240.xml"/>
<Relationship Id="rId248" Type="http://schemas.openxmlformats.org/officeDocument/2006/relationships/slide" Target="slides/slide241.xml"/>
<Relationship Id="rId249" Type="http://schemas.openxmlformats.org/officeDocument/2006/relationships/slide" Target="slides/slide242.xml"/>
<Relationship Id="rId250" Type="http://schemas.openxmlformats.org/officeDocument/2006/relationships/slide" Target="slides/slide243.xml"/>
<Relationship Id="rId251" Type="http://schemas.openxmlformats.org/officeDocument/2006/relationships/slide" Target="slides/slide244.xml"/>
<Relationship Id="rId252" Type="http://schemas.openxmlformats.org/officeDocument/2006/relationships/slide" Target="slides/slide245.xml"/>
<Relationship Id="rId253" Type="http://schemas.openxmlformats.org/officeDocument/2006/relationships/slide" Target="slides/slide246.xml"/>
<Relationship Id="rId254" Type="http://schemas.openxmlformats.org/officeDocument/2006/relationships/slide" Target="slides/slide247.xml"/>
<Relationship Id="rId255" Type="http://schemas.openxmlformats.org/officeDocument/2006/relationships/slide" Target="slides/slide248.xml"/>
<Relationship Id="rId256" Type="http://schemas.openxmlformats.org/officeDocument/2006/relationships/slide" Target="slides/slide249.xml"/>
<Relationship Id="rId257" Type="http://schemas.openxmlformats.org/officeDocument/2006/relationships/slide" Target="slides/slide250.xml"/>
<Relationship Id="rId258" Type="http://schemas.openxmlformats.org/officeDocument/2006/relationships/slide" Target="slides/slide251.xml"/>
<Relationship Id="rId259" Type="http://schemas.openxmlformats.org/officeDocument/2006/relationships/slide" Target="slides/slide252.xml"/>
<Relationship Id="rId260" Type="http://schemas.openxmlformats.org/officeDocument/2006/relationships/slide" Target="slides/slide253.xml"/>
<Relationship Id="rId261" Type="http://schemas.openxmlformats.org/officeDocument/2006/relationships/slide" Target="slides/slide254.xml"/>
<Relationship Id="rId262" Type="http://schemas.openxmlformats.org/officeDocument/2006/relationships/slide" Target="slides/slide255.xml"/>
<Relationship Id="rId263" Type="http://schemas.openxmlformats.org/officeDocument/2006/relationships/slide" Target="slides/slide256.xml"/>
<Relationship Id="rId264" Type="http://schemas.openxmlformats.org/officeDocument/2006/relationships/slide" Target="slides/slide257.xml"/>
<Relationship Id="rId265" Type="http://schemas.openxmlformats.org/officeDocument/2006/relationships/slide" Target="slides/slide258.xml"/>
<Relationship Id="rId266" Type="http://schemas.openxmlformats.org/officeDocument/2006/relationships/slide" Target="slides/slide259.xml"/>
<Relationship Id="rId267" Type="http://schemas.openxmlformats.org/officeDocument/2006/relationships/slide" Target="slides/slide260.xml"/>
<Relationship Id="rId268" Type="http://schemas.openxmlformats.org/officeDocument/2006/relationships/slide" Target="slides/slide261.xml"/>
<Relationship Id="rId269" Type="http://schemas.openxmlformats.org/officeDocument/2006/relationships/slide" Target="slides/slide262.xml"/>
<Relationship Id="rId270" Type="http://schemas.openxmlformats.org/officeDocument/2006/relationships/slide" Target="slides/slide263.xml"/>
<Relationship Id="rId271" Type="http://schemas.openxmlformats.org/officeDocument/2006/relationships/slide" Target="slides/slide264.xml"/>
<Relationship Id="rId272" Type="http://schemas.openxmlformats.org/officeDocument/2006/relationships/slide" Target="slides/slide265.xml"/>
<Relationship Id="rId273" Type="http://schemas.openxmlformats.org/officeDocument/2006/relationships/slide" Target="slides/slide266.xml"/>
<Relationship Id="rId274" Type="http://schemas.openxmlformats.org/officeDocument/2006/relationships/slide" Target="slides/slide267.xml"/>
<Relationship Id="rId275" Type="http://schemas.openxmlformats.org/officeDocument/2006/relationships/slide" Target="slides/slide268.xml"/>
<Relationship Id="rId276" Type="http://schemas.openxmlformats.org/officeDocument/2006/relationships/slide" Target="slides/slide269.xml"/>
<Relationship Id="rId277" Type="http://schemas.openxmlformats.org/officeDocument/2006/relationships/slide" Target="slides/slide270.xml"/>
<Relationship Id="rId278" Type="http://schemas.openxmlformats.org/officeDocument/2006/relationships/slide" Target="slides/slide271.xml"/>
<Relationship Id="rId279" Type="http://schemas.openxmlformats.org/officeDocument/2006/relationships/slide" Target="slides/slide272.xml"/>
<Relationship Id="rId280" Type="http://schemas.openxmlformats.org/officeDocument/2006/relationships/slide" Target="slides/slide273.xml"/>
<Relationship Id="rId281" Type="http://schemas.openxmlformats.org/officeDocument/2006/relationships/slide" Target="slides/slide27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d4cd6ec0008d21f45440c848224b9461fc805e5.png"/>
<Relationship Id="rId3" Type="http://schemas.openxmlformats.org/officeDocument/2006/relationships/image" Target="../media/0fb0cbf01c08bc379a91b81a75da4dcca85ade34.png"/>
<Relationship Id="rId4" Type="http://schemas.openxmlformats.org/officeDocument/2006/relationships/image" Target="../media/2bcfd03062e4bbad079b44c75aa7953030961527.png"/>
<Relationship Id="rId5" Type="http://schemas.openxmlformats.org/officeDocument/2006/relationships/image" Target="../media/d3d99fd3adf75ab4de86bcd84ee9b158c322781d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8a01215035aa07b6553b072f3640ce4c872e32be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8a01215035aa07b6553b072f3640ce4c872e32be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354c8351b4b76a2c5511adea6a7939f5182d2dc.png"/>
<Relationship Id="rId4" Type="http://schemas.openxmlformats.org/officeDocument/2006/relationships/image" Target="../media/cb27754cf2ac46ace2610ccd74df7c63169492cf.png"/>
<Relationship Id="rId5" Type="http://schemas.openxmlformats.org/officeDocument/2006/relationships/image" Target="../media/95df2fa7a82c69c20fa3ad97f287bf960f48f0fd.png"/>
<Relationship Id="rId6" Type="http://schemas.openxmlformats.org/officeDocument/2006/relationships/image" Target="../media/b0624f93f0901ddded26fc8da982b3bbf66f4aa7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8e0e011357bac708fdcc1dc6fc0f4534ecf7ab14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ef83d74c8c3ae09e48316a488d9f6c339bee9c5e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b0624f93f0901ddded26fc8da982b3bbf66f4aa7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ca8bd58405fd0087bdf0c3f2adee47896839ca3e.png"/>
<Relationship Id="rId10" Type="http://schemas.openxmlformats.org/officeDocument/2006/relationships/image" Target="../media/f6ae817ceb53b2408d151dfb4d5c71efdae8c03f.png"/>
<Relationship Id="rId11" Type="http://schemas.openxmlformats.org/officeDocument/2006/relationships/image" Target="../media/d3d99fd3adf75ab4de86bcd84ee9b158c322781d.png"/>
<Relationship Id="rId12" Type="http://schemas.openxmlformats.org/officeDocument/2006/relationships/image" Target="../media/04d5d77166bbfc6ce9d0f4c047b57a59ad05d21d.png"/>
</Relationships>

</file>

<file path=ppt/slides/_rels/slide1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4409ef59c4c4ed1aa5557d194d87a693dfd9fb2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9d090dd6e4563df2b9028aefcbdcdfd42eebca93.png"/>
<Relationship Id="rId5" Type="http://schemas.openxmlformats.org/officeDocument/2006/relationships/image" Target="../media/7237f6530aa048b5b7bedc19ad77850051f6cbf6.png"/>
</Relationships>

</file>

<file path=ppt/slides/_rels/slide2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efb7c7e439e32e3b26bf2cd201539c4438a286d.png"/>
<Relationship Id="rId3" Type="http://schemas.openxmlformats.org/officeDocument/2006/relationships/image" Target="../media/859c5ab21a3c32d5d7bb7f305acf0a555b78055d.png"/>
<Relationship Id="rId4" Type="http://schemas.openxmlformats.org/officeDocument/2006/relationships/image" Target="../media/d3d99fd3adf75ab4de86bcd84ee9b158c322781d.png"/>
</Relationships>

</file>

<file path=ppt/slides/_rels/slide2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visual, tipos de gráficos y de láminas, y estudios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diseño,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está organizada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3560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67028" y="143560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78308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Portada, objetivo y ficha técnica, Índices, Separadores, Cierres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2307946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109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238109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272857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proporciones, Escalas de acuerdo, Números y distribuciones, Comparaciones y series, Radares y dimensiones, Pregunta abierta, Mapas, Diferencias significativas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325343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2658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67028" y="332658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367405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láminas, Un gráfico, Dos gráficos, Tres y cuatro gráficos, Población y cifras, Láminas de apertura, Combinaciones que funcionan, Actores, filtros y bases, Escalas, etiquetas y formatos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419892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27207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67028" y="427207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461954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universitaria, Opinión pública y línea base, Estudio territorial, Monitoreo posdistribución, Encuesta en aulas, Encuesta organizacional, Evaluación antes y después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7028" y="5144414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217566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5217566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67028" y="5565038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 y tarjetas, Figuras y diagramas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Principios de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827703"/>
            <a:ext cx="294803" cy="29480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idea por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dice el tema, el gráfico lo muestra y el texto, cuando lo hay, dice lo que hay que retener.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23946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826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42889" y="1827703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315386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dato lo calcula el motor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bases, letras de significancia y rótulos salen de los datos. A mano sólo se escriben frases cortas.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61024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7086" y="1827703"/>
            <a:ext cx="294803" cy="29480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69584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Mismo lugar, mismo tamaño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69584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gráfico, leyenda y base ocupan el mismo sitio y la misma letra en todas las láminas.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32341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15221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51284" y="18277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223781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Legible para todos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23781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se entiende sin ser especialista. La información técnica se agrega cuando el lector la necesita.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Centro marca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Centro marca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Centro marca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Centro marca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84383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41955"/>
            <a:ext cx="91221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41955"/>
            <a:ext cx="1322698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94990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41955"/>
            <a:ext cx="246295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94990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41955"/>
            <a:ext cx="684154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94990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84383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38821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45790"/>
            <a:ext cx="273662" cy="25456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45790"/>
            <a:ext cx="820985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398825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45790"/>
            <a:ext cx="1550749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398825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45790"/>
            <a:ext cx="86659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398825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45790"/>
            <a:ext cx="1049036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398825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38821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72300" y="2629814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411273" y="3966301"/>
            <a:ext cx="109728" cy="1097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484425" y="3934480"/>
            <a:ext cx="106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Total.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39389" y="3966301"/>
            <a:ext cx="109728" cy="1097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412541" y="3934480"/>
            <a:ext cx="106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67505" y="3966301"/>
            <a:ext cx="109728" cy="1097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340657" y="3934480"/>
            <a:ext cx="106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5621" y="3966301"/>
            <a:ext cx="109728" cy="1097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268773" y="3934480"/>
            <a:ext cx="106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Total.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123737" y="3966301"/>
            <a:ext cx="109728" cy="1097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96889" y="3934480"/>
            <a:ext cx="106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346088" y="5111862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6988" y="1592793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380" y="1804934"/>
            <a:ext cx="600852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6988" y="3223626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57439" y="3101645"/>
            <a:ext cx="4619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19339" y="298825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Centro marca"/>
          <p:cNvSpPr>
            <a:spLocks noGrp="1"/>
          </p:cNvSpPr>
          <p:nvPr>
            </p:nvPr>
        </p:nvSpPr>
        <p:spPr>
          <a:xfrm>
            <a:off x="8319339" y="298825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6988" y="3992636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6988" y="5170018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Centro marca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capítulo o tema, sobre el título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Centro marca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87435" y="193509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87435" y="219113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muestra la lámina, en coral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87435" y="244373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87435" y="269976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Fijo en la plantilla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Centro marca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87435" y="295236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y respuestas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87435" y="320840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Tal como se hizo, y cuántos respondieron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Centro marca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087435" y="346100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87435" y="371703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la franja central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87435" y="396963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087435" y="422567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verde, si la escala la lleva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Centro marca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087435" y="447827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087435" y="473430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Debajo del gráfico, centrada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Centro marca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87435" y="498690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folio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87435" y="524294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Cierran la lámina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láminas del informe parten de esta estructura. La lámina siguiente da sus medidas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84383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41955"/>
            <a:ext cx="91221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41955"/>
            <a:ext cx="1322698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94990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41955"/>
            <a:ext cx="246295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94990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41955"/>
            <a:ext cx="684154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94990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84383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38821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45790"/>
            <a:ext cx="273662" cy="25456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45790"/>
            <a:ext cx="820985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398825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45790"/>
            <a:ext cx="1550749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398825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45790"/>
            <a:ext cx="86659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398825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45790"/>
            <a:ext cx="1049036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398825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38821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72300" y="2629814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411273" y="3966301"/>
            <a:ext cx="109728" cy="1097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484425" y="3934480"/>
            <a:ext cx="106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Total.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39389" y="3966301"/>
            <a:ext cx="109728" cy="1097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412541" y="3934480"/>
            <a:ext cx="106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67505" y="3966301"/>
            <a:ext cx="109728" cy="1097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340657" y="3934480"/>
            <a:ext cx="106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5621" y="3966301"/>
            <a:ext cx="109728" cy="1097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268773" y="3934480"/>
            <a:ext cx="106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Total.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123737" y="3966301"/>
            <a:ext cx="109728" cy="1097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96889" y="3934480"/>
            <a:ext cx="106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346088" y="5111862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6988" y="1804934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6988" y="3223626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Centro marca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6988" y="3992636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Marcador de título: va al esquema y a la navegación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087435" y="2240280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87435" y="2496312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 la plantilla: se cambia en el patrón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87435" y="3054096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87435" y="3310128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Cuadros de texto con tamaño y color fijados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87435" y="3867912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87435" y="4123944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Vectorial: cada barra y cifra es una forma editable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Centro marca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087435" y="4681728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87435" y="4937760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agrupadas que se mueven con el gráfico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se pega como imagen: todo se puede editar en PowerPoint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5594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26567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22910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70148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8526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86904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95281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0017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11149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22122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18464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18617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40864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40864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40864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36003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71800"/>
            <a:ext cx="1600694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99232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71800"/>
            <a:ext cx="302028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99232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71800"/>
            <a:ext cx="168941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99232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71800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99232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370832"/>
            <a:ext cx="2754109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398264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370832"/>
            <a:ext cx="390752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398264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370832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39826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7251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029200"/>
            <a:ext cx="54138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029200"/>
            <a:ext cx="4036577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056632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029200"/>
            <a:ext cx="287151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056632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029200"/>
            <a:ext cx="1165066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056632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26771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26771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3600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871216"/>
            <a:ext cx="160069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87121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871216"/>
            <a:ext cx="302028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87121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871216"/>
            <a:ext cx="168941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87121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Centro marca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Cada parte lleva su cifra, su rótulo y su conteo junto al gráfico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escalas con un punto medio claro. Base: 15 administrativos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DE DOS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COMPETENCIA, ALTERNATIVA AL RADAR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235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237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181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182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183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184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185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186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187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890900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51502"/>
            <a:ext cx="4883490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12638" y="47978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51502"/>
            <a:ext cx="3109006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92471" y="47978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89259" y="47978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189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10524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916936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carrera?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1546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40619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(113)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155201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59245" y="4244594"/>
            <a:ext cx="1044414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4244594"/>
            <a:ext cx="445615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190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191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 se rotulan frecuencias («5 de 12») y no porcentajes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192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193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194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196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197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198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199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57800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57800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200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203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204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013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404872"/>
            <a:ext cx="66956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374011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404872"/>
            <a:ext cx="449850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374011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404872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374011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404872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374011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0308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946654"/>
            <a:ext cx="150193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15793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946654"/>
            <a:ext cx="283374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15793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946654"/>
            <a:ext cx="158517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15793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946654"/>
            <a:ext cx="191447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15793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206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366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404872"/>
            <a:ext cx="141870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374011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404872"/>
            <a:ext cx="433202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374011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404872"/>
            <a:ext cx="20846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374011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404872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3317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946654"/>
            <a:ext cx="116898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15793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946654"/>
            <a:ext cx="458173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15793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946654"/>
            <a:ext cx="21678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15793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946654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873502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1984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860036"/>
            <a:ext cx="125222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860036"/>
            <a:ext cx="36661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829175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860036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829175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860036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401818"/>
            <a:ext cx="100251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401818"/>
            <a:ext cx="408231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70957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401818"/>
            <a:ext cx="200136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70957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401818"/>
            <a:ext cx="99885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207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231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232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238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240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244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233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257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258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259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260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Centro marca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Centro marca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261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262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los 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920240"/>
            <a:ext cx="384048" cy="384048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13842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2422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10028" y="192024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fila se lee como un conjunto: el ojo compara los datos, no los dibujos.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06247" y="3527755"/>
            <a:ext cx="332842" cy="33284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círculo azul oscuro da el contraste que el trazo blanco necesita.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5010912"/>
            <a:ext cx="384048" cy="38404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95554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ícono anuncia el dato y el número lo completa. Juntos se leen de un vistazo.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263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265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266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267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las cajas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borde fino separa la caja del fondo sin competir con el dato que contiene.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853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9907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deja el color para los datos, donde sí significa algo.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9788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Alineado a la izquierda y con aire, el texto se lee igual que el resto de la lámina.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268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270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3.8, Actores, filtros y bases: pregunta filtro, filtro al costado y llave sobre varias categorías. Una llave abre un solo nivel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271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272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Centro marca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Centro marca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273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274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 DE LA LÁMINA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6771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16836" y="2276856"/>
            <a:ext cx="277974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3157" y="2267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871216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116836" y="2880360"/>
            <a:ext cx="23520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05504" y="28712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3483864"/>
            <a:ext cx="427653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29943" y="34747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07822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16836" y="4087368"/>
            <a:ext cx="406270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16116" y="4078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68172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16836" y="4690872"/>
            <a:ext cx="449035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643769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28523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5294376"/>
            <a:ext cx="3635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788463" y="52852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21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25028" y="1508760"/>
            <a:ext cx="3678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 de la lámina estándar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25028" y="1920240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1920240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a 0.36 in del borde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25028" y="2350008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2348" y="2350008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sobre el título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225028" y="2779776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42348" y="2779776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inicio de la zona de datos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25028" y="3209544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de datos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42348" y="3209544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1.65 a 6.42 in de alto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25028" y="3639312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42348" y="3639312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12 pt si va fuera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225028" y="4069080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069080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 con hasta 6 categorías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25028" y="4498848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642348" y="4498848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centrada en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25028" y="4928616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42348" y="4928616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a 6.88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25028" y="5358384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Márgenes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42348" y="5358384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 in a cada lado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estudiantes. Todos los gráficos del capítulo 2 usan esta lámina y estas medidas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tipográfica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6141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472184"/>
            <a:ext cx="5852160" cy="6527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773668" y="166141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32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8650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79828"/>
            <a:ext cx="585216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73668" y="228650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negrita, coral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857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77723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30068" y="2744851"/>
            <a:ext cx="5852160" cy="3390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está de acuerdo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73668" y="277723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a 15 pt, con las cifras en negrita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247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1614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30068" y="3192018"/>
            <a:ext cx="5852160" cy="3225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73668" y="321614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negrita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636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655060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o premisa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30068" y="3639185"/>
            <a:ext cx="5852160" cy="3060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73668" y="3655060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025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3972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 y 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30068" y="4086352"/>
            <a:ext cx="5852160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73668" y="4093972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azul oscuro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4414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53288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30068" y="4541774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73668" y="453288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gris, mayúsculas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803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97179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nota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30068" y="4980686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73668" y="497179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azul oscuro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3192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Arial en todo el informe. Ningún texto baja de 10 pt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2057400"/>
            <a:ext cx="73152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987552" y="2395728"/>
            <a:ext cx="877824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987552" y="4069080"/>
            <a:ext cx="8778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87552" y="4434840"/>
            <a:ext cx="8778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057400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280160" y="2395728"/>
            <a:ext cx="9601200" cy="11887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59893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63040" y="6327648"/>
            <a:ext cx="9235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85800" y="1600200"/>
            <a:ext cx="1051560" cy="105156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85800" y="2880360"/>
            <a:ext cx="301752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5800" y="4206240"/>
            <a:ext cx="822960" cy="548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72000" y="1417320"/>
            <a:ext cx="7331659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72000" y="3931920"/>
            <a:ext cx="733165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72000" y="4069080"/>
            <a:ext cx="733165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72000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699284" y="4653564"/>
            <a:ext cx="275783" cy="275783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5193792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15886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7143171" y="4653564"/>
            <a:ext cx="275783" cy="27578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637678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59773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587057" y="4653564"/>
            <a:ext cx="275783" cy="27578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0081565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72000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699284" y="5476524"/>
            <a:ext cx="275783" cy="275783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5193792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5886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143171" y="5476524"/>
            <a:ext cx="275783" cy="275783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637678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59773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87057" y="5476524"/>
            <a:ext cx="275783" cy="275783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081565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566928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702991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640080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1228" y="2176272"/>
            <a:ext cx="384048" cy="384048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2536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2536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601136" y="2176272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601136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egreso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2444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92444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521044" y="2176272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521044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plan de estudios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212351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12351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440951" y="2176272"/>
            <a:ext cx="384048" cy="384048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9440951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de la acreditación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2044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partir de la opinión de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769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235705" y="42270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8620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3144210" y="4227088"/>
            <a:ext cx="342351" cy="342351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361133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9470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5052715" y="4227088"/>
            <a:ext cx="342351" cy="342351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426963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321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961221" y="4227088"/>
            <a:ext cx="342351" cy="342351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71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8869726" y="4227088"/>
            <a:ext cx="342351" cy="342351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086649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620223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10778231" y="4227088"/>
            <a:ext cx="342351" cy="342351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999515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Carrera de Contabilidad. Proceso de acreditación 2026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 los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1036392" y="4712977"/>
              <a:ext cx="856958" cy="90277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893350" y="2606507"/>
              <a:ext cx="856958" cy="300924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750309" y="2104966"/>
              <a:ext cx="856958" cy="3510784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3607267" y="2405891"/>
              <a:ext cx="856958" cy="320985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4464226" y="3108047"/>
              <a:ext cx="856958" cy="250770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5321185" y="4612669"/>
              <a:ext cx="856958" cy="100308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6178143" y="4311745"/>
              <a:ext cx="856958" cy="130400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7035102" y="5114210"/>
              <a:ext cx="856958" cy="5015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7892060" y="5114210"/>
              <a:ext cx="856958" cy="5015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8749019" y="5314826"/>
              <a:ext cx="856958" cy="300924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9605977" y="5515442"/>
              <a:ext cx="856958" cy="1003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4"/>
            <p:cNvSpPr/>
            <p:nvPr/>
          </p:nvSpPr>
          <p:spPr>
            <a:xfrm>
              <a:off x="10462936" y="5415134"/>
              <a:ext cx="856958" cy="20061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l15"/>
            <p:cNvSpPr/>
            <p:nvPr/>
          </p:nvSpPr>
          <p:spPr>
            <a:xfrm>
              <a:off x="4035747" y="1578349"/>
              <a:ext cx="0" cy="4037401"/>
            </a:xfrm>
            <a:custGeom>
              <a:avLst/>
              <a:pathLst>
                <a:path w="0" h="4037401">
                  <a:moveTo>
                    <a:pt x="0" y="403740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260" cap="flat">
              <a:solidFill>
                <a:srgbClr val="5A648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" name="tx16"/>
            <p:cNvSpPr/>
            <p:nvPr/>
          </p:nvSpPr>
          <p:spPr>
            <a:xfrm>
              <a:off x="4292834" y="1641571"/>
              <a:ext cx="1270396" cy="1113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Mediana: 22 años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426024" y="4570863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2244135" y="2464324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3101094" y="1962783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3958052" y="2263708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32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4815011" y="2965933"/>
              <a:ext cx="155388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5671969" y="4470555"/>
              <a:ext cx="155388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6528928" y="4169562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7424734" y="4973869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8281692" y="4973869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9138651" y="5172643"/>
              <a:ext cx="77694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9995609" y="5375033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10852568" y="5274725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23155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380113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237072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094030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21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3950989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22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4807948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23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5664906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24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521865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7378823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26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235782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27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9092740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28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949699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29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10806658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1663616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31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5727631" y="5834557"/>
              <a:ext cx="901024" cy="1197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Edad, en años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que declararon su edad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08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674639" y="3346958"/>
            <a:ext cx="229021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46958"/>
            <a:ext cx="1122566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egresados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 por los egresados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452628" y="1508760"/>
              <a:ext cx="11451031" cy="454456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5220260" y="3612031"/>
              <a:ext cx="1915765" cy="3166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5622961" y="3224974"/>
              <a:ext cx="1510773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5625756" y="3961403"/>
              <a:ext cx="1920696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825717" y="3476628"/>
              <a:ext cx="2381004" cy="3148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0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3302783" y="3710692"/>
              <a:ext cx="1880784" cy="3589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9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9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7306191" y="3668489"/>
              <a:ext cx="961481" cy="273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6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7562730" y="3293848"/>
              <a:ext cx="1385802" cy="2668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8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8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285660" y="3013046"/>
              <a:ext cx="1272768" cy="3213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3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470211" y="4158358"/>
              <a:ext cx="1850875" cy="3070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4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7702510" y="3932022"/>
              <a:ext cx="1155837" cy="3050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5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5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8644045" y="3703827"/>
              <a:ext cx="1444405" cy="227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082254" y="2887740"/>
              <a:ext cx="1861765" cy="285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3255175" y="3117702"/>
              <a:ext cx="765620" cy="2814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131325" y="3828055"/>
              <a:ext cx="1043860" cy="2900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5677711" y="4399870"/>
              <a:ext cx="1951671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8009007" y="4311790"/>
              <a:ext cx="1318070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9160024" y="4018695"/>
              <a:ext cx="1267787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430949" y="3391015"/>
              <a:ext cx="779492" cy="155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90599" y="2799352"/>
              <a:ext cx="1797851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8199843" y="3022997"/>
              <a:ext cx="1002564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636827" y="3367454"/>
              <a:ext cx="1050085" cy="2651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4246488" y="4502449"/>
              <a:ext cx="872749" cy="197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844672" y="3131016"/>
              <a:ext cx="1308926" cy="200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1947097" y="4189039"/>
              <a:ext cx="1399493" cy="250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6031068" y="2716682"/>
              <a:ext cx="1196218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9425777" y="3127059"/>
              <a:ext cx="816025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0214564" y="3753673"/>
              <a:ext cx="520648" cy="1873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3228826" y="2866270"/>
              <a:ext cx="731949" cy="1806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966824" y="3738175"/>
              <a:ext cx="1033249" cy="2152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0259638" y="3394469"/>
              <a:ext cx="903667" cy="215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49776" y="2742330"/>
              <a:ext cx="774766" cy="171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teórico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8781777" y="2873372"/>
              <a:ext cx="536444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áreas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2856715" y="4548151"/>
              <a:ext cx="935396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fortalecer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5175843" y="4716796"/>
              <a:ext cx="1060462" cy="187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importante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6870100" y="4726723"/>
              <a:ext cx="752505" cy="189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podrían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7931642" y="4652817"/>
              <a:ext cx="644475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5029504" y="3408339"/>
              <a:ext cx="396112" cy="75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9525426" y="4329711"/>
              <a:ext cx="98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conocimientos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209594" y="4057632"/>
              <a:ext cx="652388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empresas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8910257" y="3555373"/>
              <a:ext cx="496930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minería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las menciones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32 tipos de lámina (1 de 3)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594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29575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673809"/>
            <a:ext cx="1946675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Un gráfico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27742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55722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55722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55722" y="1673809"/>
            <a:ext cx="1946675" cy="12435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728874" y="1765249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28874" y="1830537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55722" y="1821485"/>
            <a:ext cx="1946675" cy="575158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Un gráfico con narrativa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53889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1870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1870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781870" y="1673809"/>
            <a:ext cx="1181405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1776" y="1712671"/>
            <a:ext cx="686769" cy="466344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14928" y="1804111"/>
            <a:ext cx="540465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114928" y="1869399"/>
            <a:ext cx="486419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114928" y="1934688"/>
            <a:ext cx="513442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114928" y="1999976"/>
            <a:ext cx="324279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 Gráfico con texto a la derecha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80037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08018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908018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08018" y="1712671"/>
            <a:ext cx="652882" cy="466344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81170" y="1804111"/>
            <a:ext cx="506578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981170" y="1869399"/>
            <a:ext cx="4559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81170" y="1934688"/>
            <a:ext cx="481249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81170" y="1999976"/>
            <a:ext cx="303947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39401" y="1673809"/>
            <a:ext cx="1215292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 Gráfico con texto a la izquierda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1594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9575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9575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9575" y="3223717"/>
            <a:ext cx="1946675" cy="715061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02727" y="3315157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02727" y="3380445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2727" y="3445734"/>
            <a:ext cx="171035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2727" y="3511022"/>
            <a:ext cx="108022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 Texto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27742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55722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55722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655722" y="3223717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67922" y="3223717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 Dos gráficos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753889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81870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781870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81870" y="3223717"/>
            <a:ext cx="1946675" cy="12435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55022" y="3315157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5022" y="3380445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781870" y="3371393"/>
            <a:ext cx="934476" cy="575158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94070" y="3371393"/>
            <a:ext cx="934476" cy="575158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 Dos gráficos con narrativa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80037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08018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08018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08018" y="3262579"/>
            <a:ext cx="544068" cy="466344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81170" y="3354019"/>
            <a:ext cx="39776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81170" y="3419307"/>
            <a:ext cx="357988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81170" y="3484596"/>
            <a:ext cx="377876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81170" y="3549884"/>
            <a:ext cx="238658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515042" y="3223717"/>
            <a:ext cx="652882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206786" y="3223717"/>
            <a:ext cx="647907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 Dos gráficos con texto a la izquierda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01594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29575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29575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29575" y="4773625"/>
            <a:ext cx="637337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206551" y="4773625"/>
            <a:ext cx="637337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890522" y="4812487"/>
            <a:ext cx="585728" cy="466344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963674" y="4903927"/>
            <a:ext cx="43942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963674" y="4969215"/>
            <a:ext cx="395482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963674" y="5034504"/>
            <a:ext cx="41745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963674" y="5099792"/>
            <a:ext cx="26365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9. Dos gráficos con texto a la derecha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3627742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655722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655722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655722" y="4773625"/>
            <a:ext cx="1946675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655722" y="5146700"/>
            <a:ext cx="1946675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 Dos gráficos apilados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04923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53889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781870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781870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6781870" y="4773625"/>
            <a:ext cx="1228039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080638" y="4773625"/>
            <a:ext cx="647907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6613483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 Gráfico principal y de apoyo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31071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80037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908018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908018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908018" y="4773625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908018" y="5146700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0920217" y="4773625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739631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 Tres gráficos, dos apilados y uno alto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Las fichas siguientes dan sus medidas</a:t>
            </a:r>
          </a:p>
        </p:txBody>
      </p:sp>
      <p:sp>
        <p:nvSpPr>
          <p:cNvPr id="11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32 tipos de lámina (2 de 3)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594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29575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673809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1774" y="1673809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41774" y="2046884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13. Tres gráficos, uno alto y dos apilados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27742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55722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5722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5722" y="1673809"/>
            <a:ext cx="1946675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55722" y="2046884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67922" y="2046884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14. Tres gráficos, uno ancho arriba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53889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1870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781870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81870" y="1673809"/>
            <a:ext cx="5970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56670" y="1673809"/>
            <a:ext cx="5970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131470" y="1673809"/>
            <a:ext cx="5970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15. Tres gráficos en fila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80037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908018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08018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08018" y="1673809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20217" y="1673809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08018" y="2046884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20217" y="2046884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16. Cuatro gráficos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01594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29575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29575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9575" y="3223717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541774" y="3223717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17. Población, dos 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27742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55722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55722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55722" y="3223717"/>
            <a:ext cx="5970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30522" y="3223717"/>
            <a:ext cx="5970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05322" y="3223717"/>
            <a:ext cx="5970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18. Población, tres gráficos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53889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81870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781870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781870" y="3223717"/>
            <a:ext cx="1946675" cy="217627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81870" y="3472434"/>
            <a:ext cx="1946675" cy="217627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781870" y="3721151"/>
            <a:ext cx="1946675" cy="217627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19. Población en tira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80037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08018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08018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908018" y="3223717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08018" y="3596792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920217" y="3223717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 Población en corona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01594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9575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9575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9575" y="4773625"/>
            <a:ext cx="466344" cy="71506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58875" y="4773625"/>
            <a:ext cx="683971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58875" y="5146700"/>
            <a:ext cx="683971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12798" y="4773625"/>
            <a:ext cx="663452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 Población con cifras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627742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655722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655722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655722" y="4773625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667922" y="4773625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655722" y="5146700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667922" y="5146700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 Población, cuatro gráficos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704923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753889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781870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781870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781870" y="4773625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456670" y="4773625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131470" y="4773625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781870" y="5146700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794070" y="5146700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613483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 Población, cinco gráficos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31071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80037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08018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08018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08018" y="4773625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582818" y="4773625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257617" y="4773625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908018" y="5146700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582818" y="5146700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257617" y="5146700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739631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24. Población, seis gráficos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Las fichas siguientes dan sus medidas</a:t>
            </a:r>
          </a:p>
        </p:txBody>
      </p:sp>
      <p:sp>
        <p:nvSpPr>
          <p:cNvPr id="10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32 tipos de lámina (3 de 3)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594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29575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673809"/>
            <a:ext cx="1946675" cy="1865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1891436"/>
            <a:ext cx="934476" cy="49743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41774" y="1891436"/>
            <a:ext cx="934476" cy="49743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25. Banda de cifras y dos gráficos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7492" y="1821485"/>
            <a:ext cx="1570025" cy="217627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900644" y="1912925"/>
            <a:ext cx="142372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900644" y="1978213"/>
            <a:ext cx="1281349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900644" y="2043501"/>
            <a:ext cx="1352535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900644" y="2108789"/>
            <a:ext cx="854232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26. Portada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1870" y="1619402"/>
            <a:ext cx="108814" cy="10881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1870" y="1774850"/>
            <a:ext cx="1946675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855022" y="1866290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855022" y="1931579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55022" y="1996867"/>
            <a:ext cx="171035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855022" y="2062155"/>
            <a:ext cx="108022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870" y="2194560"/>
            <a:ext cx="1946675" cy="1865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27. Objetivo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80037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908018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08018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08018" y="1673809"/>
            <a:ext cx="1946675" cy="715061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981170" y="1765249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81170" y="1830537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81170" y="1895826"/>
            <a:ext cx="171035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981170" y="1961114"/>
            <a:ext cx="108022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28. Ficha técnica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1594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29575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9575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9575" y="3223717"/>
            <a:ext cx="1946675" cy="12435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2727" y="3315157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2727" y="3380445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9575" y="3402482"/>
            <a:ext cx="1321308" cy="217627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84832" y="3371393"/>
            <a:ext cx="373075" cy="2487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29. Top Two Box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27742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55722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55722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55722" y="3223717"/>
            <a:ext cx="1946675" cy="108814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728874" y="3315157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728874" y="3380445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655722" y="3371393"/>
            <a:ext cx="1946675" cy="497434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728874" y="3462833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728874" y="3528121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28874" y="3593409"/>
            <a:ext cx="171035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728874" y="3658697"/>
            <a:ext cx="108022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30. Redondeo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04923" y="2967228"/>
            <a:ext cx="963778" cy="11658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54197" y="3223717"/>
            <a:ext cx="974348" cy="715061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27349" y="3315157"/>
            <a:ext cx="82804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27349" y="3380445"/>
            <a:ext cx="74524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27349" y="3445734"/>
            <a:ext cx="786642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27349" y="3511022"/>
            <a:ext cx="496826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31. Índice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19691" y="3557930"/>
            <a:ext cx="1523390" cy="248717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92843" y="3649370"/>
            <a:ext cx="1377086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292843" y="3714659"/>
            <a:ext cx="1239378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292843" y="3779947"/>
            <a:ext cx="1308232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92843" y="3845235"/>
            <a:ext cx="826252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32. Separador de capítulo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Las fichas siguientes dan sus medidas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gráficos del capítulo 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estándar: una pregunta, un gráfico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gráfico en pulgadas. La escala compara su ancho con el de la lámina estándar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36576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35458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54660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2697480"/>
            <a:ext cx="5725516" cy="16916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8942" y="342442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3.7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p_slide_1_grafico_narrativo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rankings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una frase arriba dice lo que hay que retener del gráfico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«1_Grafico_narrativo» de la plantilla. Medidas del gráfico en pulgadas. La escala compara su ancho con el de la lámina estándar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347472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3474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7.6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84548" y="2377440"/>
            <a:ext cx="2019910" cy="137160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7700" y="2468880"/>
            <a:ext cx="187360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7700" y="2660904"/>
            <a:ext cx="1686245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7700" y="2852928"/>
            <a:ext cx="1779925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7700" y="3044952"/>
            <a:ext cx="112416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p_slide_grafico_texto_derecha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 en un informe: el gráfico y su lectura al costado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«right_grafico_texto» de la plantilla. Medidas del gráfico en pulgadas. La escala compara su ancho con el de la lámina estándar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4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377440"/>
            <a:ext cx="1920240" cy="137160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468880"/>
            <a:ext cx="177393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660904"/>
            <a:ext cx="159654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2094" y="2852928"/>
            <a:ext cx="1685239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" y="3044952"/>
            <a:ext cx="106436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30068" y="2263140"/>
            <a:ext cx="357439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3195828"/>
            <a:ext cx="357439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7.8 × 4.6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p_slide_grafico_texto_izquierda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alternar con la lámina vecina que lleva el texto a la derecha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«left_grafico_texto» de la plantilla. Medidas del gráfico en pulgadas. La escala compara su ancho con el de la lámina estándar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5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35458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54660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2094" y="2738628"/>
            <a:ext cx="5300251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" y="2930652"/>
            <a:ext cx="3347527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gráfico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o notas metodológicas breves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«Title and Content» de la plantilla. Medidas del gráfico en pulgadas. La escala compara su ancho con el de la lámina estándar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6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56000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del mismo tipo o de la misma pregunta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que se leen juntas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«Graficos_2columnas» de la plantilla. Medidas del gráfico en pulgadas. La escala compara su ancho con el de la lámina estándar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7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36576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35458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54660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2697480"/>
            <a:ext cx="2748458" cy="16916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8942" y="34244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56000" y="2697480"/>
            <a:ext cx="2748458" cy="16916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56000" y="34244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p_slide_2_graficos_narrativo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dicotómicas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una idea común arriba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«1_Graficos_2columnas_narrativo» de la plantilla. Medidas del gráfico en pulgadas. La escala compara su ancho con el de la lámina estándar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8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377440"/>
            <a:ext cx="1600200" cy="137160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468880"/>
            <a:ext cx="145389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660904"/>
            <a:ext cx="130850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2094" y="2852928"/>
            <a:ext cx="1381201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" y="3044952"/>
            <a:ext cx="872338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464308" y="2263140"/>
            <a:ext cx="192024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64308" y="3195828"/>
            <a:ext cx="19202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98848" y="3195828"/>
            <a:ext cx="1905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p_slide_2_graficos_texto_izquierda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Perfiles breves con su lectura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«left_2graficos_texto» de la plantilla. Medidas del gráfico en pulgadas. La escala compara su ancho con el de la lámina estándar</a:t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9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187452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1874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0048" y="2263140"/>
            <a:ext cx="187452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70048" y="3195828"/>
            <a:ext cx="1874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681728" y="2377440"/>
            <a:ext cx="1722730" cy="137160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468880"/>
            <a:ext cx="157642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41878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52928"/>
            <a:ext cx="1497604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044952"/>
            <a:ext cx="945855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p_slide_2_graficos_texto_derecha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 que la anterior, para alternar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«right_2graficos_texto» de la plantilla. Medidas del gráfico en pulgadas. La escala compara su ancho con el de la lámina estándar</a:t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10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3360420"/>
            <a:ext cx="5725516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374446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p_slide_2_graficos_vertical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media altura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pocas filas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de escala que comparten leyenda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«graficos_2_vertical» de la plantilla. Medidas del gráfico en pulgadas. La escala compara su ancho con el de la lámina estándar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11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361188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3611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7.9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98848" y="3195828"/>
            <a:ext cx="1905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p_slide_2_graficos_asimetrico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65 % y 35 %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y 12 pt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y 11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con un ranking o un resumen al lado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 gráfico manda y el otro lo resume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«graficos_2_asimetrico» de la plantilla. Medidas del gráfico en pulgadas. La escala compara su ancho con el de la lámina estándar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12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dos apilados y uno alto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56000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p_slide_3_graficos_2mas1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 la izquierda y barras a la derecha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breves y una más larga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«graficos_3_2mas1»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13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alto y dos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56000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56000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p_slide_3_graficos_1mas2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 la izquierda y dicotómicas a la derecha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larga primero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«graficos_3_1mas2»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14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ancho arriba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56000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p_slide_3_graficos_1arriba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arriba y dos dicotómicas abajo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pregunta general y dos de detalle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«graficos_3_1arriba»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144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15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1756105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3647" y="2263140"/>
            <a:ext cx="1756105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63647" y="319582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648352" y="2263140"/>
            <a:ext cx="1756105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48352" y="319582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p_slide_3_graficos_fila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del mismo tipo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variables de perfil, o una comparación entre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«graficos_3_fila»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146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16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56000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6000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p_slide_4_graficos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y dicotómicas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variables de perfil del mismo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«4_paneles» de la plantilla. Medidas del gráfico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147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17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Población, 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56000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p_slide_2_graficos_poblacion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 y edad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mínimo de un público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«poblacion_2» de la plantilla. Medidas del gráfico en pulgadas. La escala compara su ancho con el de la lámina estándar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18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Población, tres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1756105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3647" y="2263140"/>
            <a:ext cx="1756105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63647" y="319582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648352" y="2263140"/>
            <a:ext cx="1756105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48352" y="319582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un público en tres variables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152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19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en tira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6400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46430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994660"/>
            <a:ext cx="5725516" cy="6400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319582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8942" y="3726180"/>
            <a:ext cx="5725516" cy="6400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392734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p_slide_3_graficos_poblacion_tira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un tercio de alto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preguntas de sí o no del mismo público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«poblacion_3_tira»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153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20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en corona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56000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p_slide_3_graficos_poblacion_corona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Dicotómica, barras y rango de edad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con una variable más larga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«poblacion_3_corona»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21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con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1371600" cy="2103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35708" y="2263140"/>
            <a:ext cx="2011680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35708" y="2647188"/>
            <a:ext cx="20116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5708" y="3360420"/>
            <a:ext cx="2011680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235708" y="3744468"/>
            <a:ext cx="20116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3128" y="2263140"/>
            <a:ext cx="195133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3128" y="3195828"/>
            <a:ext cx="195133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 × 4.6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p_slide_3_graficos_poblacion_cifras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dicotómicas y barras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tamaño de la muestra y la edad se dicen en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«poblacion_3_cifras» de la plantilla. Medidas del gráfico en pulgadas. La escala compara su ancho con el de la lámina estándar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157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22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Población, 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56000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6000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p_slide_4_graficos_poblacion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cortas, dicotómicas y tablas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completo o bases chicas en paneles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«poblacion_4» de la plantilla. Medidas del gráfico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159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23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Población, cinco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63647" y="264718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48352" y="264718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8942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56000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p_slide_5_graficos_poblacion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arriba, barras abajo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o del docente en una lámina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«poblacion_5» de la plantilla. Medidas del gráfico en pulgadas. La escala compara su ancho con el de la lámina estándar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160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24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Población, 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63647" y="264718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48352" y="264718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942" y="336042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8942" y="374446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3647" y="336042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63647" y="374446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48352" y="336042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648352" y="374446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p_slide_6_graficos_poblacion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de pocas categorías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máximo de gráficos en una lámina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«poblacion_6» de la plantilla. Medidas del gráfico en pulgadas. La escala compara su ancho con el de la lámina estándar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162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25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548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903220"/>
            <a:ext cx="2748458" cy="14630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35158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56000" y="2903220"/>
            <a:ext cx="2748458" cy="14630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56000" y="35158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p_slide_cifras_y_graficos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escalas y barras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Abrir un capítulo o resumir el estudio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«cifras_y_graficos» de la plantilla. Medidas del gráfico en pulgadas. La escala compara su ancho con el de la lámina estándar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164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26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184148" y="2697480"/>
            <a:ext cx="4617720" cy="64008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57300" y="2788920"/>
            <a:ext cx="447141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57300" y="2980944"/>
            <a:ext cx="4024274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257300" y="3172968"/>
            <a:ext cx="4247845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7300" y="3364992"/>
            <a:ext cx="268285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p_slide_portada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encargo y fecha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primera lámina de todo informe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«Title Slide» de la plantilla. Medidas del gráfico en pulgadas. La escala compara su ancho con el de la lámina estándar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27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78942" y="2103120"/>
            <a:ext cx="320040" cy="3200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2560320"/>
            <a:ext cx="5725516" cy="91440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52094" y="265176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094" y="284378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3035808"/>
            <a:ext cx="5300251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3227832"/>
            <a:ext cx="3347527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3794760"/>
            <a:ext cx="5725516" cy="548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p_slide_objetivo_icono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del objetivo y actores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la portada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«General Objective» de la plantilla. Medidas del gráfico en pulgadas. La escala compara su ancho con el de la lámina estándar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171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28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35458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54660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2094" y="2738628"/>
            <a:ext cx="5300251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" y="2930652"/>
            <a:ext cx="3347527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p_slide_tabla_tecnica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con íconos y cifras de muestra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Metodología: tipo, universo, muestra y trabajo de campo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gráfico en pulgadas. La escala compara su ancho con el de la lámina estándar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29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36576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35458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54660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2788920"/>
            <a:ext cx="3886200" cy="6400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8942" y="2990088"/>
            <a:ext cx="38862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8.5 × 1.4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253228" y="2697480"/>
            <a:ext cx="1097280" cy="7315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p_slide_top_two_box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de ejemplo y su suma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el 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173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30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32004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35458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54660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2697480"/>
            <a:ext cx="5725516" cy="146304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" y="278892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2094" y="298094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2094" y="3172968"/>
            <a:ext cx="5300251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2094" y="3364992"/>
            <a:ext cx="3347527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p_slide_redondeo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del ejemplo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el informe: por qué una suma da 99 o 101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gráfico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174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31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508760"/>
            <a:ext cx="2834640" cy="3429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38728" y="2263140"/>
            <a:ext cx="2865730" cy="21031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0" y="2354580"/>
            <a:ext cx="271942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0" y="2546604"/>
            <a:ext cx="244748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0" y="2738628"/>
            <a:ext cx="2583454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0" y="2930652"/>
            <a:ext cx="1631655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p_slide_indice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 a 13 capítulos, con o sin subcapítulos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la metodología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«Indice» de la plantilla. Medidas del gráfico en pulgadas. La escala compara su ancho con el de la lámina estándar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175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32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 de 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95628" y="3246120"/>
            <a:ext cx="4480560" cy="7315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68780" y="3337560"/>
            <a:ext cx="433425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68780" y="3529584"/>
            <a:ext cx="390083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68780" y="3721608"/>
            <a:ext cx="411754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68780" y="3913632"/>
            <a:ext cx="2600554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p_slide_seccion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Número, título y subtítulo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inicio de cada capítulo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«Section Header» de la plantilla. Medidas del gráfico en pulgadas. La escala compara su ancho con el de la lámina estándar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 (1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291758" cy="18516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0398" y="1584061"/>
            <a:ext cx="22860" cy="1357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4838" y="1621094"/>
            <a:ext cx="1110996" cy="3950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74838" y="3219694"/>
            <a:ext cx="864108" cy="172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4838" y="1916125"/>
            <a:ext cx="3091778" cy="29626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838" y="2397557"/>
            <a:ext cx="3091778" cy="59253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97580"/>
            <a:ext cx="3474638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y su subpregunta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817620"/>
            <a:ext cx="3474638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respuesta «Sí» abre la subpregunta con una llave. La subpregunta declara su base.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32265" y="1508760"/>
            <a:ext cx="3291758" cy="18516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10034" y="1584061"/>
            <a:ext cx="22860" cy="1357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54474" y="1621094"/>
            <a:ext cx="1110996" cy="3950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54474" y="3219694"/>
            <a:ext cx="864108" cy="172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654474" y="1916125"/>
            <a:ext cx="1950415" cy="1135685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17224" y="1916125"/>
            <a:ext cx="1029029" cy="1135685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40825" y="3497580"/>
            <a:ext cx="3474638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y ranking de mejoras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40825" y="3817620"/>
            <a:ext cx="3474638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escala muestra cómo se evalúa y el ranking qué pedirían cambiar. Se leen de izquierda a derecha.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11901" y="1508760"/>
            <a:ext cx="3291758" cy="18516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689671" y="1584061"/>
            <a:ext cx="22860" cy="1357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4111" y="1621094"/>
            <a:ext cx="1110996" cy="3950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34111" y="3219694"/>
            <a:ext cx="864108" cy="172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4111" y="1916125"/>
            <a:ext cx="740664" cy="1135685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74765" y="1916125"/>
            <a:ext cx="2251125" cy="54315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74765" y="2508656"/>
            <a:ext cx="2251125" cy="54315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20461" y="3497580"/>
            <a:ext cx="3474638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y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20461" y="3817620"/>
            <a:ext cx="3474638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dicen cuántos y qué edad. Los gráficos, la composición del público.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este capítulo y en el capítulo 4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 (2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291758" cy="18516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0398" y="1584061"/>
            <a:ext cx="22860" cy="1357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4838" y="1621094"/>
            <a:ext cx="1110996" cy="3950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74838" y="3219694"/>
            <a:ext cx="864108" cy="172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4838" y="1916125"/>
            <a:ext cx="1481328" cy="1135685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7990" y="2007565"/>
            <a:ext cx="1335024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7990" y="2111258"/>
            <a:ext cx="1201522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7990" y="2214951"/>
            <a:ext cx="1268273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7990" y="2318644"/>
            <a:ext cx="801014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56155" y="1916125"/>
            <a:ext cx="1510461" cy="1135685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3497580"/>
            <a:ext cx="3474638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letras y diferencias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3817620"/>
            <a:ext cx="3474638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tabla da las cifras y las letras. Los paneles dibujan cada diferencia con su intervalo.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2265" y="1508760"/>
            <a:ext cx="3291758" cy="18516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10034" y="1584061"/>
            <a:ext cx="22860" cy="1357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474" y="1621094"/>
            <a:ext cx="1110996" cy="3950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654474" y="3219694"/>
            <a:ext cx="864108" cy="172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54474" y="1916125"/>
            <a:ext cx="1826971" cy="1135685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93780" y="1916125"/>
            <a:ext cx="1152473" cy="1135685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666932" y="2007565"/>
            <a:ext cx="1006169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66932" y="2111258"/>
            <a:ext cx="905552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66932" y="2214951"/>
            <a:ext cx="955861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66932" y="2318644"/>
            <a:ext cx="603702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40825" y="3497580"/>
            <a:ext cx="3474638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y tabla de cobertura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40825" y="3817620"/>
            <a:ext cx="3474638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mapa ubica las zonas aplicadas. La tabla da cuántas por distrito.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11901" y="1508760"/>
            <a:ext cx="3291758" cy="18516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89671" y="1584061"/>
            <a:ext cx="22860" cy="1357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34111" y="1621094"/>
            <a:ext cx="1110996" cy="3950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34111" y="3219694"/>
            <a:ext cx="864108" cy="172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34111" y="1916125"/>
            <a:ext cx="2123237" cy="1135685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2026" y="2051914"/>
            <a:ext cx="843863" cy="3950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20461" y="3497580"/>
            <a:ext cx="3474638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y cifra del cambio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20461" y="3817620"/>
            <a:ext cx="3474638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serie muestra la evolución. La cifra resume cuánto cambió desde la primera medición.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este capítulo y en el capítulo 4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179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 recibida,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 siento satisfecho con la formación recibida en la carrera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8638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programa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3055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05556" y="2130552"/>
            <a:ext cx="39940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36231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5117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05556" y="2551176"/>
            <a:ext cx="386242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455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97180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05556" y="2971800"/>
            <a:ext cx="377464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116775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9242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05556" y="3392424"/>
            <a:ext cx="3686861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8993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813048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05556" y="3813048"/>
            <a:ext cx="355518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7319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05556" y="4233672"/>
            <a:ext cx="346740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809537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5429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05556" y="4654296"/>
            <a:ext cx="337962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21754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07492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05556" y="5074920"/>
            <a:ext cx="324794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0081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9554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05556" y="5495544"/>
            <a:ext cx="31601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02298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82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910828" y="1783080"/>
            <a:ext cx="2992831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10828" y="2377440"/>
            <a:ext cx="29928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satisfacción en los nueve programas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0828" y="2834640"/>
            <a:ext cx="299283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 ponderado por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02268" y="320040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03436" y="3154680"/>
            <a:ext cx="2700223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distancia entre el programa más alto y el más bajo es de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puntos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Cada programa es una base del estudio.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entre 48 y 140 egresados por programa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227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dimensiones de la formación,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22035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 práctica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62009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el medio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9738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0614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870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4779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2035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089441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62009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057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06140" y="2240280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7870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7790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035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89441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62009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68376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06140" y="2633472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7870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47790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035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89441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62009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07695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406140" y="3026664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37870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47790" y="3026664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2035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89441" y="302666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62009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470148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406140" y="3419856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7870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47790" y="3419856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2035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89441" y="3419856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62009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386334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0614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7870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4779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2035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89441" y="3813048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62009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425653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06140" y="420624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7870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7790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2035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89441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62009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64972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06140" y="459943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7870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47790" y="4599432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2035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9441" y="4599432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62009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1188" y="504291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40614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7870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4779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2035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9441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62009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5814" y="542239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83274" y="545896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241642" y="545896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0010" y="545896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558378" y="545896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216746" y="545896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6323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21602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79970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238338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96706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55507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 promedio de los ítems de cada dimensión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228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en el gobierno local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23946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406826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38499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15386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último año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8144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2697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en su barrio de noche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69584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39 %, hombres 55 %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2341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15221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46895" y="1914754"/>
            <a:ext cx="285293" cy="28529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223781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23781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hizo un trámite por internet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23781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últimos seis meses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cifras son el punto de partida. La próxima medición se compara contra ellas con la misma pregunta y la misma escala.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1,200 entrevistas, muestra probabilística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230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principal de la asistencia en efectivo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usó la asistencia que recibió?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640 hogares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203704"/>
            <a:ext cx="355274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4801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 de vivienda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2752344"/>
            <a:ext cx="234939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51450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medicinas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300984"/>
            <a:ext cx="131795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20007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3849624"/>
            <a:ext cx="8595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61588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Pago de deudas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4398264"/>
            <a:ext cx="6876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89681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5476" y="4946904"/>
            <a:ext cx="3438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4586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de cada diez hogares usaron la asistencia en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cuatro de cada diez en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640 hogares. Opción múltiple: los porcentajes suman más de 100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241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entrega, por modalidad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la forma en que recibió la asistencia?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9202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2984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482596"/>
            <a:ext cx="258857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6356" y="2482596"/>
            <a:ext cx="5991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24049" y="25374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822" y="2482596"/>
            <a:ext cx="40868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41822" y="2537460"/>
            <a:ext cx="40831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25021" y="2482596"/>
            <a:ext cx="34063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25021" y="2537460"/>
            <a:ext cx="3402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27686" y="248259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13270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26148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7266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40944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5374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30708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Retiro en agencia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91156" y="3259836"/>
            <a:ext cx="6841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91156" y="3314700"/>
            <a:ext cx="6805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1689" y="3259836"/>
            <a:ext cx="1279657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71689" y="3314700"/>
            <a:ext cx="12759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47689" y="3259836"/>
            <a:ext cx="43420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47689" y="3314700"/>
            <a:ext cx="43383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86087" y="3259836"/>
            <a:ext cx="2045257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86087" y="3314700"/>
            <a:ext cx="2041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27686" y="325983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07266" y="31958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88091" y="318668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95483" y="29672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989259" y="33147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08432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prepagada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91156" y="4037076"/>
            <a:ext cx="4289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83783" y="40919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16489" y="4037076"/>
            <a:ext cx="939391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16489" y="4091940"/>
            <a:ext cx="9357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52222" y="4037076"/>
            <a:ext cx="4256989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52222" y="4091940"/>
            <a:ext cx="42533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05554" y="4037076"/>
            <a:ext cx="26407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05554" y="4091940"/>
            <a:ext cx="2637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642619" y="4037076"/>
            <a:ext cx="255200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64733" y="3973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77611" y="3744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40919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5288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95016" y="480060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47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26204" y="480060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17464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27192" y="480060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16852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126580" y="480060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521040" y="486460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30768" y="4800600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310, 190 y 140 hogares por modalidad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242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frente a las previstas,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7099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89620" y="17099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de 24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2585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12948" y="2240280"/>
            <a:ext cx="395020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12948" y="2240280"/>
            <a:ext cx="373075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72884" y="22585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de 18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80720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12948" y="2788920"/>
            <a:ext cx="658368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12948" y="2788920"/>
            <a:ext cx="592531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06356" y="280720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30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35584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756148" y="335584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90448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012948" y="3886200"/>
            <a:ext cx="219456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12948" y="3886200"/>
            <a:ext cx="1975104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317236" y="390448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4531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12948" y="4434840"/>
            <a:ext cx="175564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12948" y="4434840"/>
            <a:ext cx="1316736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78324" y="44531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0017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95060" y="50017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93566" y="57332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03294" y="5669280"/>
            <a:ext cx="1671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completa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6054" y="57332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75782" y="5669280"/>
            <a:ext cx="1912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con faltantes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79842" y="5733288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9570" y="566928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Previstas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109 aulas aplicadas de 116 previstas en la muestra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245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año, por sexo y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en azul oscuro, hombres en azul claro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8541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22676" y="2478024"/>
            <a:ext cx="3100493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9745" y="242316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167128"/>
            <a:ext cx="620098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0237" y="2167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576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3008376"/>
            <a:ext cx="2447757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607009" y="29535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22676" y="2697480"/>
            <a:ext cx="53850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44318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461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538728"/>
            <a:ext cx="1958206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17458" y="348386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227832"/>
            <a:ext cx="424277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02031" y="3227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7647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69080"/>
            <a:ext cx="228457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443826" y="401421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22676" y="3758184"/>
            <a:ext cx="47323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1583" y="37581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30682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4599432"/>
            <a:ext cx="1631838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91090" y="454456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288536"/>
            <a:ext cx="39164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75664" y="42885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371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129784"/>
            <a:ext cx="2774125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377" y="507492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22676" y="4818888"/>
            <a:ext cx="50586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1795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6752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22676" y="5660136"/>
            <a:ext cx="146865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627906" y="560527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22676" y="5349240"/>
            <a:ext cx="34268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86112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160620" y="60076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70348" y="5943600"/>
            <a:ext cx="83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94908" y="60076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4636" y="594360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1,855 estudiantes encuestados en aula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246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Igualdad de oportunidades en la organización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 y mujeres tienen las mismas oportunidades de ascenso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6459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939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130552"/>
            <a:ext cx="536003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71529" y="20939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57741" y="2130552"/>
            <a:ext cx="1955591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57741" y="2093976"/>
            <a:ext cx="19519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09674" y="2130552"/>
            <a:ext cx="4173697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09674" y="2093976"/>
            <a:ext cx="4170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79713" y="2130552"/>
            <a:ext cx="1955591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79713" y="2093976"/>
            <a:ext cx="19519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31647" y="2130552"/>
            <a:ext cx="266173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9246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72125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89259" y="209397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53288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25396" y="2569464"/>
            <a:ext cx="92382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114120" y="2569464"/>
            <a:ext cx="536003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60253" y="25328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46466" y="2569464"/>
            <a:ext cx="3996248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646466" y="2532888"/>
            <a:ext cx="399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39056" y="2569464"/>
            <a:ext cx="4173697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9056" y="2532888"/>
            <a:ext cx="4170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809095" y="256946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064272" y="25054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77150" y="22768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47971" y="25054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249631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22768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253288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27889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procesos de selección son transparentes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4939" y="297180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41985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3456432"/>
            <a:ext cx="713451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5396" y="3419856"/>
            <a:ext cx="7097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35190" y="3456432"/>
            <a:ext cx="2221763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35190" y="3419856"/>
            <a:ext cx="2218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53296" y="3456432"/>
            <a:ext cx="3907524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53296" y="3419856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57162" y="3456432"/>
            <a:ext cx="1600694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857162" y="341985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54198" y="3456432"/>
            <a:ext cx="443621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355969" y="341985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341985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858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025396" y="3895344"/>
            <a:ext cx="181106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202844" y="3895344"/>
            <a:ext cx="802176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202844" y="3858768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001363" y="3895344"/>
            <a:ext cx="4439869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1363" y="3858768"/>
            <a:ext cx="4436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37574" y="3895344"/>
            <a:ext cx="3375178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37574" y="3858768"/>
            <a:ext cx="33715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809095" y="389534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108634" y="38313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821512" y="36027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47971" y="38313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382219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36027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38587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411480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puede conciliar el trabajo con la vida familiar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14939" y="42976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74573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782312"/>
            <a:ext cx="447279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927167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469017" y="4782312"/>
            <a:ext cx="1600694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469017" y="474573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066053" y="4782312"/>
            <a:ext cx="4617318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66053" y="4745736"/>
            <a:ext cx="46136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9713" y="4782312"/>
            <a:ext cx="2044315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679713" y="474573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20371" y="4782312"/>
            <a:ext cx="177448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803609" y="47183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88091" y="470916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95483" y="44897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89259" y="474573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518464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5221224"/>
            <a:ext cx="181106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02844" y="5221224"/>
            <a:ext cx="890900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02844" y="5184648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090087" y="5221224"/>
            <a:ext cx="4706042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090087" y="5184648"/>
            <a:ext cx="470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92471" y="5221224"/>
            <a:ext cx="3020281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792471" y="5184648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09095" y="522122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08634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21512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847971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788091" y="514807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95483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989259" y="51846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2963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23936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46626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56354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9762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859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64502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374230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32749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43721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 y 38 directivos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248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trabajadores y directivos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17210" y="152704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726938" y="1463040"/>
            <a:ext cx="1201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979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29526" y="146304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 de ascenso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127748" y="2116836"/>
            <a:ext cx="210312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7164" y="204825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30284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7794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40596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11028" y="201168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64261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transparente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87668" y="2756916"/>
            <a:ext cx="237744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87084" y="268833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452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37860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483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65176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puntos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328269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Conciliación familiar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76388" y="3396996"/>
            <a:ext cx="109728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75804" y="332841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73084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6580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83396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29184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1188" y="39227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respetuoso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25028" y="4037076"/>
            <a:ext cx="82296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124444" y="396849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7404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75220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5771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511028" y="393192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56285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 de denuncias conocido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41748" y="4677156"/>
            <a:ext cx="320040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41164" y="460857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41564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91940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15187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511028" y="457200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Box. Base: 420 trabajadores y 38 directivos. Los directivos tienen menos de 30 casos por cargo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249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Políticas que conocen los trabajadores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¿Cuáles de estas políticas conoce?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420 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Horario flexible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203704"/>
            <a:ext cx="3333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1001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Licencia por paternidad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2752344"/>
            <a:ext cx="264392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20294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3300984"/>
            <a:ext cx="22415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17958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Lactario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3849624"/>
            <a:ext cx="18967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73099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39796" y="4398264"/>
            <a:ext cx="15518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823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39796" y="4946904"/>
            <a:ext cx="68971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6609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1031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194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conoce menos de la mitad del personal, aunque está vigente.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trabajadores. Opción múltiple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250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indicadores antes y después de la intervención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915660" y="1527048"/>
            <a:ext cx="137160" cy="13716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025388" y="1463040"/>
            <a:ext cx="668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484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94576" y="1463040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7426" y="2116836"/>
            <a:ext cx="16596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36842" y="204825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96478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7618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0679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6426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02352" y="275691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268833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421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2544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9452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2826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3922" y="3396996"/>
            <a:ext cx="45262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33338" y="332841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85966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84114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6278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9227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81294" y="403707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80710" y="396849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63156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148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7346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628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04104" y="4677156"/>
            <a:ext cx="15087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03520" y="460857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54396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65429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664708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300 participantes antes y 285 después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252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cambió cada indicador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4468" y="1783080"/>
            <a:ext cx="5303520" cy="32004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4081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2442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62118" y="1783080"/>
            <a:ext cx="16459" cy="320040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257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7618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1845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0206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4433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2794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302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después menos 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19568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40693" y="2075688"/>
            <a:ext cx="208086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04988" y="202082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22308" y="196596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 puntos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648188" y="196596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5968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92022" y="2715768"/>
            <a:ext cx="1862874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42048" y="266090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22308" y="260604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48188" y="260604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2369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29001" y="3355848"/>
            <a:ext cx="204914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83580" y="33009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22308" y="324612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+6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48188" y="324612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1188" y="38770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80214" y="3995928"/>
            <a:ext cx="2016636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42048" y="394106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322308" y="388620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648188" y="388620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171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15400" y="4636008"/>
            <a:ext cx="18053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53228" y="458114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22308" y="452628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puntos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48188" y="452628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La barra es el intervalo de 95 % del cambio (Newcombe): si no cruza el cero, el cambio es significativo (α = 0.05)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253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de la evaluación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mejoraron de forma significativa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derechos laborales, plan de negocio y servicios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38472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 conocimiento de derechos laborales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mayor cambio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92642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285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participantes en la medición posterior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 de la línea base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ahorro y la participación en redes de apoyo no cambiaron de forma significativa en el periodo evaluado.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Medición antes y después con la misma encuesta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254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portadas, índices, separadores y cierres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 y tipografía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Portada, objetivo y ficha técnica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portada y sus alternativas, el objetivo y la ficha técnica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en cinco situaciones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 y subcapítulos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contraportada y sus alternativas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sobre la lámina estándar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Categorías, dicotómicas, partes de un todo y rankings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apiladas con Top Two Box y Bottom Two Box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Números y distribuciones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Histogramas, promedios, cajas y rangos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Comparaciones y series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brechas y mediciones en el tiempo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Radares y dimensiones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Índices, mapas de calor y peso de cada aspecto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Palabras, frases y temas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cartografía del estudio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técnica, estándar y para público general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combinan los gráficos en una lámina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32 tipos de lámina del motor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o sin texto al lado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columnas, apilados, con texto o con uno principal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y 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Filas, columnas y combinaciones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apertura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Portada, objetivo, ficha técnica, lectura, índice y separador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se leen bien juntos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Actores, filtros y bases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públicos, subpreguntas, cohortes y bases chicas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redacciones, «Otros», ítems largos y láminas mixtas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estudios más frecuentes, de principio a fin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 de un proceso de acreditación, con uno o varios programas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partida, escalas de 1 a 10, cruces y olas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territorial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UMP, zonas y manzanas de intervención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Uso, satisfacción e indicadores frente a su meta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y prevalencias por facultad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 y directivos de una misma organización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Cambio de los indicadores y su significancia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diagramas, con su forma de uso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 temáticas y cómo se usan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notas y franjas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diagramas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Conectores, llaves, formas y procesos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2026-10-08T10:14:14Z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