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3" r:id="rId245"/>
    <p:sldId id="494" r:id="rId246"/>
    <p:sldId id="433" r:id="rId185"/>
    <p:sldId id="434" r:id="rId18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5" r:id="rId247"/>
    <p:sldId id="267" r:id="rId19"/>
    <p:sldId id="435" r:id="rId187"/>
    <p:sldId id="436" r:id="rId188"/>
    <p:sldId id="437" r:id="rId189"/>
    <p:sldId id="268" r:id="rId20"/>
    <p:sldId id="438" r:id="rId190"/>
    <p:sldId id="439" r:id="rId191"/>
    <p:sldId id="269" r:id="rId21"/>
    <p:sldId id="496" r:id="rId248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7" r:id="rId249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8" r:id="rId250"/>
    <p:sldId id="429" r:id="rId181"/>
    <p:sldId id="430" r:id="rId182"/>
    <p:sldId id="431" r:id="rId183"/>
    <p:sldId id="432" r:id="rId184"/>
    <p:sldId id="530" r:id="rId282"/>
    <p:sldId id="499" r:id="rId251"/>
    <p:sldId id="500" r:id="rId252"/>
    <p:sldId id="314" r:id="rId66"/>
    <p:sldId id="315" r:id="rId67"/>
    <p:sldId id="316" r:id="rId68"/>
    <p:sldId id="317" r:id="rId69"/>
    <p:sldId id="318" r:id="rId70"/>
    <p:sldId id="319" r:id="rId71"/>
    <p:sldId id="441" r:id="rId193"/>
    <p:sldId id="501" r:id="rId253"/>
    <p:sldId id="363" r:id="rId115"/>
    <p:sldId id="378" r:id="rId130"/>
    <p:sldId id="502" r:id="rId254"/>
    <p:sldId id="440" r:id="rId192"/>
    <p:sldId id="320" r:id="rId72"/>
    <p:sldId id="321" r:id="rId73"/>
    <p:sldId id="322" r:id="rId74"/>
    <p:sldId id="503" r:id="rId255"/>
    <p:sldId id="323" r:id="rId75"/>
    <p:sldId id="324" r:id="rId76"/>
    <p:sldId id="325" r:id="rId77"/>
    <p:sldId id="326" r:id="rId78"/>
    <p:sldId id="504" r:id="rId256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5" r:id="rId257"/>
    <p:sldId id="442" r:id="rId194"/>
    <p:sldId id="334" r:id="rId86"/>
    <p:sldId id="335" r:id="rId87"/>
    <p:sldId id="336" r:id="rId88"/>
    <p:sldId id="506" r:id="rId258"/>
    <p:sldId id="337" r:id="rId89"/>
    <p:sldId id="507" r:id="rId25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8" r:id="rId260"/>
    <p:sldId id="509" r:id="rId261"/>
    <p:sldId id="443" r:id="rId195"/>
    <p:sldId id="444" r:id="rId196"/>
    <p:sldId id="445" r:id="rId197"/>
    <p:sldId id="510" r:id="rId262"/>
    <p:sldId id="446" r:id="rId198"/>
    <p:sldId id="447" r:id="rId199"/>
    <p:sldId id="371" r:id="rId123"/>
    <p:sldId id="448" r:id="rId200"/>
    <p:sldId id="292" r:id="rId44"/>
    <p:sldId id="449" r:id="rId201"/>
    <p:sldId id="293" r:id="rId45"/>
    <p:sldId id="450" r:id="rId202"/>
    <p:sldId id="511" r:id="rId263"/>
    <p:sldId id="451" r:id="rId203"/>
    <p:sldId id="290" r:id="rId42"/>
    <p:sldId id="452" r:id="rId204"/>
    <p:sldId id="291" r:id="rId43"/>
    <p:sldId id="453" r:id="rId205"/>
    <p:sldId id="294" r:id="rId46"/>
    <p:sldId id="454" r:id="rId206"/>
    <p:sldId id="295" r:id="rId47"/>
    <p:sldId id="455" r:id="rId207"/>
    <p:sldId id="296" r:id="rId48"/>
    <p:sldId id="456" r:id="rId208"/>
    <p:sldId id="297" r:id="rId49"/>
    <p:sldId id="512" r:id="rId264"/>
    <p:sldId id="457" r:id="rId209"/>
    <p:sldId id="298" r:id="rId50"/>
    <p:sldId id="458" r:id="rId210"/>
    <p:sldId id="299" r:id="rId51"/>
    <p:sldId id="368" r:id="rId120"/>
    <p:sldId id="459" r:id="rId211"/>
    <p:sldId id="300" r:id="rId52"/>
    <p:sldId id="460" r:id="rId212"/>
    <p:sldId id="461" r:id="rId213"/>
    <p:sldId id="301" r:id="rId53"/>
    <p:sldId id="513" r:id="rId265"/>
    <p:sldId id="462" r:id="rId214"/>
    <p:sldId id="302" r:id="rId54"/>
    <p:sldId id="463" r:id="rId215"/>
    <p:sldId id="464" r:id="rId216"/>
    <p:sldId id="303" r:id="rId55"/>
    <p:sldId id="465" r:id="rId217"/>
    <p:sldId id="304" r:id="rId56"/>
    <p:sldId id="466" r:id="rId218"/>
    <p:sldId id="310" r:id="rId62"/>
    <p:sldId id="467" r:id="rId219"/>
    <p:sldId id="468" r:id="rId220"/>
    <p:sldId id="311" r:id="rId63"/>
    <p:sldId id="469" r:id="rId221"/>
    <p:sldId id="312" r:id="rId64"/>
    <p:sldId id="470" r:id="rId222"/>
    <p:sldId id="313" r:id="rId65"/>
    <p:sldId id="307" r:id="rId59"/>
    <p:sldId id="308" r:id="rId60"/>
    <p:sldId id="309" r:id="rId61"/>
    <p:sldId id="514" r:id="rId266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515" r:id="rId267"/>
    <p:sldId id="478" r:id="rId230"/>
    <p:sldId id="479" r:id="rId231"/>
    <p:sldId id="516" r:id="rId268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7" r:id="rId269"/>
    <p:sldId id="364" r:id="rId116"/>
    <p:sldId id="365" r:id="rId117"/>
    <p:sldId id="366" r:id="rId118"/>
    <p:sldId id="367" r:id="rId119"/>
    <p:sldId id="369" r:id="rId121"/>
    <p:sldId id="370" r:id="rId122"/>
    <p:sldId id="372" r:id="rId124"/>
    <p:sldId id="373" r:id="rId125"/>
    <p:sldId id="374" r:id="rId126"/>
    <p:sldId id="375" r:id="rId127"/>
    <p:sldId id="376" r:id="rId128"/>
    <p:sldId id="377" r:id="rId129"/>
    <p:sldId id="518" r:id="rId270"/>
    <p:sldId id="519" r:id="rId27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0" r:id="rId232"/>
    <p:sldId id="481" r:id="rId233"/>
    <p:sldId id="520" r:id="rId272"/>
    <p:sldId id="482" r:id="rId234"/>
    <p:sldId id="379" r:id="rId131"/>
    <p:sldId id="380" r:id="rId132"/>
    <p:sldId id="384" r:id="rId136"/>
    <p:sldId id="521" r:id="rId273"/>
    <p:sldId id="338" r:id="rId90"/>
    <p:sldId id="339" r:id="rId91"/>
    <p:sldId id="340" r:id="rId92"/>
    <p:sldId id="381" r:id="rId133"/>
    <p:sldId id="522" r:id="rId274"/>
    <p:sldId id="382" r:id="rId134"/>
    <p:sldId id="483" r:id="rId235"/>
    <p:sldId id="484" r:id="rId236"/>
    <p:sldId id="523" r:id="rId275"/>
    <p:sldId id="383" r:id="rId135"/>
    <p:sldId id="485" r:id="rId237"/>
    <p:sldId id="486" r:id="rId238"/>
    <p:sldId id="524" r:id="rId276"/>
    <p:sldId id="487" r:id="rId239"/>
    <p:sldId id="488" r:id="rId240"/>
    <p:sldId id="489" r:id="rId241"/>
    <p:sldId id="525" r:id="rId277"/>
    <p:sldId id="490" r:id="rId242"/>
    <p:sldId id="491" r:id="rId243"/>
    <p:sldId id="492" r:id="rId244"/>
    <p:sldId id="526" r:id="rId278"/>
    <p:sldId id="527" r:id="rId279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8" r:id="rId280"/>
    <p:sldId id="392" r:id="rId144"/>
    <p:sldId id="393" r:id="rId145"/>
    <p:sldId id="394" r:id="rId146"/>
    <p:sldId id="395" r:id="rId147"/>
    <p:sldId id="529" r:id="rId281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Relationship Id="rId282" Type="http://schemas.openxmlformats.org/officeDocument/2006/relationships/slide" Target="slides/slide27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0a612b3682ee11c87b598c5775958c15170a7d6f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y cuatro gráficos, Población y cifras, Láminas de apertura,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6771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16836" y="2276856"/>
            <a:ext cx="27797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3157" y="2267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71216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116836" y="2880360"/>
            <a:ext cx="23520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5504" y="28712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3483864"/>
            <a:ext cx="4276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29943" y="34747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07822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16836" y="4087368"/>
            <a:ext cx="406270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16116" y="4078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68172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16836" y="4690872"/>
            <a:ext cx="449035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643769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28523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5294376"/>
            <a:ext cx="3635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88463" y="52852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21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5028" y="1508760"/>
            <a:ext cx="3678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25028" y="192024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192024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a 0.36 in del borde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25028" y="235000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2348" y="235000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sobre el título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25028" y="277977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42348" y="277977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inicio de la zona de datos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25028" y="320954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42348" y="320954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25028" y="3639312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42348" y="3639312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12 pt si va fuera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25028" y="406908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06908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 con hasta 6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25028" y="449884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42348" y="449884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en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25028" y="492861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42348" y="492861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a 6.88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25028" y="535838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Márgenes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42348" y="535838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 a cada lado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estudiantes. Todos los gráficos del capítulo 2 usan esta lámina y estas medidas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777240" y="2148840"/>
            <a:ext cx="54864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05840" y="210312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05840" y="2468880"/>
            <a:ext cx="78638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05840" y="3749040"/>
            <a:ext cx="7863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Contables. 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6596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31720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3727938"/>
            <a:ext cx="2743200" cy="3130062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291840" y="219456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560320"/>
            <a:ext cx="822960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83280" y="3886200"/>
            <a:ext cx="1005840" cy="457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4069080"/>
            <a:ext cx="82296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Contables. Setiembre de 2026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(1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673809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728874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28874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1776" y="1712671"/>
            <a:ext cx="686769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14928" y="1804111"/>
            <a:ext cx="54046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14928" y="1869399"/>
            <a:ext cx="48641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14928" y="1934688"/>
            <a:ext cx="5134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14928" y="1999976"/>
            <a:ext cx="32427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1712671"/>
            <a:ext cx="652882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04111"/>
            <a:ext cx="5065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869399"/>
            <a:ext cx="4559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1170" y="1934688"/>
            <a:ext cx="4812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81170" y="1999976"/>
            <a:ext cx="303947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223717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2727" y="3445734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2727" y="3511022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81870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5022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5022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3262579"/>
            <a:ext cx="54406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81170" y="3354019"/>
            <a:ext cx="39776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3419307"/>
            <a:ext cx="35798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3484596"/>
            <a:ext cx="37787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3549884"/>
            <a:ext cx="23865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90522" y="4812487"/>
            <a:ext cx="58572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963674" y="4903927"/>
            <a:ext cx="43942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963674" y="4969215"/>
            <a:ext cx="39548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034504"/>
            <a:ext cx="4174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099792"/>
            <a:ext cx="26365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(2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20217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20217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Cuatro gráficos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Población, dos 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557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305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053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Población, tres 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781870" y="3223717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81870" y="3472434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81870" y="3721151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Población en tira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908018" y="3223717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08018" y="3596792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920217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Población en corona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575" y="4773625"/>
            <a:ext cx="466344" cy="71506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Población con cifras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6557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6679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6557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679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Población, cuatro gráficos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7818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4566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314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818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7940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 Población, cinco gráficos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080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828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257617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9080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5828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257617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24. Población, seis gráficos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0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(3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25. Banda de cifras y dos 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7492" y="1821485"/>
            <a:ext cx="1570025" cy="21762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00644" y="1912925"/>
            <a:ext cx="142372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900644" y="1978213"/>
            <a:ext cx="12813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900644" y="2043501"/>
            <a:ext cx="135253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900644" y="2108789"/>
            <a:ext cx="854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26. Portada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1870" y="1619402"/>
            <a:ext cx="108814" cy="10881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774850"/>
            <a:ext cx="1946675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55022" y="1866290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55022" y="1931579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55022" y="1996867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55022" y="2062155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870" y="2194560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27. Objetivo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81170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81170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95826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961114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28. Ficha técnica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9575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402482"/>
            <a:ext cx="1321308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84832" y="3371393"/>
            <a:ext cx="373075" cy="2487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29. Top Two Box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55722" y="3223717"/>
            <a:ext cx="1946675" cy="10881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28874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28874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371393"/>
            <a:ext cx="1946675" cy="49743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8874" y="3462833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728874" y="3528121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8874" y="3593409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728874" y="3658697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30. Redondeo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04923" y="2967228"/>
            <a:ext cx="963778" cy="11658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54197" y="3223717"/>
            <a:ext cx="974348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27349" y="3315157"/>
            <a:ext cx="82804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27349" y="3380445"/>
            <a:ext cx="74524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27349" y="3445734"/>
            <a:ext cx="7866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27349" y="3511022"/>
            <a:ext cx="49682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31. Índice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19691" y="3557930"/>
            <a:ext cx="1523390" cy="24871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92843" y="3649370"/>
            <a:ext cx="137708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292843" y="3714659"/>
            <a:ext cx="12393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292843" y="3779947"/>
            <a:ext cx="1308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2843" y="3845235"/>
            <a:ext cx="82625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32. Separador de capítulo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474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84548" y="2377440"/>
            <a:ext cx="201991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7700" y="2468880"/>
            <a:ext cx="18736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7700" y="2660904"/>
            <a:ext cx="16862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7700" y="2852928"/>
            <a:ext cx="177992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7700" y="3044952"/>
            <a:ext cx="112416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92024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77393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59654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685239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106436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3195828"/>
            <a:ext cx="357439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60020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45389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3085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38120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872338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3195828"/>
            <a:ext cx="19202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70048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81728" y="2377440"/>
            <a:ext cx="172273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468880"/>
            <a:ext cx="1576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4187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52928"/>
            <a:ext cx="149760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044952"/>
            <a:ext cx="9458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611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p_slide_2_graficos_poblacion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 y edad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mínimo de un público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«poblacion_2»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tres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un público en tres variables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46430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92734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con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371600" cy="2103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35708" y="264718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35708" y="374446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3128" y="3195828"/>
            <a:ext cx="195133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p_slide_4_graficos_poblacion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cortas, dicotómicas y tablas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completo o bases chicas en paneles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«poblacion_4»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gráfico en pulgadas. La escala compara su ancho con el de la lámina estándar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63647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4835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gráfico en pulgadas. La escala compara su ancho con el de la lámina estándar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84148" y="2697480"/>
            <a:ext cx="4617720" cy="6400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7300" y="2788920"/>
            <a:ext cx="447141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57300" y="2980944"/>
            <a:ext cx="402427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257300" y="3172968"/>
            <a:ext cx="42478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7300" y="3364992"/>
            <a:ext cx="268285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p_slide_portada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encargo y fecha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primera lámina de todo informe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Slide»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942" y="2103120"/>
            <a:ext cx="320040" cy="3200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2560320"/>
            <a:ext cx="5725516" cy="9144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52094" y="265176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094" y="284378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303580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322783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9476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p_slide_objetivo_icono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del objetivo y actores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portada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«General Objective»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p_slide_tabla_tecnica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con íconos y cifras de muestra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Metodología: tipo, universo, muestra y trabajo de campo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788920"/>
            <a:ext cx="3886200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2990088"/>
            <a:ext cx="38862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1.4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2697480"/>
            <a:ext cx="1097280" cy="7315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p_slide_top_two_box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de ejemplo y su suma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20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463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78892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2094" y="298094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" y="317296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2094" y="336499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p_slide_redondeo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del ejemplo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informe: por qué una suma da 99 o 101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2834640" cy="3429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38728" y="2263140"/>
            <a:ext cx="2865730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0" y="2354580"/>
            <a:ext cx="2719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0" y="2546604"/>
            <a:ext cx="24474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0" y="2738628"/>
            <a:ext cx="25834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0" y="2930652"/>
            <a:ext cx="16316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p_slide_indice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 a 13 capítulos, con o sin subcapítulos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metodología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«Indice» de la plantilla. Medidas del gráfico en pulgadas. La escala compara su ancho con el de la lámina estándar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 de 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95628" y="3246120"/>
            <a:ext cx="4480560" cy="7315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68780" y="3337560"/>
            <a:ext cx="433425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68780" y="3529584"/>
            <a:ext cx="390083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68780" y="3721608"/>
            <a:ext cx="411754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68780" y="3913632"/>
            <a:ext cx="26005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p_slide_seccion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Número, título y subtítulo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inicio de cada capítulo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«Section Header»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3091778" cy="29626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838" y="2397557"/>
            <a:ext cx="3091778" cy="59253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«Sí» abre la subpregunta con una llave. La subpregunta declara su base.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654474" y="1916125"/>
            <a:ext cx="1950415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17224" y="1916125"/>
            <a:ext cx="1029029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 de mejoras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muestra cómo se evalúa y el ranking qué pedirían cambiar. Se leen de izquierda a derecha.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4111" y="1916125"/>
            <a:ext cx="740664" cy="113568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74765" y="1916125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74765" y="2508656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y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la composición del público.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1481328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7990" y="2007565"/>
            <a:ext cx="133502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7990" y="2111258"/>
            <a:ext cx="120152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7990" y="2214951"/>
            <a:ext cx="1268273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7990" y="2318644"/>
            <a:ext cx="80101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56155" y="1916125"/>
            <a:ext cx="151046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las cifras y las letras. Los paneles dibujan cada diferencia con su intervalo.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54474" y="1916125"/>
            <a:ext cx="182697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3780" y="1916125"/>
            <a:ext cx="1152473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6932" y="2007565"/>
            <a:ext cx="1006169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66932" y="2111258"/>
            <a:ext cx="90555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66932" y="2214951"/>
            <a:ext cx="955861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6932" y="2318644"/>
            <a:ext cx="60370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aplicadas. La tabla da cuántas por distrito.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34111" y="1916125"/>
            <a:ext cx="2123237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2026" y="2051914"/>
            <a:ext cx="843863" cy="3950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evolución. La cifra resume cuánto cambió desde la primera medición.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2268" y="1783080"/>
            <a:ext cx="29013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02268" y="2350008"/>
            <a:ext cx="29013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02268" y="2606040"/>
            <a:ext cx="29013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9202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6459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297180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14939" y="42976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 y rangos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del motor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apertura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objetivo, ficha técnica, lectura, índice y separador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