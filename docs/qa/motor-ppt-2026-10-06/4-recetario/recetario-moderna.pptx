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c954cca477b152034cfdabb07ffc4dd94d521f0a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542e0c9f172247d9976c2f0df14dce70faad2f0a.png"/>
<Relationship Id="rId4" Type="http://schemas.openxmlformats.org/officeDocument/2006/relationships/image" Target="../media/c15a79dcee14ee045d20562a52b87392259faddc.png"/>
<Relationship Id="rId5" Type="http://schemas.openxmlformats.org/officeDocument/2006/relationships/image" Target="../media/ac7037a30f32d668b8b8a94e7176543d9d6e7646.png"/>
<Relationship Id="rId6" Type="http://schemas.openxmlformats.org/officeDocument/2006/relationships/image" Target="../media/13c5633ecd85d2ac757006838137cd2b9039bf2c.png"/>
<Relationship Id="rId7" Type="http://schemas.openxmlformats.org/officeDocument/2006/relationships/image" Target="../media/e8905be823c823ec917fd7f46a5bab87d03612cb.png"/>
<Relationship Id="rId8" Type="http://schemas.openxmlformats.org/officeDocument/2006/relationships/image" Target="../media/68ae2408cff7e53d4af84d68933b94854cc11dd7.png"/>
<Relationship Id="rId9" Type="http://schemas.openxmlformats.org/officeDocument/2006/relationships/image" Target="../media/337bd4b3d7db543095be45bc5ffffb0b4df939b7.png"/>
<Relationship Id="rId10" Type="http://schemas.openxmlformats.org/officeDocument/2006/relationships/image" Target="../media/ef83d74c8c3ae09e48316a488d9f6c339bee9c5e.png"/>
<Relationship Id="rId11" Type="http://schemas.openxmlformats.org/officeDocument/2006/relationships/image" Target="../media/eccd42f9c4aea8b7f68426a04279d5a39e4380b1.png"/>
<Relationship Id="rId12" Type="http://schemas.openxmlformats.org/officeDocument/2006/relationships/image" Target="../media/2d3d7eda594c226b853aebe3e4146c57e323481b.png"/>
<Relationship Id="rId13" Type="http://schemas.openxmlformats.org/officeDocument/2006/relationships/image" Target="../media/debebc3a45a45b9d5e92d4f9a0b8313b3af2aacc.png"/>
<Relationship Id="rId14" Type="http://schemas.openxmlformats.org/officeDocument/2006/relationships/image" Target="../media/8651319a18ed15617bc64881bbbdd1a6c3b547b0.png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72184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837944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132076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25094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260092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625852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entrega: de la portada a las recomendaciones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91998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3038856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3048000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413760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70789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1228" y="3826764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835908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4201668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495800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614672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623816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989576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5283708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1228" y="540258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5411724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777484"/>
            <a:ext cx="100794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6988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7027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3156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5000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32884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161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14492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39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22540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6412577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79252" y="1663111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2307946"/>
            <a:ext cx="6412577" cy="2391339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9252" y="2326234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Gráfico, pregunta y texto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9252" y="4743176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Leyenda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100" y="4960437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252" y="4978725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Base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5737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45737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57217" y="146304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645737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645737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57217" y="210312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45737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45737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7217" y="274320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siempre debajo del gráfico, centrada en él.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45737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45737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57217" y="338328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45737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645737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057217" y="402336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deja 1.3 cm de margen a cada lado y 1.3 cm entre dos gráficos.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45737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45737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057217" y="466344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la mitad de su tamaño. Todas las láminas del informe usan este mismo esqueleto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6949440" cy="3931920"/>
          </a:xfrm>
          <a:prstGeom prst="rect">
            <a:avLst/>
          </a:prstGeom>
          <a:ln w="9525" cap="rnd" cmpd="sng">
            <a:solidFill>
              <a:srgbClr val="8A93A8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337560"/>
            <a:ext cx="6949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703320"/>
            <a:ext cx="6949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cerca de 60 % del ancho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813548" y="1828800"/>
            <a:ext cx="45720" cy="19202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14716" y="1783080"/>
            <a:ext cx="3888943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 Uno de cada cuatro estudiantes no tiene información sobre el servicio.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135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135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4023360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breve: unas 50 palabras y nunca más de 74.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13548" y="44805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13548" y="44988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25028" y="4462272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 a la derecha del gráfico. Arriba, sólo si el gráfico usa todo el ancho.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813548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813548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25028" y="4901184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cita van en negrita y son las del gráfico.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13548" y="535838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813548" y="537667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5028" y="5340096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repite la pregunta: cuenta lo que se ve.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Medido en 247 párrafos que acompañan gráficos en 6 informes entregados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PPT y en Word: lo que cambia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3840480"/>
        </p:xfrm>
        <a:graphic>
          <a:graphicData uri="http://schemas.openxmlformats.org/drawingml/2006/table">
            <a:tbl>
              <a:tblPr/>
              <a:tblGrid>
                <a:gridCol w="2176642"/>
                <a:gridCol w="4637194"/>
                <a:gridCol w="4637194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Aspecto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PPT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Word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 el título de la lámina, arriba y en coral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Dos líneas sobre la imagen: «GRÁFICO 5» y la pregunta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Tamaño de letra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a 14 pt: se lee proyectado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 a 10 pt: se lee impreso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Fondo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lámina blanca. El gráfico se puede editar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Imagen sin fondo sobre la página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pie de la lámina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Debajo del gráfico, junto con la fuente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costado del gráfico, hasta 74 palabras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párrafo debajo del gráfico, justificado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Numeración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Los gráficos no se numeran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Gráficos y tablas llevan número correlativo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 no cabe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Pasa a otra lámina con «(cont.)»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Título, gráfico y base pasan juntos a la página siguiente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5824728"/>
            <a:ext cx="1154247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colores, el orden de las respuestas, el Top Two Box y la ubicación de las cifras pequeñas son iguales en los dos formatos.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recetario en Word muestra cada gráfico de este mazo con su formato de página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3840480"/>
        </p:xfrm>
        <a:graphic>
          <a:graphicData uri="http://schemas.openxmlformats.org/drawingml/2006/table">
            <a:tbl>
              <a:tblPr/>
              <a:tblGrid>
                <a:gridCol w="2460552"/>
                <a:gridCol w="4495240"/>
                <a:gridCol w="449524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es en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ajusta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 marcador de título de la lámina. Aparece en el esquema y en el panel de navegación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cuadro. Su formato base está en el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Antetítulo, texto y base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Cuadros de texto con su tamaño y color fijados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gráfico vectorial: cada barra y cada cifra es una forma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 derecho &gt; Agrupar &gt; Desagrupar para cambiar una forma. Los datos se cambian volviendo a generar con el motor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tabla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Pestaña Diseño de 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imagen del diseño de la lámina, igual en todas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Vista &gt;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recetario las barras se dibujan con formas para mostrar cada medida. En un informe real las genera el motor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primero, «Totalmente en desacuerdo 1 … Totalmente de acuerdo 4»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 (Ingeniería)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 (Ingeniería)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Redacciones encontradas en las encuestas de Psicología, Geografía, Derecho e Ingeniería. 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042253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2876327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5508" y="3710401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5508" y="4544475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874520" y="2148840"/>
            <a:ext cx="1600200" cy="16002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258568" y="2532888"/>
            <a:ext cx="832104" cy="832104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840480" y="178308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40480" y="2194560"/>
            <a:ext cx="7680960" cy="1920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7909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295144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12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909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1228" y="3090672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12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909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3749040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909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1228" y="4864608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12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09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48056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897880" y="914400"/>
            <a:ext cx="36576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97880" y="1499616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6217920" y="145389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75120" y="1463040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97880" y="1764792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897880" y="1828800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217920" y="178308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792224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97880" y="2093976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897880" y="2157984"/>
            <a:ext cx="219456" cy="219456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6217920" y="211226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75120" y="2121408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97880" y="2423160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897880" y="248716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17920" y="24414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75120" y="245059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97880" y="2752344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897880" y="2816352"/>
            <a:ext cx="219456" cy="219456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217920" y="2770632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75120" y="2779776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7880" y="3081528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5897880" y="3145536"/>
            <a:ext cx="219456" cy="219456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217920" y="309981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75120" y="3108960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97880" y="3410712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5897880" y="3474720"/>
            <a:ext cx="219456" cy="219456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217920" y="342900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75120" y="3438144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97880" y="3739896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897880" y="3803904"/>
            <a:ext cx="219456" cy="219456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6217920" y="375818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767328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97880" y="4069080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5897880" y="4133088"/>
            <a:ext cx="219456" cy="219456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6217920" y="408736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96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97880" y="4398264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5897880" y="4462272"/>
            <a:ext cx="219456" cy="219456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6217920" y="4416552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675120" y="4425696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97880" y="4727448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5897880" y="4791456"/>
            <a:ext cx="219456" cy="219456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6217920" y="47457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4754880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0" y="5056632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5897880" y="5120640"/>
            <a:ext cx="219456" cy="219456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6217920" y="507492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675120" y="5084064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897880" y="5385816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2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5897880" y="5449824"/>
            <a:ext cx="219456" cy="219456"/>
          </a:xfrm>
          <a:prstGeom prst="rect">
            <a:avLst/>
          </a:prstGeom>
        </p:spPr>
      </p:pic>
      <p:sp>
        <p:nvSpPr>
          <p:cNvPr id="53" name=""/>
          <p:cNvSpPr>
            <a:spLocks noGrp="1"/>
          </p:cNvSpPr>
          <p:nvPr>
            </p:nvPr>
        </p:nvSpPr>
        <p:spPr>
          <a:xfrm>
            <a:off x="6217920" y="540410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675120" y="5413248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897880" y="5715000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 de respuestas por actor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160020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869680" y="1600200"/>
            <a:ext cx="3017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Tasa de respuesta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26948" y="201168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47188" y="2048256"/>
            <a:ext cx="566928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407908" y="201168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692640" y="2130552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2640" y="2130552"/>
            <a:ext cx="1124712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69680" y="2011680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128248" y="2011680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1,506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6948" y="2670048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647188" y="2706624"/>
            <a:ext cx="285979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598425" y="2670048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92640" y="2788920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92640" y="2788920"/>
            <a:ext cx="356616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2670048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128248" y="2670048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1,210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948" y="3328416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47188" y="3364992"/>
            <a:ext cx="19633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1994" y="3328416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92640" y="3447288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92640" y="3447288"/>
            <a:ext cx="1165860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9680" y="3328416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128248" y="3328416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175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6948" y="3986784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47188" y="4023360"/>
            <a:ext cx="55906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97691" y="3986784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92640" y="4105656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2640" y="4105656"/>
            <a:ext cx="1179576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869680" y="3986784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28248" y="3986784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6948" y="4645152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47188" y="4681728"/>
            <a:ext cx="105829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96918" y="4645152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92640" y="4764024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92640" y="4764024"/>
            <a:ext cx="1138428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69680" y="4645152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28248" y="4645152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6948" y="530352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47188" y="5340096"/>
            <a:ext cx="62505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63680" y="530352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92640" y="5422392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692640" y="5422392"/>
            <a:ext cx="521208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69680" y="5303520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128248" y="5303520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Universo: población de cada actor según la carrera. Tasa = respuestas válidas sobre universo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43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2312" y="4800600"/>
            <a:ext cx="24323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5033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33216" y="480060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39512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2392" y="480060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0944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73824" y="480060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2651760"/>
            <a:ext cx="1389888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31436" y="2651760"/>
            <a:ext cx="1389888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85716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12764" y="2651760"/>
            <a:ext cx="1389888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67044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94092" y="2651760"/>
            <a:ext cx="1389888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8372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75420" y="2651760"/>
            <a:ext cx="1389888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29700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7797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1228" y="3410712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04388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5.62%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85716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178 casos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67044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40.45%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67044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de 178 casos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548372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52.81%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48372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de 178 casos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29700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29700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11028" y="33924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1228" y="3904488"/>
            <a:ext cx="110185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1228" y="4069080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04388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67044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8372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29700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11028" y="405079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28" y="4562856"/>
            <a:ext cx="110185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727448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04388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67044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8372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58300" y="4636008"/>
            <a:ext cx="1024128" cy="457200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9700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511028" y="470916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5358384"/>
            <a:ext cx="85953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cerrar en 100, el reparto da los puntos que faltan a los restos más grandes. Aquí, un 0.56% queda en 0%.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4446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5166" y="269925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9925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52044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52044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19428" y="15270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702308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35708" y="3898392"/>
            <a:ext cx="164463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96513" y="3898392"/>
            <a:ext cx="8406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76916" y="3898392"/>
            <a:ext cx="3300162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76916" y="4090416"/>
            <a:ext cx="32965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73420" y="3898392"/>
            <a:ext cx="426499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73420" y="4090416"/>
            <a:ext cx="42613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4755" y="3898392"/>
            <a:ext cx="16080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06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3503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31228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436714" y="3825240"/>
            <a:ext cx="300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44127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967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93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5511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37994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8274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661154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9706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12586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343394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26274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2881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11690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550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550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337560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520440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760720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43600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12152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495032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25840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08720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81125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94136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550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3197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43456"/>
            <a:ext cx="389077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1988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0218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11988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20218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11988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2021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0159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39420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443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08" y="3095244"/>
            <a:ext cx="389077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27355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27355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27355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931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050792"/>
            <a:ext cx="389077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337560" y="547116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520440" y="540715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760720" y="547116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43600" y="540715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12152" y="547116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95032" y="540715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625840" y="547116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8720" y="540715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811256" y="547116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94136" y="540715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6304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874520"/>
            <a:ext cx="389077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51888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51888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51888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34184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51888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34184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33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262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8773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5508" y="2996184"/>
            <a:ext cx="389077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9897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4117848"/>
            <a:ext cx="389077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95216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77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95216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77512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95216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77512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95216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77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95216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77512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769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695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37560" y="534009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520440" y="527608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60720" y="534009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43600" y="527608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12152" y="534009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5032" y="527608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25840" y="534009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8720" y="527608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811256" y="534009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94136" y="527608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90347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" y="259842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508" y="329336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5508" y="398830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5508" y="468325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337560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520440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6072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943600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15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9503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2584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0872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81125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9413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6631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08" y="246126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315620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5508" y="385114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5508" y="454609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5508" y="524103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337560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20440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9436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1215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9503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62584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08720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81125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99413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63550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62482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534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8786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1646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090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7950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482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5050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89881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62449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7280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9848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679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7247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01589" y="2734056"/>
            <a:ext cx="50959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01456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91861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101456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1994" y="3282696"/>
            <a:ext cx="101919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82266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91861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01456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27601" y="3831336"/>
            <a:ext cx="17835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91861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17873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1456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37196" y="4379976"/>
            <a:ext cx="76439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91861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33706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27468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82399" y="4928616"/>
            <a:ext cx="76439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572671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82266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33706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2399" y="5477256"/>
            <a:ext cx="50959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72671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82266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82266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83688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83688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823968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823968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31720" y="25877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0" y="28163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31720" y="3941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0" y="4169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91640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74520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4800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7680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66232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49112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79920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62800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65336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348216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46504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73352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Fortalecer la difusión de la misión y los propósitos institucionales, especialmente entre estudiantes y egresados, cuyo conocimiento alcanza 77 % y 78 %.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3112008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5508" y="3313176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3368040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3294888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los servicios de tutoría académica: su valoración entre estudiantes bajó de 84 % en 2021 a 53 % en 2026.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4733544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" y="4934712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4989576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4916424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la suficiencia de los recursos presupuestales asignados a la Unidad, que el personal administrativo valora en 80 %.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601343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84223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8675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69639" y="585216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09413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2293" y="585216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24041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06921" y="585216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1431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84311" y="585216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5236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33058" y="274497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74497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0040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3814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19144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02024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9884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81728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788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0768" y="5925312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4056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16936" y="5925312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1378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96664" y="5925312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295392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78272" y="5925312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0344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86320" y="5925312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0042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292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974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92626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98584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4184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2318" y="2699258"/>
            <a:ext cx="175930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99258"/>
            <a:ext cx="299923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306803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89683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92219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75099" y="329184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14873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7753" y="32918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29501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12381" y="329184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6891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89771" y="329184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0256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3136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93028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223002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223002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4023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4023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949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949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80540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80540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73148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73148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316732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316732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609340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609340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52924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52924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145532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145532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841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841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767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67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60930"/>
            <a:ext cx="197121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8526" y="2360930"/>
            <a:ext cx="197121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57375" y="2653538"/>
            <a:ext cx="189236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53538"/>
            <a:ext cx="20537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67508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67508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67508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67508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67508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67508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830064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830064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122672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22672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67508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67508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73548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73548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73548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73548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1901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01898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891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1790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41236" y="51389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116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20940" y="51389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03820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306803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489683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2219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5099" y="607161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14873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7753" y="607161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129501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12381" y="607161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06891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289771" y="607161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18533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01413" y="5916168"/>
            <a:ext cx="20955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2633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225513" y="5916168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63661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19498" y="5916168"/>
            <a:ext cx="639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0453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87416" y="5916168"/>
            <a:ext cx="258089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25330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05290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0347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8343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8161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157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597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397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5385" y="2608783"/>
            <a:ext cx="10668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05657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72543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28575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20441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48172" y="3459175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871887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38444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753228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127919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25986" y="4309567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49701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1625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3104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5733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93200" y="5159959"/>
            <a:ext cx="12447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3472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98256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51604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34484" y="5870448"/>
            <a:ext cx="26898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7006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752944" y="5870448"/>
            <a:ext cx="1963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88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84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390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9800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7796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0755" y="2459736"/>
            <a:ext cx="183405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11883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45941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64813" y="3026664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5941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9564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98001" y="3593592"/>
            <a:ext cx="36681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7912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45941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597567" y="4160520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1231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78695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1190" y="4727448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45941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231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97567" y="5294376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231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8695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6737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025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3295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15836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589788" y="1691639"/>
              <a:ext cx="5760720" cy="41148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46191" y="3374967"/>
              <a:ext cx="647912" cy="748145"/>
            </a:xfrm>
            <a:custGeom>
              <a:avLst/>
              <a:pathLst>
                <a:path w="647912" h="748145">
                  <a:moveTo>
                    <a:pt x="323956" y="0"/>
                  </a:moveTo>
                  <a:lnTo>
                    <a:pt x="647912" y="187036"/>
                  </a:lnTo>
                  <a:lnTo>
                    <a:pt x="647912" y="561109"/>
                  </a:lnTo>
                  <a:lnTo>
                    <a:pt x="323956" y="748145"/>
                  </a:lnTo>
                  <a:lnTo>
                    <a:pt x="0" y="561109"/>
                  </a:lnTo>
                  <a:lnTo>
                    <a:pt x="0" y="187036"/>
                  </a:lnTo>
                  <a:lnTo>
                    <a:pt x="323956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822235" y="3000894"/>
              <a:ext cx="1295825" cy="1496290"/>
            </a:xfrm>
            <a:custGeom>
              <a:avLst/>
              <a:pathLst>
                <a:path w="1295825" h="1496290">
                  <a:moveTo>
                    <a:pt x="647912" y="0"/>
                  </a:moveTo>
                  <a:lnTo>
                    <a:pt x="1295825" y="374072"/>
                  </a:lnTo>
                  <a:lnTo>
                    <a:pt x="1295825" y="1122218"/>
                  </a:lnTo>
                  <a:lnTo>
                    <a:pt x="647912" y="1496290"/>
                  </a:lnTo>
                  <a:lnTo>
                    <a:pt x="0" y="1122218"/>
                  </a:lnTo>
                  <a:lnTo>
                    <a:pt x="0" y="374072"/>
                  </a:lnTo>
                  <a:lnTo>
                    <a:pt x="64791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498278" y="2626821"/>
              <a:ext cx="1943738" cy="2244436"/>
            </a:xfrm>
            <a:custGeom>
              <a:avLst/>
              <a:pathLst>
                <a:path w="1943738" h="2244436">
                  <a:moveTo>
                    <a:pt x="971869" y="0"/>
                  </a:moveTo>
                  <a:lnTo>
                    <a:pt x="1943738" y="561109"/>
                  </a:lnTo>
                  <a:lnTo>
                    <a:pt x="1943738" y="1683327"/>
                  </a:lnTo>
                  <a:lnTo>
                    <a:pt x="971869" y="2244436"/>
                  </a:lnTo>
                  <a:lnTo>
                    <a:pt x="0" y="1683327"/>
                  </a:lnTo>
                  <a:lnTo>
                    <a:pt x="0" y="561109"/>
                  </a:lnTo>
                  <a:lnTo>
                    <a:pt x="97186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174322" y="2252749"/>
              <a:ext cx="2591651" cy="2992581"/>
            </a:xfrm>
            <a:custGeom>
              <a:avLst/>
              <a:pathLst>
                <a:path w="2591651" h="2992581">
                  <a:moveTo>
                    <a:pt x="1295825" y="0"/>
                  </a:moveTo>
                  <a:lnTo>
                    <a:pt x="2591651" y="748145"/>
                  </a:lnTo>
                  <a:lnTo>
                    <a:pt x="2591651" y="2244436"/>
                  </a:lnTo>
                  <a:lnTo>
                    <a:pt x="1295825" y="2992581"/>
                  </a:lnTo>
                  <a:lnTo>
                    <a:pt x="0" y="2244436"/>
                  </a:lnTo>
                  <a:lnTo>
                    <a:pt x="0" y="748145"/>
                  </a:lnTo>
                  <a:lnTo>
                    <a:pt x="12958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563069" y="2402378"/>
              <a:ext cx="1943738" cy="2543694"/>
            </a:xfrm>
            <a:custGeom>
              <a:avLst/>
              <a:pathLst>
                <a:path w="1943738" h="2543694">
                  <a:moveTo>
                    <a:pt x="907078" y="0"/>
                  </a:moveTo>
                  <a:lnTo>
                    <a:pt x="1943738" y="748145"/>
                  </a:lnTo>
                  <a:lnTo>
                    <a:pt x="1684573" y="1795549"/>
                  </a:lnTo>
                  <a:lnTo>
                    <a:pt x="907078" y="2543694"/>
                  </a:lnTo>
                  <a:lnTo>
                    <a:pt x="0" y="1870363"/>
                  </a:lnTo>
                  <a:lnTo>
                    <a:pt x="129582" y="89777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433487" y="2552007"/>
              <a:ext cx="1943738" cy="2319250"/>
            </a:xfrm>
            <a:custGeom>
              <a:avLst/>
              <a:pathLst>
                <a:path w="1943738" h="2319250">
                  <a:moveTo>
                    <a:pt x="1036660" y="0"/>
                  </a:moveTo>
                  <a:lnTo>
                    <a:pt x="1749365" y="785552"/>
                  </a:lnTo>
                  <a:lnTo>
                    <a:pt x="1943738" y="1720734"/>
                  </a:lnTo>
                  <a:lnTo>
                    <a:pt x="1036660" y="2319250"/>
                  </a:lnTo>
                  <a:lnTo>
                    <a:pt x="0" y="1795549"/>
                  </a:lnTo>
                  <a:lnTo>
                    <a:pt x="129582" y="673330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303904" y="2402378"/>
              <a:ext cx="2332486" cy="2319250"/>
            </a:xfrm>
            <a:custGeom>
              <a:avLst/>
              <a:pathLst>
                <a:path w="2332486" h="2319250">
                  <a:moveTo>
                    <a:pt x="1166243" y="0"/>
                  </a:moveTo>
                  <a:lnTo>
                    <a:pt x="2332486" y="673330"/>
                  </a:lnTo>
                  <a:lnTo>
                    <a:pt x="2073321" y="1870363"/>
                  </a:lnTo>
                  <a:lnTo>
                    <a:pt x="1166243" y="2319250"/>
                  </a:lnTo>
                  <a:lnTo>
                    <a:pt x="0" y="2019992"/>
                  </a:lnTo>
                  <a:lnTo>
                    <a:pt x="194373" y="785552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36535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469787" y="31135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210622" y="416090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90905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526048" y="423572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655630" y="326313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5149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145830" y="33005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340204" y="4235720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83423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396465" y="431053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526048" y="318831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36535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9369" y="303868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340204" y="423572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68460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266883" y="438534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461257" y="315090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01500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5025139" y="285292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025139" y="449848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36855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85440" y="4528771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559853" y="2824647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62795" y="339501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71939" y="341684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825517" y="3113174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834661" y="31350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88238" y="2831331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97382" y="285316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150960" y="2549489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160104" y="2571317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562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8500" y="5870448"/>
            <a:ext cx="873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79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70860" y="5870448"/>
            <a:ext cx="10916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2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91152" y="5870448"/>
            <a:ext cx="9464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0766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0542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7324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56122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939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012278" y="5870448"/>
            <a:ext cx="13822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8208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5978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747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1517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9287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70569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48266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2596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2085" y="1444752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37478" y="1444752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2304288"/>
            <a:ext cx="941121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0438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100373" y="2304288"/>
            <a:ext cx="941121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8208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78070" y="23042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5978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5766" y="2304288"/>
            <a:ext cx="941121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3747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3463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517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1160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287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88857" y="2304288"/>
            <a:ext cx="941121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0569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66554" y="23042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8266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44250" y="2304288"/>
            <a:ext cx="941121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2596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32186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0373" y="3218688"/>
            <a:ext cx="941121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8208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807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5978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55766" y="3218688"/>
            <a:ext cx="941121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3747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33463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1517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11160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9287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88857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70569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554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266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425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2596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438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00373" y="41330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8208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7807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5978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55766" y="4133088"/>
            <a:ext cx="941121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3747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33463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1517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11160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287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88857" y="41330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70569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66554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48266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4425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2596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72941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28334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75988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58868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41748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24628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07508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6148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39028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304788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87668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70548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853428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036308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19188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02068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84948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767828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950708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73068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179308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75988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39038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53099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71609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9788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38628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08676" y="189280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286" y="1892808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3099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89897" y="1892808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71609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38628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08676" y="2218667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9038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49286" y="2218667"/>
            <a:ext cx="2104034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3099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89897" y="2218667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71609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38628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0867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038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4928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3099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89897" y="2544526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71609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08676" y="2870385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9038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9286" y="2870385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3099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89897" y="2870385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71609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38628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0867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038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4928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3099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9897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71609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03815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38628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08676" y="3522103"/>
            <a:ext cx="2104034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39038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49286" y="3522103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3099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89897" y="3522103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71609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829673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9788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38628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08676" y="3847961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9038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549286" y="3847961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3099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89897" y="3847961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71609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738628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08676" y="4173820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9038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49286" y="4173820"/>
            <a:ext cx="2104034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3099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89897" y="4173820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71609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8628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408676" y="4499679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9038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49286" y="4499679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099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89897" y="4499679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71609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38628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08676" y="4825538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9038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49286" y="4825538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099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89897" y="482553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71609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38628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408676" y="5151397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9038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49286" y="5151397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099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89897" y="5151397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71609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545896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21508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22092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22676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23260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23844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24428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25012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25596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26180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26764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27348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27932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28516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29100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29684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30268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30852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31436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32020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32604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418588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978908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01268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67228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45954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5914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464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8460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63327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3287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22013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201973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290572"/>
            <a:ext cx="735699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7419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2674620"/>
            <a:ext cx="7575215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5635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470148"/>
            <a:ext cx="76375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7983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3854196"/>
            <a:ext cx="7481694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42114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649724"/>
            <a:ext cx="75128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73288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5033772"/>
            <a:ext cx="760638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680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9638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79262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3460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1748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0550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88386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373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2661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FODA DIMENSIONAL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 y aspectos por reforzar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588356" cy="2226564"/>
          </a:xfrm>
          <a:prstGeom prst="rect">
            <a:avLst/>
          </a:prstGeom>
          <a:solidFill>
            <a:srgbClr val="E4EEDA">
              <a:alpha val="100000"/>
            </a:srgbClr>
          </a:solidFill>
          <a:ln w="3175" cap="rnd" cmpd="sng">
            <a:solidFill>
              <a:srgbClr val="E4EE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508760"/>
            <a:ext cx="64008" cy="222656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1228" y="1618488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1228" y="1911096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 o más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258568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35144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1228" y="258775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35144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2916936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35144" y="291693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1228" y="3246120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35144" y="32461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15304" y="1508760"/>
            <a:ext cx="5588356" cy="222656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15304" y="1508760"/>
            <a:ext cx="64008" cy="22265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43904" y="1618488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43904" y="1911096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97 %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258568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897819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43904" y="258775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97819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918204"/>
            <a:ext cx="5588356" cy="2226564"/>
          </a:xfrm>
          <a:prstGeom prst="rect">
            <a:avLst/>
          </a:prstGeom>
          <a:solidFill>
            <a:srgbClr val="FFF4D6">
              <a:alpha val="100000"/>
            </a:srgbClr>
          </a:solidFill>
          <a:ln w="3175" cap="rnd" cmpd="sng">
            <a:solidFill>
              <a:srgbClr val="FFF4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8204"/>
            <a:ext cx="64008" cy="2226564"/>
          </a:xfrm>
          <a:prstGeom prst="rect">
            <a:avLst/>
          </a:prstGeom>
          <a:solidFill>
            <a:srgbClr val="B8860B">
              <a:alpha val="100000"/>
            </a:srgbClr>
          </a:solidFill>
          <a:ln w="3175" cap="rnd" cmpd="sng">
            <a:solidFill>
              <a:srgbClr val="B8860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81228" y="4027932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Aspectos por vigilar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81228" y="4320540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95 %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1228" y="466801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35144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1228" y="4997196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5144" y="499719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1228" y="5326380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5144" y="53263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1228" y="5655564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35144" y="5655564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15304" y="3918204"/>
            <a:ext cx="5588356" cy="2226564"/>
          </a:xfrm>
          <a:prstGeom prst="rect">
            <a:avLst/>
          </a:prstGeom>
          <a:solidFill>
            <a:srgbClr val="F9E0D2">
              <a:alpha val="100000"/>
            </a:srgbClr>
          </a:solidFill>
          <a:ln w="3175" cap="rnd" cmpd="sng">
            <a:solidFill>
              <a:srgbClr val="F9E0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15304" y="3918204"/>
            <a:ext cx="64008" cy="22265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43904" y="4027932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Debilidades relativas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43904" y="4320540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94 %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466801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97819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7863840" cy="4526280"/>
            <a:chOff x="72694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50303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54099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12178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323529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22485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320110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24531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326257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33349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29455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32749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39942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2185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57070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68033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74806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84982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86799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88638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85167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91896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98154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93689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97208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83350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72293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74778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81590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81774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72956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60158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82840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92467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93986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405476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402828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402351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408563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413365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416265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420542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425500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416758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419292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416120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427297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424068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29592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36012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419291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28517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37888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40945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51682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57485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52872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43889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71011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71145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78882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82610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86287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89332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88132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87125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89311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87160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500430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503698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501546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506415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508418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510729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512072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27711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520039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509421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513338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517502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522548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519833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515453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523741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513136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510220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511762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505744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501164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505224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501192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506753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508984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502206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509971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512470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502523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500752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503742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506618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508814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411807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29047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41939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51705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60562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46648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48616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92680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78942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88057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88036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96826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78680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68154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66896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76719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80644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84200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88036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96941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98911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4345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6013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1355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93299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8513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84259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76180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79470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86551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7870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2666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70797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72921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86040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92701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85259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92595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04686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10680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11491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20693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4645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3479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31004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25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18537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3439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91460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18056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223520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222811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16826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215403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222489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13559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222872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213479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14351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15493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24570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28547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22364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15594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14513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9119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24903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28618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28883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222361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211344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13658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21591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28914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28849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28816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219778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217600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215121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221419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33938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29026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221542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18494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14995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17577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21506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28554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19377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19267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313921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17648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08279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320475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319038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21781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327295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28056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27781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321794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36076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38157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40352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47947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45770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38027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31951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34061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37244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30130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322843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318543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312828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304884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302360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90131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303528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309827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313211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314390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320776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324126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326880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31552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29044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32145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43849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29902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323934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315944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315255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308131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312741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309963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305939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303578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98161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94156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99046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89686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99869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304871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311822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317477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323128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30951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37303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39251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36552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50777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37158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43510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37957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325803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33806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34456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35113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27587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31765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324242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319193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309092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313178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309735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305250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99246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95769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301924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309164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13870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21254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19170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22731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27502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34955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27799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26780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12231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7506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00409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97234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92636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80453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90941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93668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87583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81361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73594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77869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83741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79886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92376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302459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97978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306841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309208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98441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92878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84306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80582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85646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84913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92462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99219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309355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311085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320692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319044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318449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312143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318201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312760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96644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300679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97505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90851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4962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85665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91686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99670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307132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315941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27489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319737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00748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89255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95995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92739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89186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84981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84134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88518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90066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97500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309092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319643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29890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36192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43079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46172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43963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54486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37477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67595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67836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40890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75267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67016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34631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51744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49379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35642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44364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43963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60033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73597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77941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74618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65720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32094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43695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57859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50126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49404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45453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47879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53959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56236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61012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65771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93773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307054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303961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313155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86964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54670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51260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46087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44332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44787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50874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56364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30335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322772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34322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41359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39776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73187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39730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52389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56765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55833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64658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61798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58698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63876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61357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60401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64817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65617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50937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51057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48365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45107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41540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39436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37521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44226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53689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50455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47059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40696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33612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31373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30522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29005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39232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51480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49583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40188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46491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46282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34825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28186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28184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34831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34086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44829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54921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56639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56913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51966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52500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45542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44537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34440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31569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326637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28787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35497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47348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52218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50433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36546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28042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28321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33092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34055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56033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206575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203684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96218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203095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209858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208636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204537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200145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00890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95243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204065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03426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96649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86530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82403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84348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77950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77357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83501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91635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94183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201326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209766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98553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89780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86177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95663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201473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207700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209621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205287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98284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90504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81744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77042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79755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81859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86315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89869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95072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200026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07839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02690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08845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207437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212124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212377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20461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24476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31285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30907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41204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42566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46866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43453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37911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34071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34610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32181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30481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224012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212758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216825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215823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211962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204509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201959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207681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210867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215031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222968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31191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36409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42482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45112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51580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53855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65738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93081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81565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91120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74472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2173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65333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211345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75332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25303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65740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46755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54569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54569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54569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52909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52909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52909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52909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52909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52909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70644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70644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70644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70644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70644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70644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8244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65320" y="582472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6409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46976" y="582472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92980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75860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4817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31052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1108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23988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87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787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713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713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52628" y="3055366"/>
            <a:ext cx="10765231" cy="1659636"/>
            <a:chOff x="452628" y="3055366"/>
            <a:chExt cx="10765231" cy="1659636"/>
          </a:xfrm>
        </p:grpSpPr>
        <p:sp>
          <p:nvSpPr>
            <p:cNvPr id="14" name="rc3"/>
            <p:cNvSpPr/>
            <p:nvPr/>
          </p:nvSpPr>
          <p:spPr>
            <a:xfrm>
              <a:off x="452628" y="3055366"/>
              <a:ext cx="10765231" cy="165963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52628" y="3055366"/>
              <a:ext cx="10765231" cy="1659636"/>
            </a:xfrm>
            <a:custGeom>
              <a:avLst/>
              <a:pathLst>
                <a:path w="10765231" h="1659636">
                  <a:moveTo>
                    <a:pt x="0" y="0"/>
                  </a:moveTo>
                  <a:lnTo>
                    <a:pt x="1145103" y="0"/>
                  </a:lnTo>
                  <a:lnTo>
                    <a:pt x="10765231" y="1659636"/>
                  </a:lnTo>
                  <a:lnTo>
                    <a:pt x="1572767" y="1659636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4" name=""/>
          <p:cNvSpPr>
            <a:spLocks noGrp="1"/>
          </p:cNvSpPr>
          <p:nvPr>
            </p:nvPr>
        </p:nvSpPr>
        <p:spPr>
          <a:xfrm>
            <a:off x="2146371" y="38326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46371" y="40794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41983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7851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25396" y="47150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25396" y="48613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944642" y="47150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44642" y="48613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00497" y="47150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000497" y="48613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217859" y="48613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852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852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778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778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933188" y="2194560"/>
            <a:ext cx="1244956" cy="3840480"/>
            <a:chOff x="4933188" y="2194560"/>
            <a:chExt cx="1244956" cy="3840480"/>
          </a:xfrm>
        </p:grpSpPr>
        <p:sp>
          <p:nvSpPr>
            <p:cNvPr id="14" name="rc3"/>
            <p:cNvSpPr/>
            <p:nvPr/>
          </p:nvSpPr>
          <p:spPr>
            <a:xfrm>
              <a:off x="4933188" y="2194560"/>
              <a:ext cx="1244955" cy="384047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933188" y="2194560"/>
              <a:ext cx="1244955" cy="3840479"/>
            </a:xfrm>
            <a:custGeom>
              <a:avLst/>
              <a:pathLst>
                <a:path w="1244955" h="3840479">
                  <a:moveTo>
                    <a:pt x="0" y="1683258"/>
                  </a:moveTo>
                  <a:lnTo>
                    <a:pt x="0" y="2140458"/>
                  </a:lnTo>
                  <a:lnTo>
                    <a:pt x="1244955" y="3840479"/>
                  </a:lnTo>
                  <a:lnTo>
                    <a:pt x="1244955" y="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13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14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15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16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5508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56032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68722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68722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68722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8722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943193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2777267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3611341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5508" y="4445415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6590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4878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80034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8322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03478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17664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7298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55864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58291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65792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90347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08" y="259842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329336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5508" y="398830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5508" y="468325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492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797808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2485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0773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3478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17664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4847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531352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533888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16768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550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92296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075176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0222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8510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312152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495032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25840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808720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2565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4394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550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33756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520440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12673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09616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59892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78180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91260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9548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54328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726168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88734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71614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68438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5131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481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31022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8259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12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25996" y="2121408"/>
            <a:ext cx="412580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88379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12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25996" y="2542032"/>
            <a:ext cx="384126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03840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25996" y="2962656"/>
            <a:ext cx="369899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6157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812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2987653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50225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25996" y="3803904"/>
            <a:ext cx="213403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96610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812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825996" y="4224528"/>
            <a:ext cx="213403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96610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12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825996" y="4645152"/>
            <a:ext cx="213403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9661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812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25996" y="5065776"/>
            <a:ext cx="18495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207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12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25996" y="5486400"/>
            <a:ext cx="1280423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142995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812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25996" y="5907024"/>
            <a:ext cx="569077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1649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01878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7034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2190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7346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22502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5946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055364" y="1993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6924" y="1993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7034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5848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2190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004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17346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61604" y="1993392"/>
            <a:ext cx="9784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2502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5946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536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1878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692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7034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5848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2190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0044" y="24505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7346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61604" y="2450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2502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46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5536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1878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0692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34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5848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2190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1004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61604" y="29077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2502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5946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055364" y="33649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1878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06924" y="33649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7034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5848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2190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10044" y="33649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160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2502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5946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5536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0692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5848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12190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10044" y="38221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17346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6160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2502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45946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05536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01878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10692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7034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15848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2190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21004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17346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61604" y="4279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45946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05536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10692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15848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12190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21004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7346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61604" y="4736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2502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5946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018788" y="5212080"/>
            <a:ext cx="6355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1878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07034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17346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22502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019976"/>
            <a:ext cx="389077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508" y="3576152"/>
            <a:ext cx="389077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337560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520440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760720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43600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12152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95032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625840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8720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81125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94136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699004"/>
            <a:ext cx="389077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37560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520440" y="445160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60720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43600" y="445160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312152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95032" y="445160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5840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08720" y="445160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1125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94136" y="445160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6631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508" y="246126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5508" y="315620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5508" y="385114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5508" y="454609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35508" y="524103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97154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54424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943600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3290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15784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54659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72947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177272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360152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56916" y="2404872"/>
            <a:ext cx="1728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135" y="2404872"/>
            <a:ext cx="68053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6135" y="2374011"/>
            <a:ext cx="6768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03010" y="2404872"/>
            <a:ext cx="457256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03010" y="2374011"/>
            <a:ext cx="4568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71920" y="2404872"/>
            <a:ext cx="17804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71920" y="2374011"/>
            <a:ext cx="177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48718" y="2404872"/>
            <a:ext cx="126914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48718" y="2374011"/>
            <a:ext cx="12691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603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48917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550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56916" y="2946654"/>
            <a:ext cx="51131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90704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64573" y="2946654"/>
            <a:ext cx="152662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64573" y="2915793"/>
            <a:ext cx="1522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87542" y="2946654"/>
            <a:ext cx="288037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87542" y="2915793"/>
            <a:ext cx="2876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4263" y="2946654"/>
            <a:ext cx="161123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4263" y="2915793"/>
            <a:ext cx="1607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1842" y="2946654"/>
            <a:ext cx="194601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71842" y="2915793"/>
            <a:ext cx="19460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43479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326359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328895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1775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51549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4429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6177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49057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3567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447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550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56916" y="4768596"/>
            <a:ext cx="5857573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6916" y="4738878"/>
            <a:ext cx="58539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10832" y="4768596"/>
            <a:ext cx="3292828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10832" y="4738878"/>
            <a:ext cx="32928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550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756916" y="5129784"/>
            <a:ext cx="649784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756916" y="5100066"/>
            <a:ext cx="6494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251104" y="5129784"/>
            <a:ext cx="265255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51104" y="5100066"/>
            <a:ext cx="26525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550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56916" y="5490972"/>
            <a:ext cx="8052792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56916" y="5461254"/>
            <a:ext cx="8049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806050" y="5490972"/>
            <a:ext cx="1097609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06050" y="5461254"/>
            <a:ext cx="10976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29832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12712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972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572604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56916" y="2404872"/>
            <a:ext cx="34209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6095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95354" y="2404872"/>
            <a:ext cx="144201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95354" y="2374011"/>
            <a:ext cx="1438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33714" y="2404872"/>
            <a:ext cx="440334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3714" y="2374011"/>
            <a:ext cx="4399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33405" y="2404872"/>
            <a:ext cx="211889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405" y="2374011"/>
            <a:ext cx="21152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8640" y="2404872"/>
            <a:ext cx="16921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7763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511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50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56916" y="2946654"/>
            <a:ext cx="25748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10744" y="2946654"/>
            <a:ext cx="118819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10744" y="2915793"/>
            <a:ext cx="11845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95276" y="2946654"/>
            <a:ext cx="465717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195276" y="2915793"/>
            <a:ext cx="4653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48795" y="2946654"/>
            <a:ext cx="22035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48795" y="2915793"/>
            <a:ext cx="21998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8640" y="2946654"/>
            <a:ext cx="16921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7834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9122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776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511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43479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26359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28895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1775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51549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34429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66177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49057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43567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26447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550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756916" y="4860036"/>
            <a:ext cx="42670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648400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79963" y="4860036"/>
            <a:ext cx="127279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79963" y="4829175"/>
            <a:ext cx="12691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9105" y="4860036"/>
            <a:ext cx="372647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49105" y="4829175"/>
            <a:ext cx="37228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71920" y="4860036"/>
            <a:ext cx="17804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71920" y="4829175"/>
            <a:ext cx="177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718" y="4860036"/>
            <a:ext cx="126914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48718" y="4829175"/>
            <a:ext cx="12691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550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756916" y="5401818"/>
            <a:ext cx="25748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010744" y="5401818"/>
            <a:ext cx="101897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010744" y="5370957"/>
            <a:ext cx="10153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26057" y="5401818"/>
            <a:ext cx="414952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26057" y="5370957"/>
            <a:ext cx="41458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71920" y="5401818"/>
            <a:ext cx="20342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71920" y="5370957"/>
            <a:ext cx="20306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2546" y="5401818"/>
            <a:ext cx="101531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02546" y="5370957"/>
            <a:ext cx="10153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7834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9122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43479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26359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74159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57039" y="5806440"/>
            <a:ext cx="11247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27471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310351" y="58064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42099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24979" y="5806440"/>
            <a:ext cx="12633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4095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6975" y="5806440"/>
            <a:ext cx="18874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635508" y="2011680"/>
            <a:ext cx="8229600" cy="3931920"/>
            <a:chOff x="63550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89291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61526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33762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305998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78234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50470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22706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94942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67178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39414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811650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97329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74156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41800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314036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86272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58508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35335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607571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79807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52043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24279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09260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1496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53732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25967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98203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0439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42675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614911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87147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54792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10526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63550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550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6032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56032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7154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154424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83996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02284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39140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7428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0508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887968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35768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518648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1664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14544" y="5824728"/>
            <a:ext cx="26700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30312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13192" y="5824728"/>
            <a:ext cx="259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5028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33160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26224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09104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1716242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1716242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5"/>
            <p:cNvSpPr/>
            <p:nvPr/>
          </p:nvSpPr>
          <p:spPr>
            <a:xfrm>
              <a:off x="1671090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6"/>
            <p:cNvSpPr/>
            <p:nvPr/>
          </p:nvSpPr>
          <p:spPr>
            <a:xfrm>
              <a:off x="4020778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7"/>
            <p:cNvSpPr/>
            <p:nvPr/>
          </p:nvSpPr>
          <p:spPr>
            <a:xfrm>
              <a:off x="6370467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8"/>
            <p:cNvSpPr/>
            <p:nvPr/>
          </p:nvSpPr>
          <p:spPr>
            <a:xfrm>
              <a:off x="8720155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9"/>
            <p:cNvSpPr/>
            <p:nvPr/>
          </p:nvSpPr>
          <p:spPr>
            <a:xfrm>
              <a:off x="1671090" y="3137627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020778" y="2804186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6370467" y="2470744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8720155" y="2637465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3"/>
            <p:cNvSpPr/>
            <p:nvPr/>
          </p:nvSpPr>
          <p:spPr>
            <a:xfrm>
              <a:off x="1563730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3913419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263107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8612795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563730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913419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6263107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8612795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047270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9047270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147774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3845810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6016452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8366141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5217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5217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004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4004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2791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12791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1578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1578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64308" y="2011680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52178" y="2578608"/>
            <a:ext cx="94393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96113" y="3145536"/>
            <a:ext cx="283180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50345" y="3712464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60641" y="4279392"/>
            <a:ext cx="226544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86385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81713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1819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1351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416357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2026-10-07T14:45:05Z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