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5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5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5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5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5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informe de acreditación completo, en el orden en que se entrega: de la portada a las recomendaciones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82396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0568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88564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8541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368292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6702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49900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75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57948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3304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330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20.36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650474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22488" y="1663111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2307946"/>
            <a:ext cx="6504749" cy="2391339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22488" y="2326234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Gráfico, pregunta y texto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2488" y="4743176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Leyenda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9336" y="4960437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488" y="4978725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Base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81145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81145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92625" y="146304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81145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1145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892625" y="210312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81145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81145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892625" y="274320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siempre debajo del gráfico, centrada en él.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81145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81145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92625" y="338328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81145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81145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92625" y="402336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deja 0.8 cm de margen a cada lado y 1.3 cm entre dos gráficos.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81145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81145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92625" y="466344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la mitad de su tamaño. Todas las láminas del informe usan este mismo esqueleto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6949440" cy="3931920"/>
          </a:xfrm>
          <a:prstGeom prst="rect">
            <a:avLst/>
          </a:prstGeom>
          <a:ln w="9525" cap="rnd" cmpd="sng">
            <a:solidFill>
              <a:srgbClr val="8A93A8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337560"/>
            <a:ext cx="6949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703320"/>
            <a:ext cx="6949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cerca de 60 % del 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48956" y="1828800"/>
            <a:ext cx="45720" cy="19202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850124" y="1783080"/>
            <a:ext cx="4053535" cy="2011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 Uno de cada cuatro estudiantes no tiene información sobre el servicio.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6489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489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60436" y="4023360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breve: unas 50 palabras y nunca más de 74.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48956" y="44805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48956" y="44988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60436" y="4462272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 a la derecha del gráfico. Arriba, sólo si el gráfico usa todo el ancho.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4895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4895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60436" y="4901184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cita van en negrita y son las del gráfico.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648956" y="535838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648956" y="537667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60436" y="5340096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repite la pregunta: cuenta lo que se ve.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Medido en 247 párrafos que acompañan gráficos en 6 informes entregados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48956" y="1783080"/>
            <a:ext cx="4254703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8956" y="1600200"/>
            <a:ext cx="4254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11.82 x 5.59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48956" y="1783080"/>
            <a:ext cx="4254703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648956" y="1600200"/>
            <a:ext cx="4254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texto: 4.5 in de ancho, 14 pt, 11.82 x 5.59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PPT Y EN WORD: LO QUE CAMBIA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3840480"/>
        </p:xfrm>
        <a:graphic>
          <a:graphicData uri="http://schemas.openxmlformats.org/drawingml/2006/table">
            <a:tbl>
              <a:tblPr/>
              <a:tblGrid>
                <a:gridCol w="2207928"/>
                <a:gridCol w="4703847"/>
                <a:gridCol w="4703847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Aspecto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PPT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Word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 el título de la lámina, arriba y en coral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línea sobre la imagen: «Gráfico N°5: pregunta»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Tamaño de letra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a 14 pt: se lee proyectado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 a 10 pt: se lee impreso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Fondo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lámina blanca. El gráfico se puede editar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Imagen sin fondo sobre la página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pie de la lámina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Debajo del gráfico, junto con la fuente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costado del gráfico, hasta 74 palabras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párrafo debajo del gráfico, justificado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Numeración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Los gráficos no se numeran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Gráficos y tablas llevan número correlativo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 no cabe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Pasa a otra lámina con «(cont.)»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Título, gráfico y base pasan juntos a la página siguiente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5824728"/>
            <a:ext cx="1170706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colores, el orden de las respuestas, el Top Two Box y la ubicación de las cifras pequeñas son iguales en los dos formatos.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recetario en Word muestra cada gráfico de este mazo con su formato de página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diferencias entre el gráfico en PPT y en Word (reporte_ppt_plan frente a reporte_word_plan)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37160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PPT y Word, 32.27 x 10.67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3840480"/>
        </p:xfrm>
        <a:graphic>
          <a:graphicData uri="http://schemas.openxmlformats.org/drawingml/2006/table">
            <a:tbl>
              <a:tblPr/>
              <a:tblGrid>
                <a:gridCol w="2495919"/>
                <a:gridCol w="4559852"/>
                <a:gridCol w="4559852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es en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ajusta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 marcador de título de la lámina. Aparece en el esquema y en el panel de navegación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cuadro. Su formato base está en el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Antetítulo, texto y base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Cuadros de texto con su tamaño y color fijados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gráfico vectorial: cada barra y cada cifra es una forma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Clic derecho &gt; Agrupar &gt; Desagrupar para cambiar una forma. Los datos se cambian volviendo a generar con el motor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tabla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Pestaña Diseño de tabla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Logo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imagen del diseño de la lámina, igual en todas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Vista &gt;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recetario las barras se dibujan con formas para mostrar cada medida. En un informe real las genera el motor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elementos, 32.27 x 10.67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primero, «Totalmente en desacuerdo 1 … Totalmente de acuerdo 4»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 (Ingeniería)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 (Ingeniería)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Redacciones encontradas en las encuestas de Psicología, Geografía, Derecho e Ingeniería. 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703320" y="1783080"/>
            <a:ext cx="7863840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03320" y="160020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21.84 x 6.35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69280" y="1417320"/>
            <a:ext cx="6309360" cy="484632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5897880" y="914400"/>
            <a:ext cx="365760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897880" y="1481328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861304" y="1494995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1656" y="1481328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446520" y="1494995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97880" y="1849198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1304" y="1862865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1656" y="1849198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46520" y="1862865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897880" y="2217068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861304" y="2230735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91656" y="2217068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46520" y="2230735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97880" y="2584938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861304" y="2598605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91656" y="2584938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46520" y="2598605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7880" y="2952809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61304" y="2966475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91656" y="2952809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46520" y="2966475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97880" y="3320679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61304" y="333434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91656" y="3320679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6520" y="333434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97880" y="3688549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861304" y="370221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91656" y="3688549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46520" y="370221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97880" y="4056419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61304" y="407008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1656" y="4056419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6520" y="407008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97880" y="4424289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861304" y="443795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91656" y="4424289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46520" y="443795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97880" y="4792159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61304" y="480582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91656" y="4792159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46520" y="480582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97880" y="5160030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1304" y="517369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391656" y="5160030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6520" y="517369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0" y="5527900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861304" y="554156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91656" y="5527900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46520" y="554156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897880" y="5895770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61304" y="5909437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91656" y="5895770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446520" y="5909437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p_slide_indice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897880" y="1481328"/>
            <a:ext cx="5742432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897880" y="1298448"/>
            <a:ext cx="5742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entradas, 15.95 x 13.21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 DE RESPUESTAS POR ACTOR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08276" y="2048256"/>
            <a:ext cx="566928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68996" y="201168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18320" y="2011680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 1,506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670048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08276" y="2706624"/>
            <a:ext cx="285979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59513" y="2670048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418320" y="2670048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 de 1,210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28416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08276" y="3364992"/>
            <a:ext cx="19633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63082" y="3328416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3328416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 de 175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86784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8276" y="4023360"/>
            <a:ext cx="5590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58779" y="3986784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418320" y="3986784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 de 14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645152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208276" y="4681728"/>
            <a:ext cx="105829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58006" y="4645152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418320" y="4645152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 de 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530352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08276" y="5340096"/>
            <a:ext cx="62505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4768" y="530352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18320" y="5303520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 de 40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Universo: población de cada actor según la carrera. Tasa = respuestas válidas sobre universo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(conteos de participación por actor)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2011680"/>
            <a:ext cx="566928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208276" y="182880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participación, escala raíz, 15.75 x 10.97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REDONDEAN LAS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redondear no es posible conservar a la vez el valor exacto de cada categoría y una suma de 100 %. El informe declara cuál de las dos conserva.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90088"/>
            <a:ext cx="21945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97480" y="2880360"/>
            <a:ext cx="77896" cy="58521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771718" y="2880360"/>
            <a:ext cx="449088" cy="58521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74394" y="3035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17149" y="2880360"/>
            <a:ext cx="2973194" cy="58521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7149" y="3035808"/>
            <a:ext cx="2969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6686" y="2880360"/>
            <a:ext cx="3938294" cy="58521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6686" y="3035808"/>
            <a:ext cx="39346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1322" y="2880360"/>
            <a:ext cx="74238" cy="58521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113" y="2816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441991" y="2587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2954" y="2816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85832" y="2807208"/>
            <a:ext cx="7260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93224" y="2587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78440" y="2971800"/>
            <a:ext cx="1508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Suma: 101%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407408"/>
            <a:ext cx="21945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Reparto a 100 %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97480" y="4297680"/>
            <a:ext cx="78638" cy="58521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772461" y="4297680"/>
            <a:ext cx="453542" cy="58521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7363" y="445312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22346" y="4297680"/>
            <a:ext cx="3002890" cy="58521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22346" y="4453128"/>
            <a:ext cx="2999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21578" y="4297680"/>
            <a:ext cx="3977640" cy="58521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1578" y="4453128"/>
            <a:ext cx="39739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9484" y="42336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442362" y="40050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78440" y="4389120"/>
            <a:ext cx="1508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Suma: 100%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86000" y="58247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8880" y="576072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09160" y="58247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92040" y="576072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60592" y="58247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3472" y="576072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74280" y="58247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57160" y="576072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59696" y="58247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42576" y="576072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286000" y="576072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286000" y="557784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697480" y="3246120"/>
            <a:ext cx="7498080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697480" y="3063240"/>
            <a:ext cx="74980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1, 10, 72, 94 y 1 casos de 178, 20.83 x 4.57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36649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19529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1635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99233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536649" y="448056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536649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26236" y="15270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09116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63040"/>
            <a:ext cx="144780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4.02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6706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67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26706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267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88137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64258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04538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7418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597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8850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6965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52538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55074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37954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236" y="3898392"/>
            <a:ext cx="830732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236" y="3715512"/>
            <a:ext cx="83073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23.08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81378" y="505968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81378" y="487680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37560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520440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60720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943600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12152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5032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25840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08720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1125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94136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337560" y="57576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337560" y="55747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37560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0440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760720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3600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2152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95032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625840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08720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125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994136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337560" y="530809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337560" y="512521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37560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0440" y="5220337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60720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43600" y="5220337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12152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95032" y="5220337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25840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08720" y="5220337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811256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94136" y="5220337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930271"/>
            <a:ext cx="5486400" cy="30157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7391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37560" y="5220337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337560" y="5037457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37560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0440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60720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43600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12152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95032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5840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08720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81125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94136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37560" y="54132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37560" y="52303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37560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520440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4360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12152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5032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625840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8720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81125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94136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337560" y="58704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337560" y="56875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62001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02892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7520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8084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6814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51020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620012" y="5870448"/>
            <a:ext cx="35539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20012" y="5687568"/>
            <a:ext cx="35539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9.87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1155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9443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9125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413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6371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4659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4341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2629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11552" y="457200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11552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63712" y="457200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63712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98080" y="167335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96184"/>
            <a:ext cx="21031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31720" y="26791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23360" y="2587752"/>
            <a:ext cx="768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96512" y="2587752"/>
            <a:ext cx="1137514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96512" y="2679192"/>
            <a:ext cx="1133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30368" y="2587752"/>
            <a:ext cx="161300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30368" y="2679192"/>
            <a:ext cx="1609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2587752"/>
            <a:ext cx="84124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39712" y="2679192"/>
            <a:ext cx="841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054450" y="25237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67328" y="22951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98080" y="26700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31720" y="4032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023360" y="3941064"/>
            <a:ext cx="11449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34196" y="3941064"/>
            <a:ext cx="22533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55869" y="3941064"/>
            <a:ext cx="1666203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5869" y="4032504"/>
            <a:ext cx="16625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18415" y="3941064"/>
            <a:ext cx="118591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018415" y="4032504"/>
            <a:ext cx="1182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669" y="3941064"/>
            <a:ext cx="480291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20775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73292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86170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39546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245033" y="3867912"/>
            <a:ext cx="25436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0679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98080" y="4023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91640" y="51297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874520" y="50657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4800" y="51297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97680" y="50657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66232" y="51297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49112" y="50657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9920" y="51297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62800" y="50657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65336" y="51297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8216" y="50657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15400" y="1691640"/>
            <a:ext cx="36576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023360" y="2084832"/>
            <a:ext cx="3657600" cy="2706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023360" y="1901952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10.16 x 7.52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91640" y="50657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91640" y="48828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98280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7.62 x 9.14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118872" cy="118872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02436" y="1673352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Fortalecer la difusión de la misión y los propósitos institucionales, especialmente entre estudiantes y egresados, cuyo conocimiento alcanza 77 % y 78 %.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1192"/>
            <a:ext cx="118872" cy="118872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02436" y="3294888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los servicios de tutoría académica: su valoración entre estudiantes bajó de 84 % en 2021 a 53 % en 2026.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5062728"/>
            <a:ext cx="118872" cy="118872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4916424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la suficiencia de los recursos presupuestales asignados a la Unidad, que el personal administrativo valora en 80 %.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p_slide_texto (bullets)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1508760"/>
            <a:ext cx="1106424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1325880"/>
            <a:ext cx="11064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viñetas, 30.73 x 11.18 cm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30444" y="5833872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30444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436751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19631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22167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05047" y="585216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44821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27701" y="585216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59449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2329" y="585216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839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419719" y="585216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226564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6751" y="5852160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6751" y="5669280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0040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54552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37432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3425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17136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54552" y="539496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4552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935328" y="562356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35328" y="544068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6329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6176" y="5925312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69464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52344" y="5925312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94919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32072" y="5925312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130800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13680" y="5925312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03884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221728" y="5925312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63296" y="5925312"/>
            <a:ext cx="73304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63296" y="5742432"/>
            <a:ext cx="7330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20.36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659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9478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630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96918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06598" y="301752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0659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06803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89683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92219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75099" y="329184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14873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97753" y="32918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29501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12381" y="329184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06891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9771" y="329184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50256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733136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93028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35705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25.99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306803" y="3291840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306803" y="3108960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50256" y="6099048"/>
            <a:ext cx="109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50256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3.03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62821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45701" y="5221224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2271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05593" y="5221224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62821" y="5221224"/>
            <a:ext cx="109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62821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3.03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4023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4023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949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949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2260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3.41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80540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80540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73148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73148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316732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316732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609340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609340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52924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52924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145532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145532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9027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2.51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9027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2.51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9027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841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841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767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767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1021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2.84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67508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67508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67508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67508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67508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67508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830064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830064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122672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22672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2.46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2.46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2.46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2.46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67508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67508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73548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73548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73548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73548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2.46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2.46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2.46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5574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78454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5546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38346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295574" y="5486400"/>
            <a:ext cx="109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295574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3.03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41236" y="51389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116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51389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03820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236" y="507492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236" y="4892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306803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489683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92219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75099" y="607161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14873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7753" y="607161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129501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12381" y="607161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106891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289771" y="607161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306803" y="6071616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306803" y="5888736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36237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19117" y="5916168"/>
            <a:ext cx="20955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60337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143217" y="5916168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636237" y="5916168"/>
            <a:ext cx="310210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636237" y="5733288"/>
            <a:ext cx="310210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8.62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54322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37202" y="5916168"/>
            <a:ext cx="639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2224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05120" y="5916168"/>
            <a:ext cx="258089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54322" y="5916168"/>
            <a:ext cx="344881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54322" y="5733288"/>
            <a:ext cx="34488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9.58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29365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7361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0471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78467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1577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9573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2683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0679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5378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178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9051" y="2608783"/>
            <a:ext cx="108663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79323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65959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321991" y="22357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94107" y="27294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72460" y="3459175"/>
            <a:ext cx="543318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06050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62732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77516" y="3086100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062082" y="35798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3566" y="4309567"/>
            <a:ext cx="543318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7156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43838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58622" y="3936492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3188" y="44302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70157" y="5159959"/>
            <a:ext cx="126774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2817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0429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5213" y="47868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52806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6930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2188" y="5870448"/>
            <a:ext cx="26898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8776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70648" y="5870448"/>
            <a:ext cx="1963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905530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90553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25.15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69308" y="5870448"/>
            <a:ext cx="488188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69308" y="5687568"/>
            <a:ext cx="4881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13.56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0644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8640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6160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65685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3681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5320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120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156689" y="2459736"/>
            <a:ext cx="187520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37817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1302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31895" y="3026664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302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63105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56853" y="3593592"/>
            <a:ext cx="375041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3798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1302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31730" y="4160520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162940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12858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81812" y="4727448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302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162940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31730" y="5294376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62940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12858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8508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7960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5066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3540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031236" y="2194560"/>
            <a:ext cx="750082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031236" y="2011680"/>
            <a:ext cx="7500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20.84 x 9.45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85080" y="5870448"/>
            <a:ext cx="299313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85080" y="5687568"/>
            <a:ext cx="29931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8.31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21028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03908" y="5870448"/>
            <a:ext cx="873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2338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06268" y="5870448"/>
            <a:ext cx="10916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368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26560" y="5870448"/>
            <a:ext cx="9464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621028" y="5870448"/>
            <a:ext cx="33690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621028" y="5687568"/>
            <a:ext cx="33690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9.36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536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08246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990946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3826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471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29982" y="5870448"/>
            <a:ext cx="13822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5366" y="5870448"/>
            <a:ext cx="46040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5366" y="5687568"/>
            <a:ext cx="46040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12.79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93979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935781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176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2775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92373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91972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91570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1169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07674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35781" y="1444752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27750" y="1444752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58084" y="2304288"/>
            <a:ext cx="959409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3979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54069" y="2304288"/>
            <a:ext cx="959409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35781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50054" y="23042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3176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46038" y="2304288"/>
            <a:ext cx="959409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2775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42023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2373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938008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1972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33993" y="2304288"/>
            <a:ext cx="959409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570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29978" y="23042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1169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25962" y="2304288"/>
            <a:ext cx="959409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07674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58084" y="32186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93979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954069" y="3218688"/>
            <a:ext cx="959409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935781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50054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3176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946038" y="3218688"/>
            <a:ext cx="959409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2775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4202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2373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38008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91972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93399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1570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29978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91169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925962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907674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958084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3979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954069" y="41330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935781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50054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176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6038" y="4133088"/>
            <a:ext cx="959409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2775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42023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2373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38008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1972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3993" y="41330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91570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29978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169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07674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926637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918606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311396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94276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677156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60036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42916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91556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4436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957316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140196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323076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505956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688836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71716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054596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37476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20356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603236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786116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808476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014716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311396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939796" y="2286000"/>
            <a:ext cx="8963863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heatmap, escala fija 80 a 100, 24.90 x 7.62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225796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21270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16745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5196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4036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4084" y="189280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25796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39558" y="1892808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1270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35033" y="1892808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16745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74036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44084" y="2218667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25796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39558" y="2218667"/>
            <a:ext cx="2158898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1270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35033" y="2218667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16745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4084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25796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39558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1270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35033" y="2544526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16745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574036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084" y="2870385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25796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39558" y="2870385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21270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5033" y="2870385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16745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74036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44084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25796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39558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21270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35033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16745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503815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5196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74036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244084" y="3522103"/>
            <a:ext cx="2158898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25796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39558" y="3522103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1270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635033" y="3522103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16745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829673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5196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74036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44084" y="3847961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25796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39558" y="3847961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21270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35033" y="3847961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16745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4036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44084" y="4173820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25796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39558" y="4173820"/>
            <a:ext cx="2158898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21270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635033" y="4173820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16745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74036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4084" y="4499679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25796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39558" y="4499679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21270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635033" y="4499679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16745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244084" y="4825538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25796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39558" y="4825538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21270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635033" y="482553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16745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574036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244084" y="5151397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25796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39558" y="5151397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21270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35033" y="5151397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16745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545896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756916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57500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58084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58668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9252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59836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60420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61004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61588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62172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62756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63340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63924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64508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65092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65676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66260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66844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67428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68012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253996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14316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836676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5225796" y="1874520"/>
            <a:ext cx="6586423" cy="35844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5225796" y="169164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 por criterio, 18.30 x 9.96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02636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14281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94241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588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8584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89749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7745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8909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6905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290572"/>
            <a:ext cx="751237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08202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2674620"/>
            <a:ext cx="773519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31027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22676" y="3470148"/>
            <a:ext cx="77988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94691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3854196"/>
            <a:ext cx="7639702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835530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649724"/>
            <a:ext cx="767153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867362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5033772"/>
            <a:ext cx="7767031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6285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71408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96966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52310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5190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2057400"/>
            <a:ext cx="7958023" cy="35387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22676" y="18745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0, 22.11 x 9.83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14086" y="5870448"/>
            <a:ext cx="27752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714086" y="5687568"/>
            <a:ext cx="2775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7.71 x 0.76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740914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3794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791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62018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740914" y="5870448"/>
            <a:ext cx="27752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40914" y="5687568"/>
            <a:ext cx="2775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 Y ASPECTOS POR REFORZAR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670652" cy="2226564"/>
          </a:xfrm>
          <a:prstGeom prst="rect">
            <a:avLst/>
          </a:prstGeom>
          <a:solidFill>
            <a:srgbClr val="E4EEDA">
              <a:alpha val="100000"/>
            </a:srgbClr>
          </a:solidFill>
          <a:ln w="3175" cap="rnd" cmpd="sng">
            <a:solidFill>
              <a:srgbClr val="E4EED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08760"/>
            <a:ext cx="64008" cy="2226564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16636" y="1618488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6636" y="1911096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 o más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258568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52848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6636" y="258775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52848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6636" y="2916936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52848" y="291693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6636" y="3246120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52848" y="32461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33008" y="1508760"/>
            <a:ext cx="5670652" cy="222656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33008" y="1508760"/>
            <a:ext cx="64008" cy="22265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61608" y="1618488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61608" y="1911096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97 %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61608" y="2258568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97819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61608" y="258775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897819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918204"/>
            <a:ext cx="5670652" cy="2226564"/>
          </a:xfrm>
          <a:prstGeom prst="rect">
            <a:avLst/>
          </a:prstGeom>
          <a:solidFill>
            <a:srgbClr val="FFF4D6">
              <a:alpha val="100000"/>
            </a:srgbClr>
          </a:solidFill>
          <a:ln w="3175" cap="rnd" cmpd="sng">
            <a:solidFill>
              <a:srgbClr val="FFF4D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918204"/>
            <a:ext cx="64008" cy="2226564"/>
          </a:xfrm>
          <a:prstGeom prst="rect">
            <a:avLst/>
          </a:prstGeom>
          <a:solidFill>
            <a:srgbClr val="B8860B">
              <a:alpha val="100000"/>
            </a:srgbClr>
          </a:solidFill>
          <a:ln w="3175" cap="rnd" cmpd="sng">
            <a:solidFill>
              <a:srgbClr val="B8860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6636" y="4027932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Aspectos por vigilar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6636" y="4320540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95 %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6636" y="466801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52848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6636" y="4997196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2848" y="499719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6636" y="5326380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52848" y="53263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6636" y="5655564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52848" y="5655564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33008" y="3918204"/>
            <a:ext cx="5670652" cy="2226564"/>
          </a:xfrm>
          <a:prstGeom prst="rect">
            <a:avLst/>
          </a:prstGeom>
          <a:solidFill>
            <a:srgbClr val="F9E0D2">
              <a:alpha val="100000"/>
            </a:srgbClr>
          </a:solidFill>
          <a:ln w="3175" cap="rnd" cmpd="sng">
            <a:solidFill>
              <a:srgbClr val="F9E0D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33008" y="3918204"/>
            <a:ext cx="64008" cy="22265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61608" y="4027932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Debilidades relativas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61608" y="4320540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94 %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61608" y="466801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97819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p_dim_foda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cuadrantes por umbral de Top Two Box, 32.27 x 12.88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7863840" cy="4526280"/>
            <a:chOff x="288036" y="1508760"/>
            <a:chExt cx="7863840" cy="4526280"/>
          </a:xfrm>
        </p:grpSpPr>
        <p:sp>
          <p:nvSpPr>
            <p:cNvPr id="4" name="rc3"/>
            <p:cNvSpPr/>
            <p:nvPr/>
          </p:nvSpPr>
          <p:spPr>
            <a:xfrm>
              <a:off x="106412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10208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68287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79638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78594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76219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80640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82366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89458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85564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88858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96051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08294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313178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324142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330915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341090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342908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344747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341276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48005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54263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349798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353317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39459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328401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330886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337699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337883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29065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316267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338948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48576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50094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361585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58937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358460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364672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369474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72374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376651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381609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372867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375401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72229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383406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380177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385701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392120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375400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384625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393997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397054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407791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413594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408981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99998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427120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427254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434991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438719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442396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45440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444241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43234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445419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43269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456539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59807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457655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462524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464527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466838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468181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483820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476148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465530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469446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73611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78657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475941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71562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79849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69245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66329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67871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61853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57272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61333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57300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62862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65093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458314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466080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468579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458632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456861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459851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462727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464923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67916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85156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98048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407814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416671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02756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4724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348789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35050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44166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44145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52935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34789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24263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23004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32828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36753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40309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44145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53050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255020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70454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62122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57464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49408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44622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40368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32289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5579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42660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33978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28775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26906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29030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42149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48810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41368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48704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60795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66789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267600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276802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280753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289588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287113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280634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74646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69547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47568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74164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179629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78920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72935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71512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78597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69668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78981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69588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70460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71602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80678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84656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78473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71703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70622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75227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81012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84727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84992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78469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67453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69767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77699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85022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84958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84924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175887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173709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171229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177527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190047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185135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177651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174602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171104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173685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177615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184663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175486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175376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70030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273756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264387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276584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275147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77889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83404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84165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83889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277903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292185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294265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296461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304055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301879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294136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288060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290170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293353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286239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278952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274652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268936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60993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258469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246240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259637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265936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269320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270499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276885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80235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282988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287661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285153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288254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299958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286011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280043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72052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271363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264240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268850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266072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262048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259687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54270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250265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255155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245795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55978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60979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67931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73586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9237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287060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93412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95360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92661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306886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93267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99619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94066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81912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89915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90565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91222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83696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87874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80351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75301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65201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69287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5844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1359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5355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51878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58033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65272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269979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277363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275279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278839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283611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291064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283908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282889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68340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63615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256517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53343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48745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36562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247050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249776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243692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237469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229703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233978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239850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235995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248484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258568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254087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262950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265316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54550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48987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40415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236691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241755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241022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248571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255328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265464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267194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276801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75153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74558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268251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274310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68869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52753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56788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53614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46959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41071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41774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47795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55779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63241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72050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83598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5846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56857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245363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52104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48847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5295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41090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0243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4627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46175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3609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5201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5751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85999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92301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99188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302281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300072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310595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93586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323704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323945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296998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331376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323125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290740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307853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305488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91751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300472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300072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316142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329705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334050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330726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321829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288203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299804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313968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306234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305513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301562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303988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310068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312345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317121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321880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49882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63163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60070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69264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43073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310779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307369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302196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300441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300895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306982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312473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86444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78881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90431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97468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95885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329296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95839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308498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312874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311942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320767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317906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314807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319985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317466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316510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320926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321726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307046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307166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304474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301215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97649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95545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93630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300335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309798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306564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303168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96805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89721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87482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86631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285114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95341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307588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305692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96297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302600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302391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90934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84294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84293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90940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90194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300938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311030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312748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313022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308075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308609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301651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300646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90549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87678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82746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84896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91606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303457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308327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306541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92655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284150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84430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89201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290164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312142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162684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159793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52327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159204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165967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64745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60646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156254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156999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151352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160174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159534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152758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142638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138512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40457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134058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133465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139610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147743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150292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157434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165875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54661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145889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142285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51772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57582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163809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165729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161396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154392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146613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137853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133150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35864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137968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142424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145977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151180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156135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163947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158798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164954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163546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168233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168486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176570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180585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187393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187016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197313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198675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02975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199562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194020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190180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190719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188290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186590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180121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168867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172933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171932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168071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160618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158068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163790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166976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171140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179077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187300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192517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198591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201221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207689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09964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121847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149190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137674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147229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130581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68282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21442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167454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231441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281411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121849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rc540"/>
            <p:cNvSpPr/>
            <p:nvPr/>
          </p:nvSpPr>
          <p:spPr>
            <a:xfrm>
              <a:off x="602863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2" name="tx541"/>
            <p:cNvSpPr/>
            <p:nvPr/>
          </p:nvSpPr>
          <p:spPr>
            <a:xfrm>
              <a:off x="610678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3" name="tx542"/>
            <p:cNvSpPr/>
            <p:nvPr/>
          </p:nvSpPr>
          <p:spPr>
            <a:xfrm>
              <a:off x="610678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4" name="tx543"/>
            <p:cNvSpPr/>
            <p:nvPr/>
          </p:nvSpPr>
          <p:spPr>
            <a:xfrm>
              <a:off x="610678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5" name="pg544"/>
            <p:cNvSpPr/>
            <p:nvPr/>
          </p:nvSpPr>
          <p:spPr>
            <a:xfrm>
              <a:off x="609018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609018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609018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609018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609018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609018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tx550"/>
            <p:cNvSpPr/>
            <p:nvPr/>
          </p:nvSpPr>
          <p:spPr>
            <a:xfrm>
              <a:off x="626753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2" name="tx551"/>
            <p:cNvSpPr/>
            <p:nvPr/>
          </p:nvSpPr>
          <p:spPr>
            <a:xfrm>
              <a:off x="626753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3" name="tx552"/>
            <p:cNvSpPr/>
            <p:nvPr/>
          </p:nvSpPr>
          <p:spPr>
            <a:xfrm>
              <a:off x="626753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4" name="tx553"/>
            <p:cNvSpPr/>
            <p:nvPr/>
          </p:nvSpPr>
          <p:spPr>
            <a:xfrm>
              <a:off x="626753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5" name="tx554"/>
            <p:cNvSpPr/>
            <p:nvPr/>
          </p:nvSpPr>
          <p:spPr>
            <a:xfrm>
              <a:off x="626753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6" name="tx555"/>
            <p:cNvSpPr/>
            <p:nvPr/>
          </p:nvSpPr>
          <p:spPr>
            <a:xfrm>
              <a:off x="626753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7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8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288036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288036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23616"/>
            <a:ext cx="269748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269748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269748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11268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94148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66460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4934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9396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42276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11268" y="5824728"/>
            <a:ext cx="4029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11268" y="5641848"/>
            <a:ext cx="4029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11.19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59496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5949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9.99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473300" y="5779008"/>
            <a:ext cx="724509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473300" y="5596128"/>
            <a:ext cx="72450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20.13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69280" y="1417320"/>
            <a:ext cx="6309360" cy="484632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5897880" y="914400"/>
            <a:ext cx="365760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897880" y="1481328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861304" y="145309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1656" y="1481328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446520" y="145309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97880" y="1747012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1304" y="1718782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1656" y="1747012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46520" y="1718782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897880" y="2012696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861304" y="198446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91656" y="2012696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46520" y="198446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97880" y="2278380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861304" y="2250150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91656" y="2278380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46520" y="2250150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7880" y="2544064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61304" y="2515834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91656" y="2544064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46520" y="2515834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97880" y="2809748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61304" y="278151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91656" y="2809748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6520" y="278151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97880" y="3075432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861304" y="3047202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91656" y="3075432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46520" y="3047202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97880" y="3341116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61304" y="331288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1656" y="3341116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6520" y="331288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97880" y="3606800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861304" y="3578570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91656" y="3606800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46520" y="3578570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97880" y="3872484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61304" y="3844254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91656" y="3872484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46520" y="3844254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97880" y="4138168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1304" y="410993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391656" y="4138168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6520" y="410993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0" y="4403852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861304" y="4375622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91656" y="4403852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46520" y="4375622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897880" y="4669536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61304" y="464130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91656" y="4669536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446520" y="464130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la calidad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97880" y="4935220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61304" y="4906990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1656" y="4935220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46520" y="4906990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financieros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897880" y="5200904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861304" y="5172674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91656" y="5200904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46520" y="5172674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 universitario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897880" y="5466588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861304" y="543835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91656" y="5466588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6520" y="543835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Responsabilidad social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897880" y="5732272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861304" y="5704042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1656" y="5732272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446520" y="5704042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Seguimiento a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897880" y="5997956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861304" y="596972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391656" y="5997956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446520" y="596972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p_slide_indice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897880" y="1481328"/>
            <a:ext cx="5742432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97880" y="1298448"/>
            <a:ext cx="5742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entradas, 15.95 x 13.21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69280" y="1417320"/>
            <a:ext cx="6309360" cy="484632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5897880" y="914400"/>
            <a:ext cx="365760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897880" y="1481328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861304" y="1547741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1656" y="1481328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446520" y="1547741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97880" y="1977847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1304" y="2044260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1656" y="1977847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46520" y="2044260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897880" y="2474366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861304" y="2540779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91656" y="2474366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46520" y="2540779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97880" y="2970886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861304" y="303729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91656" y="2970886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46520" y="303729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7880" y="3467405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61304" y="353381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91656" y="3467405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46520" y="353381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 y recomendaciones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p_slide_indice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97880" y="1481328"/>
            <a:ext cx="5742432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97880" y="1298448"/>
            <a:ext cx="5742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entradas, 15.95 x 13.21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69280" y="1417320"/>
            <a:ext cx="6309360" cy="484632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5897880" y="914400"/>
            <a:ext cx="365760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897880" y="1481328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861304" y="1547741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1656" y="1481328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446520" y="1547741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97880" y="1977847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1304" y="2044260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1656" y="1977847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46520" y="2044260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897880" y="2474366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861304" y="2540779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91656" y="2474366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46520" y="2540779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97880" y="2970886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861304" y="303729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91656" y="2970886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46520" y="303729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7880" y="3467405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61304" y="353381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91656" y="3467405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46520" y="353381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97880" y="3963924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61304" y="4030337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91656" y="3963924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6520" y="4030337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52160" y="4597603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Principales resultados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897880" y="4945075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43016" y="4899355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81928" y="4899355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97880" y="5191963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43016" y="5146243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81928" y="5146243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97880" y="5438851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43016" y="5393131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81928" y="5393131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23960" y="4945075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9096" y="4899355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08008" y="4899355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23960" y="5191963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69096" y="5146243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08008" y="5146243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p_slide_indice(subindices = ...): subíndices bajo «Principales resultados»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897880" y="1481328"/>
            <a:ext cx="5742432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97880" y="1298448"/>
            <a:ext cx="5742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entradas, 15.95 x 13.21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69280" y="1417320"/>
            <a:ext cx="6309360" cy="484632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5897880" y="914400"/>
            <a:ext cx="365760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897880" y="1481328"/>
            <a:ext cx="438912" cy="3761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861304" y="1532245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1656" y="1481328"/>
            <a:ext cx="5248656" cy="3761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446520" y="1532245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97880" y="1940052"/>
            <a:ext cx="438912" cy="3761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1304" y="1990969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1656" y="1940052"/>
            <a:ext cx="5248656" cy="3761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46520" y="1990969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897880" y="2398776"/>
            <a:ext cx="438912" cy="3761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861304" y="2449693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91656" y="2398776"/>
            <a:ext cx="5248656" cy="3761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46520" y="2449693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97880" y="2857500"/>
            <a:ext cx="438912" cy="3761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861304" y="2908417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91656" y="2857500"/>
            <a:ext cx="5248656" cy="3761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46520" y="2908417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7880" y="3316224"/>
            <a:ext cx="438912" cy="3761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61304" y="3367141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91656" y="3316224"/>
            <a:ext cx="5248656" cy="3761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46520" y="3367141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97880" y="3774948"/>
            <a:ext cx="438912" cy="3761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61304" y="3825865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91656" y="3774948"/>
            <a:ext cx="5248656" cy="3761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6520" y="3825865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52160" y="4370832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Principales resultados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897880" y="4718304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43016" y="4672584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81928" y="4672584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97880" y="4965192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43016" y="4919472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81928" y="4919472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97880" y="5212080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43016" y="5166360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81928" y="5166360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897880" y="5458968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43016" y="5413248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81928" y="5413248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97880" y="5705856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3016" y="5660136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281928" y="5660136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97880" y="5952744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43016" y="5907024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81928" y="5907024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23960" y="4718304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69096" y="4672584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08008" y="4672584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23960" y="4965192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69096" y="4919472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08008" y="4919472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23960" y="5212080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69096" y="5166360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08008" y="5166360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823960" y="5458968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9096" y="5413248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08008" y="5413248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23960" y="5705856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69096" y="5660136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208008" y="5660136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p_slide_indice(subindices = ...): subíndices bajo «Principales resultados»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897880" y="1481328"/>
            <a:ext cx="5742432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897880" y="1298448"/>
            <a:ext cx="5742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entradas, 15.95 x 13.21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6590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4878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0034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98322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478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17664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7298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5864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82912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65792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65904" y="5336713"/>
            <a:ext cx="58643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65904" y="5153833"/>
            <a:ext cx="5864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16.29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492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797808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32485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07736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478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217664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34847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531352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533888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16768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614928" y="5413248"/>
            <a:ext cx="77663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14928" y="5230368"/>
            <a:ext cx="77663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21.57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3892296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075176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02224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85104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12152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95032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625840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808720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25652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439400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3892296" y="5843016"/>
            <a:ext cx="72115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892296" y="5660136"/>
            <a:ext cx="72115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37560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20440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2673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09616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59892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781800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1260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095488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54328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26168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337560" y="584301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37560" y="566013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88734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1614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68438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51318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481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31022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88734" y="5843016"/>
            <a:ext cx="22067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88734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6.13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31456" y="5029200"/>
            <a:ext cx="368640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531456" y="4846320"/>
            <a:ext cx="36864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10.24 x 1.78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32804" y="2057400"/>
            <a:ext cx="48490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32804" y="1874520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32804" y="5843016"/>
            <a:ext cx="48490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32804" y="5660136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337560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20440" y="438912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60720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43600" y="438912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312152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95032" y="438912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25840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8720" y="438912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811256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94136" y="438912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37560" y="438912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37560" y="420624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37560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0440" y="513063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760720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943600" y="513063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12152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5032" y="513063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625840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808720" y="513063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125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94136" y="513063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337560" y="513063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337560" y="494775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97154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154424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943600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23290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415784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54659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72947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77272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360152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971544" y="5870448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971544" y="5687568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061183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4063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46599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29479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69253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52133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83881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66761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61271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44151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4753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30416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0742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0308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061183" y="3351276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061183" y="3168396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09444" y="4649724"/>
            <a:ext cx="94942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409444" y="4466844"/>
            <a:ext cx="94942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26.37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47536" y="5806440"/>
            <a:ext cx="109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47536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3.03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61183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44063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46599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29479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69253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52133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3881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66761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61271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44151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061183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44063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91863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74743" y="5806440"/>
            <a:ext cx="11247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45175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28055" y="58064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9803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42683" y="5806440"/>
            <a:ext cx="12633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1799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934679" y="5806440"/>
            <a:ext cx="18874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061183" y="3351276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061183" y="3168396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409444" y="4649724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409444" y="4466844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061183" y="5806440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061183" y="5623560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92608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2608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7154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54424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83996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2284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39140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7428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0508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887968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35768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518648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71544" y="5336713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71544" y="5153833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9353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76416" y="582472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65720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4860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193536" y="5824728"/>
            <a:ext cx="2636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93536" y="5641848"/>
            <a:ext cx="2636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7.32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568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68568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61632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44512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885688" y="5824728"/>
            <a:ext cx="279501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85688" y="5641848"/>
            <a:ext cx="27950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7.76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1551650" y="4099743"/>
              <a:ext cx="7049065" cy="666882"/>
            </a:xfrm>
            <a:custGeom>
              <a:avLst/>
              <a:pathLst>
                <a:path w="7049065" h="666882">
                  <a:moveTo>
                    <a:pt x="0" y="0"/>
                  </a:moveTo>
                  <a:lnTo>
                    <a:pt x="2349688" y="333441"/>
                  </a:lnTo>
                  <a:lnTo>
                    <a:pt x="4699376" y="666882"/>
                  </a:lnTo>
                  <a:lnTo>
                    <a:pt x="7049065" y="500162"/>
                  </a:lnTo>
                </a:path>
              </a:pathLst>
            </a:custGeom>
            <a:ln w="3794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551650" y="2515896"/>
              <a:ext cx="7049065" cy="666882"/>
            </a:xfrm>
            <a:custGeom>
              <a:avLst/>
              <a:pathLst>
                <a:path w="7049065" h="666882">
                  <a:moveTo>
                    <a:pt x="0" y="666882"/>
                  </a:moveTo>
                  <a:lnTo>
                    <a:pt x="2349688" y="333441"/>
                  </a:lnTo>
                  <a:lnTo>
                    <a:pt x="4699376" y="0"/>
                  </a:lnTo>
                  <a:lnTo>
                    <a:pt x="7049065" y="166720"/>
                  </a:lnTo>
                </a:path>
              </a:pathLst>
            </a:custGeom>
            <a:ln w="3794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t5"/>
            <p:cNvSpPr/>
            <p:nvPr/>
          </p:nvSpPr>
          <p:spPr>
            <a:xfrm>
              <a:off x="1506498" y="4054591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6"/>
            <p:cNvSpPr/>
            <p:nvPr/>
          </p:nvSpPr>
          <p:spPr>
            <a:xfrm>
              <a:off x="3856186" y="4388032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6205875" y="4721474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8555563" y="4554753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506498" y="3137627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3856186" y="2804186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205875" y="2470744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8555563" y="2637465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tx13"/>
            <p:cNvSpPr/>
            <p:nvPr/>
          </p:nvSpPr>
          <p:spPr>
            <a:xfrm>
              <a:off x="1399138" y="387531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3748827" y="42087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6098515" y="45421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448203" y="43754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399138" y="295834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748827" y="26249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6098515" y="229146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8448203" y="245818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8882678" y="4508245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8882678" y="2590957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131315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3681218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5851860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8201549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una línea de tiempo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en una línea de tiempo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DE TIEMPO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Marzo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220505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220505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41293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41293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62082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Junio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2082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982871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Julio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982871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1965960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del instrumento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299716" y="2011680"/>
            <a:ext cx="192078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32888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20505" y="2578608"/>
            <a:ext cx="96039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99816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80899" y="3145536"/>
            <a:ext cx="288118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66744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 y procesamiento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77924" y="3712464"/>
            <a:ext cx="192078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33672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final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14555" y="4279392"/>
            <a:ext cx="230494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71171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6649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Inicio de campo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52354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47682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cerrada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409773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485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y terminan en la fecha real. La fase en curso va en azul oscuro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línea de tiempo del estudio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508760"/>
            <a:ext cx="11615623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cronograma: meses arriba, fases a la izquierda, hitos abajo, 32.27 x 11.18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2026-10-07T16:59:30Z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